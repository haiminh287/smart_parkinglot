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682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Xin chào quý hội đồng, em là Nguyễn Hải Minh, MSSV 2251012093, Khoa Công nghệ Thông tin, ngành Khoa học Máy tính. Khóa luận hôm nay em trình bày đề tài: Hệ thống quản lý Bãi đỗ xe Thông minh tích hợp IoT, AI và Digital Twin. Em sẽ trình bày trong khoảng 15-20 phút, gồm các phần: đặt vấn đề, kiến trúc hệ thống, 4 mô-đun AI, IoT phần cứng, Unity Digital Twin, kết quả thực nghiệm, phân tích thực tế và hướng phát triển. Em xin bắt đầu.</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đã khảo sát 3 bãi đỗ xe nội đô: Vincom Q1, The Sun Avenue và Saigon Centre. Em phát hiện 5 nỗi đau chung. Thứ nhất, ùn tắc cửa — mỗi xe mất 30-60 giây khi check-in thủ công, lên tới 60-90 giây khi thanh toán cash, gây kẹt xe 200m vào giờ cao điểm. Thứ hai, khoảng 5% giao dịch tiền mặt bị nhầm mệnh giá — bãi 1000 vé/tháng thất thoát 3-7 triệu. Thứ ba, nhân sự thủ công 3-5 bảo vệ tốn 21-35 triệu/tháng cố định, không scale theo doanh thu. Thứ tư, 60% user phải đi 2-3 bãi mới tìm được chỗ. Thứ năm, không có analytics, quản lý bằng sổ tay, không tối ưu được pricing. Vì vậy, cần giải pháp tự động hóa toàn diện.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tiêu của em là xây dựng 4 trụ cột công nghệ. Một là AI nhận diện biển số xe sử dụng YOLOv8 cùng 3 OCR engine, mục tiêu accuracy trên 94%. Hai là AI phân loại 9 mệnh giá tiền Việt Nam — đây là điểm độc đáo, em dùng kiến trúc bank-grade 3-stage với precision ≥ 99.5%. Ba là chatbot LLM tiếng Việt với DDD architecture, 16 intents và đặc biệt có tích hợp RAG knowledge retrieval. Bốn là phần IoT kết hợp Unity Digital Twin gồm 4 ESP32, 8 cameras và 158 slots, backend agnostic. Toàn bộ là production-ready, ROI khoảng 1.5 tháng cho bãi 50 chỗ.</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sẽ giải thích 6 quyết định công nghệ quan trọng nhất, mỗi cái có lý do cụ thể. Một, Microservices: tách AI service cần GPU mạnh khỏi service nhẹ, fault isolation. Hai, kết hợp Python với Go: Python cho AI vì ecosystem mạnh, Go cho Gateway vì latency thấp + concurrent tốt. Ba, chọn Gemini 2.5 Flash không phải GPT-4: tiếng Việt support tốt, rẻ hơn 200 lần, free tier đủ KLTN. Bốn, chọn EfficientNetV2-S không phải ResNet: pretrained ImageNet 84%, Fused-MBConv train 4 lần nhanh, fit GPU 4GB. Năm, ChromaDB cho RAG: embedded vector DB không cần external service như Pinecone, deploy đơn giản. Sáu, Unity Digital Twin: C# dễ học, NavMesh AI sẵn cho xe tự lái, validate IoT contract mà không cần phần cứng.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sơ đồ kiến trúc tổng thể của hệ thống ParkSmart. Em chia làm 7 layer. Layer 1 là Client gồm Web SPA, Unity Digital Twin và ESP32 IoT. Layer 2 là Cloudflare Tunnel cho HTTPS public. Layer 3 là API Gateway viết bằng Go, xác thực session và rate limit. Layer 4 là 10 microservices: auth, booking, parking, vehicle, notification, payment, ai, chatbot. Layer 5 là RabbitMQ làm event bus async fan-out. Layer 6 là Realtime Go cho WebSocket push. Layer 7 là datastore: MySQL 8 và Redis chia làm 6 DBs. Điểm chốt là chỉ có 1 entry point public — mọi service nội bộ chỉ chấp nhận request đã được Gateway xác thực qua khóa bảo mật.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đã so sánh 3 kiến trúc. Monolith dễ làm ban đầu nhưng khó scale, fault một service làm sụp cả hệ thống, khó dùng đa stack. Serverless auto-scale tốt nhưng có cold start, cost cao và vendor lock-in. Em chọn Microservices vì 4 lý do: Một, scale được từng service riêng — AI service cần GPU mạnh, các service khác thì nhẹ, tách ra rồi mới scale từng phần. Hai, fault isolation — nếu AI service lỗi thì booking và payment vẫn hoạt động. Ba, dễ dùng đa stack — Python cho AI, Go cho gateway latency thấp, JS cho frontend. Bốn, thể hiện được nhiều skill kiến trúc cho khóa luận. Trade-off là setup ban đầu phức tạp hơn, nhưng đáng giá.</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dùng 2 pattern quan trọng. Một là RabbitMQ làm event bus theo fan-out pattern. Ví dụ: booking-service phát event booking.created một lần, RabbitMQ broadcast tới 4 consumer cùng lúc — notification gửi email, payment generate QR, analytics log event, chatbot cập nhật state. Lợi ích là async fire-and-forget, loose coupling, thêm consumer mới không cần sửa publisher. Hai là Redis tách thành 6 DBs riêng cho từng service: DB 0 cho Celery task queue, DB 1 cho auth + gateway session, DB 2 cho booking cache, DB 3 cho parking slot, DB 5 cho realtime WebSocket pub/sub, DB 6 cho chatbot state với TTL 30 phút. Cô lập key-space giúp flush DB lẻ không ảnh hưởng service khác.</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luồng hoạt động end-to-end của hệ thống — em chia làm 3 phase. Phase 1, Đặt chỗ online: User mở web hoặc app, Gateway xác thực session, Booking-service tạo booking, persist xuống MySQL, phát event qua RabbitMQ, Notification gửi email kèm QR confirmation. Phase 2, Check-in vào bãi: Xe đến cổng, camera ANPR chụp biển số, AI đọc text, match với booking đã đăng ký bằng Levenshtein distance tối đa 1, ESP32 mở barrier, dashboard admin cập nhật realtime. Phase 3, Check-out + Thanh toán: Xe đến cổng ra, cash scanner ESP32 chụp tờ tiền, AI nhận diện 9 mệnh giá, cộng tổng đến khi đủ phí, Payment-service đóng booking, barrier mở, gửi email biên lai. Đây là full flow.</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AI thứ nhất là nhận diện biển số xe. Em dùng pipeline 2-stage. Stage 1 là YOLOv8 detect bbox biển — em chọn YOLOv8 vì anchor-free và decoupled head, đạt 96% accuracy so với classical CV chỉ 60%. Sau đó perspective warp nắn biển nghiêng thành chữ nhật thẳng, tăng OCR accuracy thêm 5%. Stage 2 là OCR cascade 3-engine: TrOCR Vision Transformer của Microsoft đọc đầu tiên, mạnh nhất với biển khó như mờ, nghiêng, đêm — đạt 96% trên hard cases. Nếu confidence thấp, fallback EasyOCR và Tesseract. Cuối cùng so OCR với booking bằng Levenshtein distance, cho phép sai tối đa 1 ký tự để tolerate nhầm O với 0, I với 1. Kết quả end-to-end là 94.5% accuracy, false accept rate dưới 0.5%, latency khoảng 2 giây. Em cũng pre-warm tất cả model ngay khi service khởi động để tránh cold-start 20 giây.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điểm độc đáo của em — AI nhận diện 9 mệnh giá tiền Việt Nam, chưa bãi xe nào tại Việt Nam có. Em dùng pipeline cascade 4 tầng từ nhẹ đến nặng. Tầng 1 quality check bằng Laplacian variance để filter ảnh mờ, mất 2ms. Tầng 2 detector dùng HSV mask và contour, mất 5ms. Tầng 3 color classifier Gabor filter cộng SVM xử lý 70% case dễ trong 5ms. Nếu chưa chắc chắn, tầng 4 mới dùng deep model EfficientNetV2-S cộng TTA 5 biến thể, mất 150ms. Trung bình tổng chỉ 50ms, nhanh hơn 3 lần so với chạy deep model cho mọi case. Em còn áp dụng rejection margin-based: top-1 confidence cao chưa đủ, phải kèm margin với top-2 — không đủ tự tin thì từ chối, yêu cầu user scan lại. Đây là triết lý precision-first: thà từ chối còn hơn sai cho giao dịch tiền mặt. Bank-grade pipeline còn có Siamese network và OneClass SVM cho verification và phát hiện tiền giả. Kết quả accuracy 98.22%, precision-at-accept ≥ 99.5%.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AI thứ ba: chatbot trợ lý ảo tiếng Việt với kiến trúc DDD 3-layer. Domain layer chứa intent enum 16 class, Application orchestration logic, Infrastructure swap được LLM provider. Em chọn Gemini 2.5 Flash vì hỗ trợ tiếng Việt tốt, rẻ hơn GPT-4 200 lần, free tier 1500 req/day. Schema-driven entity extraction đảm bảo structured output. Hybrid Confidence kết hợp 3 dimension chống false confident. Booking Wizard guide user step-by-step qua 3 bước. Đặc biệt RAG với ChromaDB vector store + sentence-transformers multilingual — chatbot trả lời FAQ từ knowledge base thật, có citation source, giảm hallucination. Kết quả: 16 intents accuracy &gt; 93%, latency 0.8s.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AI thứ tư là nhận diện ô đỗ xe. Em đã thử YOLO fine-tune nhưng fail vì Unity primitive khác với COCO dataset. Em chuyển sang Classical CV, kết quả 100% accuracy khi bãi trống, 86-93% khi bãi đầy. Pipeline: HSV mask viền cam của slot, morphology CLOSE và DILATE để khép kín viền bị anti-alias, findContours với flag RETR_CCOMP để tìm 2-level hierarchy — viền ngoài và lỗ bên trong, lỗ chính là ô đỗ. Cuối cùng classify status bằng cách sample HSV patch trung tâm 35% của ô. Em còn có 2 kỹ thuật quan trọng: row reconstruction để interpolate slot bị xe che, và best-grid cache để memo grid lớn nhất từng detect được — khi frame hiện tại kém, fallback về cache. Latency dưới 80ms mỗi frame, realtime 5 FPS trên dashboard admin.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kết quả thực nghiệm của 4 AI module em đo trên test set độc lập. AI Plate OCR test 500 ảnh biển Việt Nam tự thu thập, end-to-end accuracy 94.5%. AI Banknote test 1500 ảnh holdout — 15% dataset không seen during training, accuracy 9 mệnh giá đạt 98.22%. Slot Detection test trên Unity scenes ngẫu nhiên, accuracy 86-100% tùy theo occupancy. Chatbot test 16 intents với khoảng 50 câu mỗi intent, intent accuracy trên 93%. Bên phải là confusion matrix của banknote — có thể thấy class 200k và 500k hay nhầm nhau nhất do màu đỏ-tím gần nhau. Rejection logic của em bù đắp bằng cách yêu cầu user scan lại khi không đủ confidence. Phương pháp em dùng là split train/val/test 70-15-15, holdout test set không seen during training, cross-validation cho banknote, và so sánh với baseline MobileNetV3 đạt 89% và Classical CV đạt 60%.</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Phần IoT em thiết kế 4 ESP32 edge devices. GATE-IN-01 ở cổng vào: camera IP 4K, loop sensor phát hiện xe, button manual, servo MG996R cho barrier, LED status. GATE-OUT-01 ở cổng ra: camera 4K, display LCD hiển thị phí, servo và LED. VERIFY-SLOT-01 cho verify ô đỗ: camera dome 2MP overview tầng V1, LED strip WS2812 cho 50 slots. CASH-PAY-01 cho thanh toán cash: camera scanner focus tờ tiền, LED và buzzer. Bên phải là BOM chi tiết — cameras 9 triệu, ESP32 và phụ kiện 1.5 triệu, LED status 0.5 triệu, NVR và network 4.5 triệu, Mini-PC N100 cộng Coral USB 8 triệu, phụ kiện 3 triệu. Tổng cộng khoảng 26.5 triệu cho bãi 50 chỗ. Em chọn ESP32 vì có Wi-Fi tích hợp, ADC, servo control, giá chỉ 250k. Raspberry Pi đắt gấp 5 lần, Arduino không có Wi-Fi sẵn.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ESP32 giao tiếp với hệ thống qua 3 luồng tương tác chính. Luồng 1, khi xe đến cổng vào: Cảm biến phát hiện xe, camera ESP32 chụp ảnh biển số, gửi về AI service đọc text, đối chiếu với booking đã đăng ký. Nếu khớp thì mở barrier. Luồng 2, khi xe đỗ vào ô: Camera tổng quan tầng V1 chụp định kỳ, AI nhận diện slot có xe, ESP32 đổi LED từ xanh sang đỏ và cập nhật realtime lên admin dashboard. Luồng 3, khi xe ra và thanh toán: Cash scanner ESP32 chụp tờ tiền, AI phân loại 9 mệnh giá, cộng tổng phí, khi đủ thì mở barrier ra và gửi email biên lai. Về xác thực: mỗi ESP32 được cấp khóa định danh duy nhất khi cài đặt — backend nhận diện đúng thiết bị, giả mạo bị từ chối ngay. Về giám sát sức khỏe: ESP32 báo cáo trạng thái mỗi 30 giây, mất tín hiệu &gt; 90s thì cảnh báo offline và bảo vệ có thể manual override.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Unity Digital Twin của em là điểm độc đáo — chưa đồ án KLTN VN nào có. Em hỗ trợ 3 chế độ triển khai. Mode 1, Editor Play Mode: chạy trong Unity Editor với hot-reload C# scripts, debug logs realtime, dùng cho dev iteration. Mode 2, Standalone Build: build ra file .exe Windows hoặc .app macOS, không cần cài Unity, deliver demo qua USB hoặc zip. Mode 3, Headless CI Mode: chạy với flag -batchmode -nographics, GitHub Actions chạy E2E test nightly, regression test simulator vs backend, không cần GPU hay display. Về flexibility, em thiết kế config-driven: backend trả về JSON layout với floors, zones, slot grid; ParkingLotGenerator.cs đọc config và tạo procedural scene runtime. Hiện em đã hỗ trợ 4 mô hình bãi: M1 Linear single-floor cho bãi nhỏ 30-50 chỗ; M2 Block grid với zones cho TTTM 100-200 chỗ; M3 Multi-floor stacked cho tòa văn phòng 3-5 tầng; M4 Mixed cho bãi tổng hợp có cả xe hơi, xe máy và xe điện.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Suốt quá trình em gặp 6 khó khăn lớn, mỗi cái em rút ra bài học. Một, YOLO fail trên slot detection vì Unity primitive khác COCO dataset — em fallback sang OpenCV HSV và RETR_CCOMP, đạt 100% bãi trống. Hai, Banknote accuracy v1 chỉ 89% — em redesign với EfficientNetV2-S, TTA và rejection logic, lên 98.22%. Ba, GTX 1650 chỉ 4GB VRAM bị OOM — em dùng mixed precision fp16 và batch 12. Bốn, EasyOCR cold-start 20 giây — em pre-warm trong FastAPI lifespan(). Năm, Gemini quota free 1500 req/day hết khi demo — em build dual backend với SDK direct và OpenAI-compat proxy fallback. Sáu, class imbalance 200k chỉ 457 ảnh trong khi class khác 1800 — em dùng WeightedRandomSampler và class_weight 1.3×. Tổng cộng em chạy 7 sprints, khoảng 200 commits, refactor 4 god-classes về dưới 300 dòng.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phân tích thực tế hệ thống qua mô hình SWOT. Điểm mạnh: tự động hóa 100% không cần bảo vệ thường trực, AI accuracy cao trên test set, open-source không lock-in vendor, có Unity simulator để test E2E mà chưa cần deploy hardware thật. Điểm yếu: chưa pilot trên bãi thực với user thật, AI gặp edge case khi tiền cũ rách hay biển bẩn, dependence vào internet ổn định, hardware ESP32 chưa deploy thật mà chỉ simulator Unity. Cơ hội: smart parking Việt Nam còn rất sơ khai, văn hóa cash payment phù hợp với banknote AI của em, cloud computing giảm cost theo thời gian. Thách thức: pháp lý về biển số là personal data cần consent, cạnh tranh từ vendor lớn như Hikvision Dahua, và user adoption khó vì bãi truyền thống không dễ chuyển đổi. Về câu hỏi quan trọng: AI có đủ tốt cho production chưa? Em trả lời CÓ — với điều kiện có manual override cho edge case. Banknote 99.5% precision-at-accept đã đủ ngưỡng bank-grade. Plate 94.5% e2e + Levenshtein tolerance đảm bảo false accept &lt; 0.5%. Unity flexibility — chỉ cần thay JSON config, ParkingLotGenerator tự regen scene, đã hỗ trợ 4 mô hình bãi khác nhau.</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có 6 hướng phát triển sau khi tốt nghiệp. Một, Hoạt động ngoại tuyến — local fallback queue khi mất internet, sync khi có lại. Hai, Cảm biến nâng cao — tích hợp LiDAR cho slot detection chính xác 100%. Ba, Sạc xe điện — detect biển xanh và tính tiền sạc tự động. Bốn, Dự đoán thông minh — mô hình ML LSTM hoặc Prophet dự đoán giờ bãi đầy. Năm, Mobile native app — React Native với push notification realtime. Sáu, Multi-tenant marketplace — mô hình Grab Park, mỗi chủ bãi 1 tenant. Về business case cho bãi 50 chỗ: phần cứng ~26.5 triệu một lần (giá thực tế), vận hành 8 triệu/tháng (không cần bảo vệ thường trực), doanh thu ước tính 35 triệu/tháng (50 chỗ × 50% occupancy × 50k/ngày), payback period chỉ ~1 tháng. Đây là tính cho bãi prime nội đô với 70% occupancy. Bãi ngoại ô có thể payback 4-6 tháng.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Đóng góp khoa học và điểm khác biệt của ParkSmart gồm 5 unique selling points. Một, AI nhận diện 9 mệnh giá tiền Việt Nam — duy nhất tại Việt Nam, với bank-grade pipeline 3-stage gồm EfficientNetV2-S Classifier, Siamese Network và OneClass SVM. Chưa bãi xe nào hỗ trợ cash payment qua AI. Hai, Unity Digital Twin — procedural lot generation, 8 virtual cameras, 4 ESP32 simulator — không có project KLTN VN nào tương tự. Ba, Microservices Open-Source Stack — đa ngôn ngữ Python, Go, JavaScript, C#, không lock-in vendor, ai cũng có thể fork và deploy. Bốn, Chatbot LLM với RAG — không phải FAQ template bot, mà thực sự hiểu ngữ cảnh, có 16 intents, Hybrid Confidence và citation từ knowledge base thật. Năm, Precision-First AI cho giao dịch tài chính — banknote precision-at-accept ≥ 99.5%, plate Levenshtein ≤ 1, false accept rate &lt; 0.5%. Triết lý của em là: không phải làm tốt 1 thứ, mà làm tốt 1 hệ thống tích hợp.</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xin kết thúc phần trình bày tại đây. Cảm ơn hội đồng đã lắng nghe. Em sẵn sàng nhận câu hỏi từ hội đồng. Em cũng có demo live tại parksmart chấm ghepdoicaulong chấm shop nếu hội đồng muốn xem trực tiếp.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330"/>
            </a:gs>
            <a:gs pos="100000">
              <a:srgbClr val="1E3A5F"/>
            </a:gs>
          </a:gsLst>
          <a:lin ang="18900000" scaled="1"/>
        </a:gradFill>
        <a:effectLst/>
      </p:bgPr>
    </p:bg>
    <p:spTree>
      <p:nvGrpSpPr>
        <p:cNvPr id="1" name=""/>
        <p:cNvGrpSpPr/>
        <p:nvPr/>
      </p:nvGrpSpPr>
      <p:grpSpPr>
        <a:xfrm>
          <a:off x="0" y="0"/>
          <a:ext cx="0" cy="0"/>
          <a:chOff x="0" y="0"/>
          <a:chExt cx="0" cy="0"/>
        </a:xfrm>
      </p:grpSpPr>
      <p:sp>
        <p:nvSpPr>
          <p:cNvPr id="2" name="Rectangle 1"/>
          <p:cNvSpPr/>
          <p:nvPr/>
        </p:nvSpPr>
        <p:spPr>
          <a:xfrm>
            <a:off x="10241280" y="0"/>
            <a:ext cx="1947672" cy="13716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75120"/>
            <a:ext cx="12191695" cy="18288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228600"/>
            <a:ext cx="1554480" cy="1554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hcmou_logo.png"/>
          <p:cNvPicPr>
            <a:picLocks noChangeAspect="1"/>
          </p:cNvPicPr>
          <p:nvPr/>
        </p:nvPicPr>
        <p:blipFill>
          <a:blip r:embed="rId3"/>
          <a:stretch>
            <a:fillRect/>
          </a:stretch>
        </p:blipFill>
        <p:spPr>
          <a:xfrm>
            <a:off x="457200" y="320040"/>
            <a:ext cx="1371600" cy="1371600"/>
          </a:xfrm>
          <a:prstGeom prst="rect">
            <a:avLst/>
          </a:prstGeom>
        </p:spPr>
      </p:pic>
      <p:sp>
        <p:nvSpPr>
          <p:cNvPr id="6" name="TextBox 5"/>
          <p:cNvSpPr txBox="1"/>
          <p:nvPr/>
        </p:nvSpPr>
        <p:spPr>
          <a:xfrm>
            <a:off x="2103120" y="502920"/>
            <a:ext cx="7772400" cy="365760"/>
          </a:xfrm>
          <a:prstGeom prst="rect">
            <a:avLst/>
          </a:prstGeom>
          <a:noFill/>
        </p:spPr>
        <p:txBody>
          <a:bodyPr wrap="square" lIns="50000" tIns="20000" rIns="50000" bIns="20000" anchor="t">
            <a:spAutoFit/>
          </a:bodyPr>
          <a:lstStyle/>
          <a:p>
            <a:pPr algn="l">
              <a:lnSpc>
                <a:spcPct val="120000"/>
              </a:lnSpc>
            </a:pPr>
            <a:r>
              <a:rPr sz="1600" b="1" i="0">
                <a:solidFill>
                  <a:srgbClr val="FFFFFF"/>
                </a:solidFill>
                <a:latin typeface="Calibri"/>
              </a:rPr>
              <a:t>TRƯỜNG ĐẠI HỌC MỞ THÀNH PHỐ HỒ CHÍ MINH</a:t>
            </a:r>
          </a:p>
        </p:txBody>
      </p:sp>
      <p:sp>
        <p:nvSpPr>
          <p:cNvPr id="7" name="TextBox 6"/>
          <p:cNvSpPr txBox="1"/>
          <p:nvPr/>
        </p:nvSpPr>
        <p:spPr>
          <a:xfrm>
            <a:off x="2103120" y="896112"/>
            <a:ext cx="7772400" cy="320040"/>
          </a:xfrm>
          <a:prstGeom prst="rect">
            <a:avLst/>
          </a:prstGeom>
          <a:noFill/>
        </p:spPr>
        <p:txBody>
          <a:bodyPr wrap="square" lIns="50000" tIns="20000" rIns="50000" bIns="20000" anchor="t">
            <a:spAutoFit/>
          </a:bodyPr>
          <a:lstStyle/>
          <a:p>
            <a:pPr algn="l">
              <a:lnSpc>
                <a:spcPct val="120000"/>
              </a:lnSpc>
            </a:pPr>
            <a:r>
              <a:rPr sz="1200" b="0" i="0">
                <a:solidFill>
                  <a:srgbClr val="FED7AA"/>
                </a:solidFill>
                <a:latin typeface="Calibri"/>
              </a:rPr>
              <a:t>KHOA CÔNG NGHỆ THÔNG TIN</a:t>
            </a:r>
          </a:p>
        </p:txBody>
      </p:sp>
      <p:sp>
        <p:nvSpPr>
          <p:cNvPr id="8" name="TextBox 7"/>
          <p:cNvSpPr txBox="1"/>
          <p:nvPr/>
        </p:nvSpPr>
        <p:spPr>
          <a:xfrm>
            <a:off x="2103120" y="1216152"/>
            <a:ext cx="7772400" cy="320040"/>
          </a:xfrm>
          <a:prstGeom prst="rect">
            <a:avLst/>
          </a:prstGeom>
          <a:noFill/>
        </p:spPr>
        <p:txBody>
          <a:bodyPr wrap="square" lIns="50000" tIns="20000" rIns="50000" bIns="20000" anchor="t">
            <a:spAutoFit/>
          </a:bodyPr>
          <a:lstStyle/>
          <a:p>
            <a:pPr algn="l">
              <a:lnSpc>
                <a:spcPct val="120000"/>
              </a:lnSpc>
            </a:pPr>
            <a:r>
              <a:rPr sz="1200" b="0" i="0">
                <a:solidFill>
                  <a:srgbClr val="FED7AA"/>
                </a:solidFill>
                <a:latin typeface="Calibri"/>
              </a:rPr>
              <a:t>NGÀNH KHOA HỌC MÁY TÍNH</a:t>
            </a:r>
          </a:p>
        </p:txBody>
      </p:sp>
      <p:sp>
        <p:nvSpPr>
          <p:cNvPr id="9" name="TextBox 8"/>
          <p:cNvSpPr txBox="1"/>
          <p:nvPr/>
        </p:nvSpPr>
        <p:spPr>
          <a:xfrm>
            <a:off x="10424160" y="457200"/>
            <a:ext cx="1737360" cy="365760"/>
          </a:xfrm>
          <a:prstGeom prst="rect">
            <a:avLst/>
          </a:prstGeom>
          <a:noFill/>
        </p:spPr>
        <p:txBody>
          <a:bodyPr wrap="square" lIns="50000" tIns="20000" rIns="50000" bIns="20000" anchor="t">
            <a:spAutoFit/>
          </a:bodyPr>
          <a:lstStyle/>
          <a:p>
            <a:pPr algn="ctr">
              <a:lnSpc>
                <a:spcPct val="120000"/>
              </a:lnSpc>
            </a:pPr>
            <a:r>
              <a:rPr sz="1300" b="1" i="0">
                <a:solidFill>
                  <a:srgbClr val="FFFFFF"/>
                </a:solidFill>
                <a:latin typeface="Calibri"/>
              </a:rPr>
              <a:t>KLTN · 2026</a:t>
            </a:r>
          </a:p>
        </p:txBody>
      </p:sp>
      <p:sp>
        <p:nvSpPr>
          <p:cNvPr id="10" name="Rectangle 9"/>
          <p:cNvSpPr/>
          <p:nvPr/>
        </p:nvSpPr>
        <p:spPr>
          <a:xfrm>
            <a:off x="0" y="2331720"/>
            <a:ext cx="12191695"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468880"/>
            <a:ext cx="10972800" cy="320040"/>
          </a:xfrm>
          <a:prstGeom prst="rect">
            <a:avLst/>
          </a:prstGeom>
          <a:noFill/>
        </p:spPr>
        <p:txBody>
          <a:bodyPr wrap="square" lIns="50000" tIns="20000" rIns="50000" bIns="20000" anchor="t">
            <a:spAutoFit/>
          </a:bodyPr>
          <a:lstStyle/>
          <a:p>
            <a:pPr algn="l">
              <a:lnSpc>
                <a:spcPct val="120000"/>
              </a:lnSpc>
            </a:pPr>
            <a:r>
              <a:rPr sz="1200" b="1" i="0">
                <a:solidFill>
                  <a:srgbClr val="F97316"/>
                </a:solidFill>
                <a:latin typeface="Calibri"/>
              </a:rPr>
              <a:t>ĐỀ TÀI KHÓA LUẬN</a:t>
            </a:r>
          </a:p>
        </p:txBody>
      </p:sp>
      <p:sp>
        <p:nvSpPr>
          <p:cNvPr id="12" name="TextBox 11"/>
          <p:cNvSpPr txBox="1"/>
          <p:nvPr/>
        </p:nvSpPr>
        <p:spPr>
          <a:xfrm>
            <a:off x="640080" y="2834640"/>
            <a:ext cx="10972800" cy="1280160"/>
          </a:xfrm>
          <a:prstGeom prst="rect">
            <a:avLst/>
          </a:prstGeom>
          <a:noFill/>
        </p:spPr>
        <p:txBody>
          <a:bodyPr wrap="square" lIns="50000" tIns="20000" rIns="50000" bIns="20000" anchor="t">
            <a:spAutoFit/>
          </a:bodyPr>
          <a:lstStyle/>
          <a:p>
            <a:pPr algn="l">
              <a:lnSpc>
                <a:spcPct val="100000"/>
              </a:lnSpc>
            </a:pPr>
            <a:r>
              <a:rPr sz="8000" b="1" i="0">
                <a:solidFill>
                  <a:srgbClr val="FFFFFF"/>
                </a:solidFill>
                <a:latin typeface="Calibri"/>
              </a:rPr>
              <a:t>PARKSMART</a:t>
            </a:r>
          </a:p>
        </p:txBody>
      </p:sp>
      <p:sp>
        <p:nvSpPr>
          <p:cNvPr id="13" name="TextBox 12"/>
          <p:cNvSpPr txBox="1"/>
          <p:nvPr/>
        </p:nvSpPr>
        <p:spPr>
          <a:xfrm>
            <a:off x="640080" y="4160520"/>
            <a:ext cx="10972800" cy="548640"/>
          </a:xfrm>
          <a:prstGeom prst="rect">
            <a:avLst/>
          </a:prstGeom>
          <a:noFill/>
        </p:spPr>
        <p:txBody>
          <a:bodyPr wrap="square" lIns="50000" tIns="20000" rIns="50000" bIns="20000" anchor="t">
            <a:spAutoFit/>
          </a:bodyPr>
          <a:lstStyle/>
          <a:p>
            <a:pPr algn="l">
              <a:lnSpc>
                <a:spcPct val="120000"/>
              </a:lnSpc>
            </a:pPr>
            <a:r>
              <a:rPr sz="2600" b="1" i="0">
                <a:solidFill>
                  <a:srgbClr val="FED7AA"/>
                </a:solidFill>
                <a:latin typeface="Calibri"/>
              </a:rPr>
              <a:t>Hệ thống quản lý Bãi đỗ xe Thông minh</a:t>
            </a:r>
          </a:p>
        </p:txBody>
      </p:sp>
      <p:sp>
        <p:nvSpPr>
          <p:cNvPr id="14" name="TextBox 13"/>
          <p:cNvSpPr txBox="1"/>
          <p:nvPr/>
        </p:nvSpPr>
        <p:spPr>
          <a:xfrm>
            <a:off x="640080" y="4663440"/>
            <a:ext cx="10972800" cy="548640"/>
          </a:xfrm>
          <a:prstGeom prst="rect">
            <a:avLst/>
          </a:prstGeom>
          <a:noFill/>
        </p:spPr>
        <p:txBody>
          <a:bodyPr wrap="square" lIns="50000" tIns="20000" rIns="50000" bIns="20000" anchor="t">
            <a:spAutoFit/>
          </a:bodyPr>
          <a:lstStyle/>
          <a:p>
            <a:pPr algn="l">
              <a:lnSpc>
                <a:spcPct val="120000"/>
              </a:lnSpc>
            </a:pPr>
            <a:r>
              <a:rPr sz="2600" b="1" i="0">
                <a:solidFill>
                  <a:srgbClr val="FED7AA"/>
                </a:solidFill>
                <a:latin typeface="Calibri"/>
              </a:rPr>
              <a:t>tích hợp IoT</a:t>
            </a:r>
          </a:p>
        </p:txBody>
      </p:sp>
      <p:sp>
        <p:nvSpPr>
          <p:cNvPr id="15" name="Rectangle 14"/>
          <p:cNvSpPr/>
          <p:nvPr/>
        </p:nvSpPr>
        <p:spPr>
          <a:xfrm>
            <a:off x="640080" y="5440680"/>
            <a:ext cx="228600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11480" y="5715000"/>
            <a:ext cx="7772400" cy="822960"/>
          </a:xfrm>
          <a:prstGeom prst="round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5779008"/>
            <a:ext cx="7315200" cy="256032"/>
          </a:xfrm>
          <a:prstGeom prst="rect">
            <a:avLst/>
          </a:prstGeom>
          <a:noFill/>
        </p:spPr>
        <p:txBody>
          <a:bodyPr wrap="square" lIns="50000" tIns="20000" rIns="50000" bIns="20000" anchor="t">
            <a:spAutoFit/>
          </a:bodyPr>
          <a:lstStyle/>
          <a:p>
            <a:pPr algn="l">
              <a:lnSpc>
                <a:spcPct val="120000"/>
              </a:lnSpc>
            </a:pPr>
            <a:r>
              <a:rPr sz="1000" b="1" i="0">
                <a:solidFill>
                  <a:srgbClr val="F97316"/>
                </a:solidFill>
                <a:latin typeface="Calibri"/>
              </a:rPr>
              <a:t>SINH VIÊN THỰC HIỆN</a:t>
            </a:r>
          </a:p>
        </p:txBody>
      </p:sp>
      <p:sp>
        <p:nvSpPr>
          <p:cNvPr id="18" name="TextBox 17"/>
          <p:cNvSpPr txBox="1"/>
          <p:nvPr/>
        </p:nvSpPr>
        <p:spPr>
          <a:xfrm>
            <a:off x="640080" y="6035040"/>
            <a:ext cx="7315200" cy="438912"/>
          </a:xfrm>
          <a:prstGeom prst="rect">
            <a:avLst/>
          </a:prstGeom>
          <a:noFill/>
        </p:spPr>
        <p:txBody>
          <a:bodyPr wrap="square" lIns="50000" tIns="20000" rIns="50000" bIns="20000" anchor="t">
            <a:spAutoFit/>
          </a:bodyPr>
          <a:lstStyle/>
          <a:p>
            <a:pPr algn="l">
              <a:lnSpc>
                <a:spcPct val="120000"/>
              </a:lnSpc>
            </a:pPr>
            <a:r>
              <a:rPr sz="2200" b="1" i="0">
                <a:solidFill>
                  <a:srgbClr val="FFFFFF"/>
                </a:solidFill>
                <a:latin typeface="Calibri"/>
              </a:rPr>
              <a:t>Nguyễn Hải Minh</a:t>
            </a:r>
          </a:p>
        </p:txBody>
      </p:sp>
      <p:sp>
        <p:nvSpPr>
          <p:cNvPr id="19" name="TextBox 18"/>
          <p:cNvSpPr txBox="1"/>
          <p:nvPr/>
        </p:nvSpPr>
        <p:spPr>
          <a:xfrm>
            <a:off x="4754880" y="6035040"/>
            <a:ext cx="3383280" cy="438912"/>
          </a:xfrm>
          <a:prstGeom prst="rect">
            <a:avLst/>
          </a:prstGeom>
          <a:noFill/>
        </p:spPr>
        <p:txBody>
          <a:bodyPr wrap="square" lIns="50000" tIns="20000" rIns="50000" bIns="20000" anchor="ctr">
            <a:spAutoFit/>
          </a:bodyPr>
          <a:lstStyle/>
          <a:p>
            <a:pPr algn="l">
              <a:lnSpc>
                <a:spcPct val="120000"/>
              </a:lnSpc>
            </a:pPr>
            <a:r>
              <a:rPr sz="1800" b="0" i="1">
                <a:solidFill>
                  <a:srgbClr val="FED7AA"/>
                </a:solidFill>
                <a:latin typeface="Calibri"/>
              </a:rPr>
              <a:t>MSSV 2251012093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E40AF"/>
                </a:solidFill>
                <a:latin typeface="Calibri"/>
              </a:rPr>
              <a:t>01</a:t>
            </a:r>
            <a:r>
              <a:rPr sz="1100">
                <a:solidFill>
                  <a:srgbClr val="64748B"/>
                </a:solidFill>
                <a:latin typeface="Calibri"/>
              </a:rPr>
              <a:t>   ĐẶT VẤN ĐỀ</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Hạn chế của bãi đỗ xe truyền thống</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35127" y="2194560"/>
            <a:ext cx="2194560" cy="3200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35127" y="2194560"/>
            <a:ext cx="2194560" cy="54864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5127" y="2304288"/>
            <a:ext cx="2194560" cy="411480"/>
          </a:xfrm>
          <a:prstGeom prst="rect">
            <a:avLst/>
          </a:prstGeom>
          <a:noFill/>
        </p:spPr>
        <p:txBody>
          <a:bodyPr wrap="square" lIns="50000" tIns="20000" rIns="50000" bIns="20000" anchor="t">
            <a:spAutoFit/>
          </a:bodyPr>
          <a:lstStyle/>
          <a:p>
            <a:pPr algn="ctr">
              <a:lnSpc>
                <a:spcPct val="120000"/>
              </a:lnSpc>
            </a:pPr>
            <a:r>
              <a:rPr sz="2400" b="1" i="0">
                <a:solidFill>
                  <a:srgbClr val="FFFFFF"/>
                </a:solidFill>
                <a:latin typeface="Calibri"/>
              </a:rPr>
              <a:t>01</a:t>
            </a:r>
          </a:p>
        </p:txBody>
      </p:sp>
      <p:sp>
        <p:nvSpPr>
          <p:cNvPr id="9" name="TextBox 8"/>
          <p:cNvSpPr txBox="1"/>
          <p:nvPr/>
        </p:nvSpPr>
        <p:spPr>
          <a:xfrm>
            <a:off x="472287" y="2971800"/>
            <a:ext cx="1920240" cy="457200"/>
          </a:xfrm>
          <a:prstGeom prst="rect">
            <a:avLst/>
          </a:prstGeom>
          <a:noFill/>
        </p:spPr>
        <p:txBody>
          <a:bodyPr wrap="square" lIns="50000" tIns="20000" rIns="50000" bIns="20000" anchor="t">
            <a:spAutoFit/>
          </a:bodyPr>
          <a:lstStyle/>
          <a:p>
            <a:pPr algn="ctr">
              <a:lnSpc>
                <a:spcPct val="120000"/>
              </a:lnSpc>
            </a:pPr>
            <a:r>
              <a:rPr sz="1800" b="1" i="0">
                <a:solidFill>
                  <a:srgbClr val="0F172A"/>
                </a:solidFill>
                <a:latin typeface="Calibri"/>
              </a:rPr>
              <a:t>Ùn tắc cửa</a:t>
            </a:r>
          </a:p>
        </p:txBody>
      </p:sp>
      <p:sp>
        <p:nvSpPr>
          <p:cNvPr id="10" name="TextBox 9"/>
          <p:cNvSpPr txBox="1"/>
          <p:nvPr/>
        </p:nvSpPr>
        <p:spPr>
          <a:xfrm>
            <a:off x="472287" y="3566160"/>
            <a:ext cx="1920240" cy="1005840"/>
          </a:xfrm>
          <a:prstGeom prst="rect">
            <a:avLst/>
          </a:prstGeom>
          <a:noFill/>
        </p:spPr>
        <p:txBody>
          <a:bodyPr wrap="square" lIns="50000" tIns="20000" rIns="50000" bIns="20000" anchor="ctr">
            <a:spAutoFit/>
          </a:bodyPr>
          <a:lstStyle/>
          <a:p>
            <a:pPr algn="ctr">
              <a:lnSpc>
                <a:spcPct val="100000"/>
              </a:lnSpc>
            </a:pPr>
            <a:r>
              <a:rPr sz="4200" b="1" i="0">
                <a:solidFill>
                  <a:srgbClr val="EF4444"/>
                </a:solidFill>
                <a:latin typeface="Calibri"/>
              </a:rPr>
              <a:t>30-60s</a:t>
            </a:r>
          </a:p>
        </p:txBody>
      </p:sp>
      <p:sp>
        <p:nvSpPr>
          <p:cNvPr id="11" name="TextBox 10"/>
          <p:cNvSpPr txBox="1"/>
          <p:nvPr/>
        </p:nvSpPr>
        <p:spPr>
          <a:xfrm>
            <a:off x="518007" y="4663440"/>
            <a:ext cx="1828800" cy="640080"/>
          </a:xfrm>
          <a:prstGeom prst="rect">
            <a:avLst/>
          </a:prstGeom>
          <a:noFill/>
        </p:spPr>
        <p:txBody>
          <a:bodyPr wrap="square" lIns="50000" tIns="20000" rIns="50000" bIns="20000" anchor="t">
            <a:spAutoFit/>
          </a:bodyPr>
          <a:lstStyle/>
          <a:p>
            <a:pPr algn="ctr">
              <a:lnSpc>
                <a:spcPct val="130000"/>
              </a:lnSpc>
            </a:pPr>
            <a:r>
              <a:rPr sz="1300" b="0" i="0">
                <a:solidFill>
                  <a:srgbClr val="334155"/>
                </a:solidFill>
                <a:latin typeface="Calibri"/>
              </a:rPr>
              <a:t>mỗi xe ra/vào</a:t>
            </a:r>
          </a:p>
        </p:txBody>
      </p:sp>
      <p:sp>
        <p:nvSpPr>
          <p:cNvPr id="12" name="Rectangle 11"/>
          <p:cNvSpPr/>
          <p:nvPr/>
        </p:nvSpPr>
        <p:spPr>
          <a:xfrm>
            <a:off x="2666847" y="2194560"/>
            <a:ext cx="2194560" cy="3200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666847" y="2194560"/>
            <a:ext cx="2194560" cy="54864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66847" y="2304288"/>
            <a:ext cx="2194560" cy="411480"/>
          </a:xfrm>
          <a:prstGeom prst="rect">
            <a:avLst/>
          </a:prstGeom>
          <a:noFill/>
        </p:spPr>
        <p:txBody>
          <a:bodyPr wrap="square" lIns="50000" tIns="20000" rIns="50000" bIns="20000" anchor="t">
            <a:spAutoFit/>
          </a:bodyPr>
          <a:lstStyle/>
          <a:p>
            <a:pPr algn="ctr">
              <a:lnSpc>
                <a:spcPct val="120000"/>
              </a:lnSpc>
            </a:pPr>
            <a:r>
              <a:rPr sz="2400" b="1" i="0">
                <a:solidFill>
                  <a:srgbClr val="FFFFFF"/>
                </a:solidFill>
                <a:latin typeface="Calibri"/>
              </a:rPr>
              <a:t>02</a:t>
            </a:r>
          </a:p>
        </p:txBody>
      </p:sp>
      <p:sp>
        <p:nvSpPr>
          <p:cNvPr id="15" name="TextBox 14"/>
          <p:cNvSpPr txBox="1"/>
          <p:nvPr/>
        </p:nvSpPr>
        <p:spPr>
          <a:xfrm>
            <a:off x="2804007" y="2971800"/>
            <a:ext cx="1920240" cy="457200"/>
          </a:xfrm>
          <a:prstGeom prst="rect">
            <a:avLst/>
          </a:prstGeom>
          <a:noFill/>
        </p:spPr>
        <p:txBody>
          <a:bodyPr wrap="square" lIns="50000" tIns="20000" rIns="50000" bIns="20000" anchor="t">
            <a:spAutoFit/>
          </a:bodyPr>
          <a:lstStyle/>
          <a:p>
            <a:pPr algn="ctr">
              <a:lnSpc>
                <a:spcPct val="120000"/>
              </a:lnSpc>
            </a:pPr>
            <a:r>
              <a:rPr sz="1800" b="1" i="0">
                <a:solidFill>
                  <a:srgbClr val="0F172A"/>
                </a:solidFill>
                <a:latin typeface="Calibri"/>
              </a:rPr>
              <a:t>Sai sót tiền</a:t>
            </a:r>
          </a:p>
        </p:txBody>
      </p:sp>
      <p:sp>
        <p:nvSpPr>
          <p:cNvPr id="16" name="TextBox 15"/>
          <p:cNvSpPr txBox="1"/>
          <p:nvPr/>
        </p:nvSpPr>
        <p:spPr>
          <a:xfrm>
            <a:off x="2804007" y="3566160"/>
            <a:ext cx="1920240" cy="1005840"/>
          </a:xfrm>
          <a:prstGeom prst="rect">
            <a:avLst/>
          </a:prstGeom>
          <a:noFill/>
        </p:spPr>
        <p:txBody>
          <a:bodyPr wrap="square" lIns="50000" tIns="20000" rIns="50000" bIns="20000" anchor="ctr">
            <a:spAutoFit/>
          </a:bodyPr>
          <a:lstStyle/>
          <a:p>
            <a:pPr algn="ctr">
              <a:lnSpc>
                <a:spcPct val="100000"/>
              </a:lnSpc>
            </a:pPr>
            <a:r>
              <a:rPr sz="4200" b="1" i="0">
                <a:solidFill>
                  <a:srgbClr val="F97316"/>
                </a:solidFill>
                <a:latin typeface="Calibri"/>
              </a:rPr>
              <a:t>≈5%</a:t>
            </a:r>
          </a:p>
        </p:txBody>
      </p:sp>
      <p:sp>
        <p:nvSpPr>
          <p:cNvPr id="17" name="TextBox 16"/>
          <p:cNvSpPr txBox="1"/>
          <p:nvPr/>
        </p:nvSpPr>
        <p:spPr>
          <a:xfrm>
            <a:off x="2849727" y="4663440"/>
            <a:ext cx="1828800" cy="640080"/>
          </a:xfrm>
          <a:prstGeom prst="rect">
            <a:avLst/>
          </a:prstGeom>
          <a:noFill/>
        </p:spPr>
        <p:txBody>
          <a:bodyPr wrap="square" lIns="50000" tIns="20000" rIns="50000" bIns="20000" anchor="t">
            <a:spAutoFit/>
          </a:bodyPr>
          <a:lstStyle/>
          <a:p>
            <a:pPr algn="ctr">
              <a:lnSpc>
                <a:spcPct val="130000"/>
              </a:lnSpc>
            </a:pPr>
            <a:r>
              <a:rPr sz="1300" b="0" i="0">
                <a:solidFill>
                  <a:srgbClr val="334155"/>
                </a:solidFill>
                <a:latin typeface="Calibri"/>
              </a:rPr>
              <a:t>giao dịch nhầm mệnh giá</a:t>
            </a:r>
          </a:p>
        </p:txBody>
      </p:sp>
      <p:sp>
        <p:nvSpPr>
          <p:cNvPr id="18" name="Rectangle 17"/>
          <p:cNvSpPr/>
          <p:nvPr/>
        </p:nvSpPr>
        <p:spPr>
          <a:xfrm>
            <a:off x="4998567" y="2194560"/>
            <a:ext cx="2194560" cy="3200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998567" y="2194560"/>
            <a:ext cx="2194560" cy="54864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98567" y="2304288"/>
            <a:ext cx="2194560" cy="411480"/>
          </a:xfrm>
          <a:prstGeom prst="rect">
            <a:avLst/>
          </a:prstGeom>
          <a:noFill/>
        </p:spPr>
        <p:txBody>
          <a:bodyPr wrap="square" lIns="50000" tIns="20000" rIns="50000" bIns="20000" anchor="t">
            <a:spAutoFit/>
          </a:bodyPr>
          <a:lstStyle/>
          <a:p>
            <a:pPr algn="ctr">
              <a:lnSpc>
                <a:spcPct val="120000"/>
              </a:lnSpc>
            </a:pPr>
            <a:r>
              <a:rPr sz="2400" b="1" i="0">
                <a:solidFill>
                  <a:srgbClr val="FFFFFF"/>
                </a:solidFill>
                <a:latin typeface="Calibri"/>
              </a:rPr>
              <a:t>03</a:t>
            </a:r>
          </a:p>
        </p:txBody>
      </p:sp>
      <p:sp>
        <p:nvSpPr>
          <p:cNvPr id="21" name="TextBox 20"/>
          <p:cNvSpPr txBox="1"/>
          <p:nvPr/>
        </p:nvSpPr>
        <p:spPr>
          <a:xfrm>
            <a:off x="5135727" y="2971800"/>
            <a:ext cx="1920240" cy="457200"/>
          </a:xfrm>
          <a:prstGeom prst="rect">
            <a:avLst/>
          </a:prstGeom>
          <a:noFill/>
        </p:spPr>
        <p:txBody>
          <a:bodyPr wrap="square" lIns="50000" tIns="20000" rIns="50000" bIns="20000" anchor="t">
            <a:spAutoFit/>
          </a:bodyPr>
          <a:lstStyle/>
          <a:p>
            <a:pPr algn="ctr">
              <a:lnSpc>
                <a:spcPct val="120000"/>
              </a:lnSpc>
            </a:pPr>
            <a:r>
              <a:rPr sz="1800" b="1" i="0">
                <a:solidFill>
                  <a:srgbClr val="0F172A"/>
                </a:solidFill>
                <a:latin typeface="Calibri"/>
              </a:rPr>
              <a:t>Nhân sự</a:t>
            </a:r>
          </a:p>
        </p:txBody>
      </p:sp>
      <p:sp>
        <p:nvSpPr>
          <p:cNvPr id="22" name="TextBox 21"/>
          <p:cNvSpPr txBox="1"/>
          <p:nvPr/>
        </p:nvSpPr>
        <p:spPr>
          <a:xfrm>
            <a:off x="5135727" y="3566160"/>
            <a:ext cx="1920240" cy="1005840"/>
          </a:xfrm>
          <a:prstGeom prst="rect">
            <a:avLst/>
          </a:prstGeom>
          <a:noFill/>
        </p:spPr>
        <p:txBody>
          <a:bodyPr wrap="square" lIns="50000" tIns="20000" rIns="50000" bIns="20000" anchor="ctr">
            <a:spAutoFit/>
          </a:bodyPr>
          <a:lstStyle/>
          <a:p>
            <a:pPr algn="ctr">
              <a:lnSpc>
                <a:spcPct val="100000"/>
              </a:lnSpc>
            </a:pPr>
            <a:r>
              <a:rPr sz="4200" b="1" i="0">
                <a:solidFill>
                  <a:srgbClr val="8B5CF6"/>
                </a:solidFill>
                <a:latin typeface="Calibri"/>
              </a:rPr>
              <a:t>21-35tr</a:t>
            </a:r>
          </a:p>
        </p:txBody>
      </p:sp>
      <p:sp>
        <p:nvSpPr>
          <p:cNvPr id="23" name="TextBox 22"/>
          <p:cNvSpPr txBox="1"/>
          <p:nvPr/>
        </p:nvSpPr>
        <p:spPr>
          <a:xfrm>
            <a:off x="5181447" y="4663440"/>
            <a:ext cx="1828800" cy="640080"/>
          </a:xfrm>
          <a:prstGeom prst="rect">
            <a:avLst/>
          </a:prstGeom>
          <a:noFill/>
        </p:spPr>
        <p:txBody>
          <a:bodyPr wrap="square" lIns="50000" tIns="20000" rIns="50000" bIns="20000" anchor="t">
            <a:spAutoFit/>
          </a:bodyPr>
          <a:lstStyle/>
          <a:p>
            <a:pPr algn="ctr">
              <a:lnSpc>
                <a:spcPct val="130000"/>
              </a:lnSpc>
            </a:pPr>
            <a:r>
              <a:rPr sz="1300" b="0" i="0">
                <a:solidFill>
                  <a:srgbClr val="334155"/>
                </a:solidFill>
                <a:latin typeface="Calibri"/>
              </a:rPr>
              <a:t>/tháng cho 3-5 bảo vệ</a:t>
            </a:r>
          </a:p>
        </p:txBody>
      </p:sp>
      <p:sp>
        <p:nvSpPr>
          <p:cNvPr id="24" name="Rectangle 23"/>
          <p:cNvSpPr/>
          <p:nvPr/>
        </p:nvSpPr>
        <p:spPr>
          <a:xfrm>
            <a:off x="7330287" y="2194560"/>
            <a:ext cx="2194560" cy="3200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30287" y="2194560"/>
            <a:ext cx="2194560" cy="54864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30287" y="2304288"/>
            <a:ext cx="2194560" cy="411480"/>
          </a:xfrm>
          <a:prstGeom prst="rect">
            <a:avLst/>
          </a:prstGeom>
          <a:noFill/>
        </p:spPr>
        <p:txBody>
          <a:bodyPr wrap="square" lIns="50000" tIns="20000" rIns="50000" bIns="20000" anchor="t">
            <a:spAutoFit/>
          </a:bodyPr>
          <a:lstStyle/>
          <a:p>
            <a:pPr algn="ctr">
              <a:lnSpc>
                <a:spcPct val="120000"/>
              </a:lnSpc>
            </a:pPr>
            <a:r>
              <a:rPr sz="2400" b="1" i="0">
                <a:solidFill>
                  <a:srgbClr val="FFFFFF"/>
                </a:solidFill>
                <a:latin typeface="Calibri"/>
              </a:rPr>
              <a:t>04</a:t>
            </a:r>
          </a:p>
        </p:txBody>
      </p:sp>
      <p:sp>
        <p:nvSpPr>
          <p:cNvPr id="27" name="TextBox 26"/>
          <p:cNvSpPr txBox="1"/>
          <p:nvPr/>
        </p:nvSpPr>
        <p:spPr>
          <a:xfrm>
            <a:off x="7467447" y="2971800"/>
            <a:ext cx="1920240" cy="457200"/>
          </a:xfrm>
          <a:prstGeom prst="rect">
            <a:avLst/>
          </a:prstGeom>
          <a:noFill/>
        </p:spPr>
        <p:txBody>
          <a:bodyPr wrap="square" lIns="50000" tIns="20000" rIns="50000" bIns="20000" anchor="t">
            <a:spAutoFit/>
          </a:bodyPr>
          <a:lstStyle/>
          <a:p>
            <a:pPr algn="ctr">
              <a:lnSpc>
                <a:spcPct val="120000"/>
              </a:lnSpc>
            </a:pPr>
            <a:r>
              <a:rPr sz="1800" b="1" i="0">
                <a:solidFill>
                  <a:srgbClr val="0F172A"/>
                </a:solidFill>
                <a:latin typeface="Calibri"/>
              </a:rPr>
              <a:t>Không đặt trước</a:t>
            </a:r>
          </a:p>
        </p:txBody>
      </p:sp>
      <p:sp>
        <p:nvSpPr>
          <p:cNvPr id="28" name="TextBox 27"/>
          <p:cNvSpPr txBox="1"/>
          <p:nvPr/>
        </p:nvSpPr>
        <p:spPr>
          <a:xfrm>
            <a:off x="7467447" y="3566160"/>
            <a:ext cx="1920240" cy="1005840"/>
          </a:xfrm>
          <a:prstGeom prst="rect">
            <a:avLst/>
          </a:prstGeom>
          <a:noFill/>
        </p:spPr>
        <p:txBody>
          <a:bodyPr wrap="square" lIns="50000" tIns="20000" rIns="50000" bIns="20000" anchor="ctr">
            <a:spAutoFit/>
          </a:bodyPr>
          <a:lstStyle/>
          <a:p>
            <a:pPr algn="ctr">
              <a:lnSpc>
                <a:spcPct val="100000"/>
              </a:lnSpc>
            </a:pPr>
            <a:r>
              <a:rPr sz="4200" b="1" i="0">
                <a:solidFill>
                  <a:srgbClr val="1E40AF"/>
                </a:solidFill>
                <a:latin typeface="Calibri"/>
              </a:rPr>
              <a:t>60%</a:t>
            </a:r>
          </a:p>
        </p:txBody>
      </p:sp>
      <p:sp>
        <p:nvSpPr>
          <p:cNvPr id="29" name="TextBox 28"/>
          <p:cNvSpPr txBox="1"/>
          <p:nvPr/>
        </p:nvSpPr>
        <p:spPr>
          <a:xfrm>
            <a:off x="7513167" y="4663440"/>
            <a:ext cx="1828800" cy="640080"/>
          </a:xfrm>
          <a:prstGeom prst="rect">
            <a:avLst/>
          </a:prstGeom>
          <a:noFill/>
        </p:spPr>
        <p:txBody>
          <a:bodyPr wrap="square" lIns="50000" tIns="20000" rIns="50000" bIns="20000" anchor="t">
            <a:spAutoFit/>
          </a:bodyPr>
          <a:lstStyle/>
          <a:p>
            <a:pPr algn="ctr">
              <a:lnSpc>
                <a:spcPct val="130000"/>
              </a:lnSpc>
            </a:pPr>
            <a:r>
              <a:rPr sz="1300" b="0" i="0">
                <a:solidFill>
                  <a:srgbClr val="334155"/>
                </a:solidFill>
                <a:latin typeface="Calibri"/>
              </a:rPr>
              <a:t>user phải đi 2-3 bãi</a:t>
            </a:r>
          </a:p>
        </p:txBody>
      </p:sp>
      <p:sp>
        <p:nvSpPr>
          <p:cNvPr id="30" name="Rectangle 29"/>
          <p:cNvSpPr/>
          <p:nvPr/>
        </p:nvSpPr>
        <p:spPr>
          <a:xfrm>
            <a:off x="9662007" y="2194560"/>
            <a:ext cx="2194560" cy="3200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662007" y="2194560"/>
            <a:ext cx="2194560" cy="54864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662007" y="2304288"/>
            <a:ext cx="2194560" cy="411480"/>
          </a:xfrm>
          <a:prstGeom prst="rect">
            <a:avLst/>
          </a:prstGeom>
          <a:noFill/>
        </p:spPr>
        <p:txBody>
          <a:bodyPr wrap="square" lIns="50000" tIns="20000" rIns="50000" bIns="20000" anchor="t">
            <a:spAutoFit/>
          </a:bodyPr>
          <a:lstStyle/>
          <a:p>
            <a:pPr algn="ctr">
              <a:lnSpc>
                <a:spcPct val="120000"/>
              </a:lnSpc>
            </a:pPr>
            <a:r>
              <a:rPr sz="2400" b="1" i="0">
                <a:solidFill>
                  <a:srgbClr val="FFFFFF"/>
                </a:solidFill>
                <a:latin typeface="Calibri"/>
              </a:rPr>
              <a:t>05</a:t>
            </a:r>
          </a:p>
        </p:txBody>
      </p:sp>
      <p:sp>
        <p:nvSpPr>
          <p:cNvPr id="33" name="TextBox 32"/>
          <p:cNvSpPr txBox="1"/>
          <p:nvPr/>
        </p:nvSpPr>
        <p:spPr>
          <a:xfrm>
            <a:off x="9799167" y="2971800"/>
            <a:ext cx="1920240" cy="457200"/>
          </a:xfrm>
          <a:prstGeom prst="rect">
            <a:avLst/>
          </a:prstGeom>
          <a:noFill/>
        </p:spPr>
        <p:txBody>
          <a:bodyPr wrap="square" lIns="50000" tIns="20000" rIns="50000" bIns="20000" anchor="t">
            <a:spAutoFit/>
          </a:bodyPr>
          <a:lstStyle/>
          <a:p>
            <a:pPr algn="ctr">
              <a:lnSpc>
                <a:spcPct val="120000"/>
              </a:lnSpc>
            </a:pPr>
            <a:r>
              <a:rPr sz="1800" b="1" i="0">
                <a:solidFill>
                  <a:srgbClr val="0F172A"/>
                </a:solidFill>
                <a:latin typeface="Calibri"/>
              </a:rPr>
              <a:t>Không analytics</a:t>
            </a:r>
          </a:p>
        </p:txBody>
      </p:sp>
      <p:sp>
        <p:nvSpPr>
          <p:cNvPr id="34" name="TextBox 33"/>
          <p:cNvSpPr txBox="1"/>
          <p:nvPr/>
        </p:nvSpPr>
        <p:spPr>
          <a:xfrm>
            <a:off x="9799167" y="3566160"/>
            <a:ext cx="1920240" cy="1005840"/>
          </a:xfrm>
          <a:prstGeom prst="rect">
            <a:avLst/>
          </a:prstGeom>
          <a:noFill/>
        </p:spPr>
        <p:txBody>
          <a:bodyPr wrap="square" lIns="50000" tIns="20000" rIns="50000" bIns="20000" anchor="ctr">
            <a:spAutoFit/>
          </a:bodyPr>
          <a:lstStyle/>
          <a:p>
            <a:pPr algn="ctr">
              <a:lnSpc>
                <a:spcPct val="100000"/>
              </a:lnSpc>
            </a:pPr>
            <a:r>
              <a:rPr sz="4200" b="1" i="0">
                <a:solidFill>
                  <a:srgbClr val="334155"/>
                </a:solidFill>
                <a:latin typeface="Calibri"/>
              </a:rPr>
              <a:t>Sổ tay</a:t>
            </a:r>
          </a:p>
        </p:txBody>
      </p:sp>
      <p:sp>
        <p:nvSpPr>
          <p:cNvPr id="35" name="TextBox 34"/>
          <p:cNvSpPr txBox="1"/>
          <p:nvPr/>
        </p:nvSpPr>
        <p:spPr>
          <a:xfrm>
            <a:off x="9844887" y="4663440"/>
            <a:ext cx="1828800" cy="640080"/>
          </a:xfrm>
          <a:prstGeom prst="rect">
            <a:avLst/>
          </a:prstGeom>
          <a:noFill/>
        </p:spPr>
        <p:txBody>
          <a:bodyPr wrap="square" lIns="50000" tIns="20000" rIns="50000" bIns="20000" anchor="t">
            <a:spAutoFit/>
          </a:bodyPr>
          <a:lstStyle/>
          <a:p>
            <a:pPr algn="ctr">
              <a:lnSpc>
                <a:spcPct val="130000"/>
              </a:lnSpc>
            </a:pPr>
            <a:r>
              <a:rPr sz="1300" b="0" i="0">
                <a:solidFill>
                  <a:srgbClr val="334155"/>
                </a:solidFill>
                <a:latin typeface="Calibri"/>
              </a:rPr>
              <a:t>không tối ưu được</a:t>
            </a:r>
          </a:p>
        </p:txBody>
      </p:sp>
      <p:sp>
        <p:nvSpPr>
          <p:cNvPr id="36" name="Rectangle 35"/>
          <p:cNvSpPr/>
          <p:nvPr/>
        </p:nvSpPr>
        <p:spPr>
          <a:xfrm>
            <a:off x="457200" y="5623560"/>
            <a:ext cx="11247120" cy="54864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7200" y="5650992"/>
            <a:ext cx="11247120" cy="502920"/>
          </a:xfrm>
          <a:prstGeom prst="rect">
            <a:avLst/>
          </a:prstGeom>
          <a:noFill/>
        </p:spPr>
        <p:txBody>
          <a:bodyPr wrap="square" lIns="50000" tIns="20000" rIns="50000" bIns="20000" anchor="ctr">
            <a:spAutoFit/>
          </a:bodyPr>
          <a:lstStyle/>
          <a:p>
            <a:pPr algn="ctr">
              <a:lnSpc>
                <a:spcPct val="120000"/>
              </a:lnSpc>
            </a:pPr>
            <a:r>
              <a:rPr sz="1800" b="1" i="1">
                <a:solidFill>
                  <a:srgbClr val="FFFFFF"/>
                </a:solidFill>
                <a:latin typeface="Calibri"/>
              </a:rPr>
              <a:t>→  Cần giải pháp tự động hóa toàn diện bằng AI</a:t>
            </a:r>
          </a:p>
        </p:txBody>
      </p:sp>
      <p:sp>
        <p:nvSpPr>
          <p:cNvPr id="38" name="TextBox 37"/>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39" name="TextBox 38"/>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02 / 23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E40AF"/>
                </a:solidFill>
                <a:latin typeface="Calibri"/>
              </a:rPr>
              <a:t>02</a:t>
            </a:r>
            <a:r>
              <a:rPr sz="1100">
                <a:solidFill>
                  <a:srgbClr val="64748B"/>
                </a:solidFill>
                <a:latin typeface="Calibri"/>
              </a:rPr>
              <a:t>   MỤC TIÊU &amp; PHẠM VI</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Các công nghệ chính sử dụng và lý do</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194560"/>
            <a:ext cx="5303520" cy="16916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194560"/>
            <a:ext cx="109728" cy="169164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377440"/>
            <a:ext cx="4846320" cy="502920"/>
          </a:xfrm>
          <a:prstGeom prst="rect">
            <a:avLst/>
          </a:prstGeom>
          <a:noFill/>
        </p:spPr>
        <p:txBody>
          <a:bodyPr wrap="square" lIns="50000" tIns="20000" rIns="50000" bIns="20000" anchor="t">
            <a:spAutoFit/>
          </a:bodyPr>
          <a:lstStyle/>
          <a:p>
            <a:pPr algn="l">
              <a:lnSpc>
                <a:spcPct val="120000"/>
              </a:lnSpc>
            </a:pPr>
            <a:r>
              <a:rPr sz="2000" b="1" i="0">
                <a:solidFill>
                  <a:srgbClr val="1E40AF"/>
                </a:solidFill>
                <a:latin typeface="Calibri"/>
              </a:rPr>
              <a:t>AI License Plate OCR</a:t>
            </a:r>
          </a:p>
        </p:txBody>
      </p:sp>
      <p:sp>
        <p:nvSpPr>
          <p:cNvPr id="9" name="TextBox 8"/>
          <p:cNvSpPr txBox="1"/>
          <p:nvPr/>
        </p:nvSpPr>
        <p:spPr>
          <a:xfrm>
            <a:off x="777240" y="2971800"/>
            <a:ext cx="4846320" cy="777240"/>
          </a:xfrm>
          <a:prstGeom prst="rect">
            <a:avLst/>
          </a:prstGeom>
          <a:noFill/>
        </p:spPr>
        <p:txBody>
          <a:bodyPr wrap="square" lIns="50000" tIns="20000" rIns="50000" bIns="20000" anchor="t">
            <a:spAutoFit/>
          </a:bodyPr>
          <a:lstStyle/>
          <a:p>
            <a:pPr algn="l">
              <a:lnSpc>
                <a:spcPct val="140000"/>
              </a:lnSpc>
            </a:pPr>
            <a:r>
              <a:rPr sz="1500" b="0" i="0">
                <a:solidFill>
                  <a:srgbClr val="334155"/>
                </a:solidFill>
                <a:latin typeface="Calibri"/>
              </a:rPr>
              <a:t>YOLOv8 + 3 OCR engines
Vì sao: thay thế bảo vệ check biển → tự động mở barrier</a:t>
            </a:r>
          </a:p>
        </p:txBody>
      </p:sp>
      <p:sp>
        <p:nvSpPr>
          <p:cNvPr id="10" name="Rectangle 9"/>
          <p:cNvSpPr/>
          <p:nvPr/>
        </p:nvSpPr>
        <p:spPr>
          <a:xfrm>
            <a:off x="5925312" y="2194560"/>
            <a:ext cx="5303520" cy="16916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25312" y="2194560"/>
            <a:ext cx="109728" cy="169164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45352" y="2377440"/>
            <a:ext cx="4846320" cy="502920"/>
          </a:xfrm>
          <a:prstGeom prst="rect">
            <a:avLst/>
          </a:prstGeom>
          <a:noFill/>
        </p:spPr>
        <p:txBody>
          <a:bodyPr wrap="square" lIns="50000" tIns="20000" rIns="50000" bIns="20000" anchor="t">
            <a:spAutoFit/>
          </a:bodyPr>
          <a:lstStyle/>
          <a:p>
            <a:pPr algn="l">
              <a:lnSpc>
                <a:spcPct val="120000"/>
              </a:lnSpc>
            </a:pPr>
            <a:r>
              <a:rPr sz="2000" b="1" i="0">
                <a:solidFill>
                  <a:srgbClr val="F97316"/>
                </a:solidFill>
                <a:latin typeface="Calibri"/>
              </a:rPr>
              <a:t>AI Banknote Classifier</a:t>
            </a:r>
          </a:p>
        </p:txBody>
      </p:sp>
      <p:sp>
        <p:nvSpPr>
          <p:cNvPr id="13" name="TextBox 12"/>
          <p:cNvSpPr txBox="1"/>
          <p:nvPr/>
        </p:nvSpPr>
        <p:spPr>
          <a:xfrm>
            <a:off x="6245352" y="2971800"/>
            <a:ext cx="4846320" cy="777240"/>
          </a:xfrm>
          <a:prstGeom prst="rect">
            <a:avLst/>
          </a:prstGeom>
          <a:noFill/>
        </p:spPr>
        <p:txBody>
          <a:bodyPr wrap="square" lIns="50000" tIns="20000" rIns="50000" bIns="20000" anchor="t">
            <a:spAutoFit/>
          </a:bodyPr>
          <a:lstStyle/>
          <a:p>
            <a:pPr algn="l">
              <a:lnSpc>
                <a:spcPct val="140000"/>
              </a:lnSpc>
            </a:pPr>
            <a:r>
              <a:rPr sz="1500" b="0" i="0">
                <a:solidFill>
                  <a:srgbClr val="334155"/>
                </a:solidFill>
                <a:latin typeface="Calibri"/>
              </a:rPr>
              <a:t>EfficientNetV2-S 9 mệnh giá VN
Vì sao: VN dùng tiền mặt nhiều, cash payment unique</a:t>
            </a:r>
          </a:p>
        </p:txBody>
      </p:sp>
      <p:sp>
        <p:nvSpPr>
          <p:cNvPr id="14" name="Rectangle 13"/>
          <p:cNvSpPr/>
          <p:nvPr/>
        </p:nvSpPr>
        <p:spPr>
          <a:xfrm>
            <a:off x="457200" y="4050792"/>
            <a:ext cx="5303520" cy="16916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4050792"/>
            <a:ext cx="109728" cy="169164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4233672"/>
            <a:ext cx="4846320" cy="502920"/>
          </a:xfrm>
          <a:prstGeom prst="rect">
            <a:avLst/>
          </a:prstGeom>
          <a:noFill/>
        </p:spPr>
        <p:txBody>
          <a:bodyPr wrap="square" lIns="50000" tIns="20000" rIns="50000" bIns="20000" anchor="t">
            <a:spAutoFit/>
          </a:bodyPr>
          <a:lstStyle/>
          <a:p>
            <a:pPr algn="l">
              <a:lnSpc>
                <a:spcPct val="120000"/>
              </a:lnSpc>
            </a:pPr>
            <a:r>
              <a:rPr sz="2000" b="1" i="0">
                <a:solidFill>
                  <a:srgbClr val="8B5CF6"/>
                </a:solidFill>
                <a:latin typeface="Calibri"/>
              </a:rPr>
              <a:t>Chatbot LLM + RAG</a:t>
            </a:r>
          </a:p>
        </p:txBody>
      </p:sp>
      <p:sp>
        <p:nvSpPr>
          <p:cNvPr id="17" name="TextBox 16"/>
          <p:cNvSpPr txBox="1"/>
          <p:nvPr/>
        </p:nvSpPr>
        <p:spPr>
          <a:xfrm>
            <a:off x="777240" y="4828032"/>
            <a:ext cx="4846320" cy="777240"/>
          </a:xfrm>
          <a:prstGeom prst="rect">
            <a:avLst/>
          </a:prstGeom>
          <a:noFill/>
        </p:spPr>
        <p:txBody>
          <a:bodyPr wrap="square" lIns="50000" tIns="20000" rIns="50000" bIns="20000" anchor="t">
            <a:spAutoFit/>
          </a:bodyPr>
          <a:lstStyle/>
          <a:p>
            <a:pPr algn="l">
              <a:lnSpc>
                <a:spcPct val="140000"/>
              </a:lnSpc>
            </a:pPr>
            <a:r>
              <a:rPr sz="1500" b="0" i="0">
                <a:solidFill>
                  <a:srgbClr val="334155"/>
                </a:solidFill>
                <a:latin typeface="Calibri"/>
              </a:rPr>
              <a:t>Gemini + ChromaDB knowledge base
Vì sao: hỗ trợ user 24/7, giảm tải support center</a:t>
            </a:r>
          </a:p>
        </p:txBody>
      </p:sp>
      <p:sp>
        <p:nvSpPr>
          <p:cNvPr id="18" name="Rectangle 17"/>
          <p:cNvSpPr/>
          <p:nvPr/>
        </p:nvSpPr>
        <p:spPr>
          <a:xfrm>
            <a:off x="5925312" y="4050792"/>
            <a:ext cx="5303520" cy="16916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25312" y="4050792"/>
            <a:ext cx="109728" cy="1691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45352" y="4233672"/>
            <a:ext cx="4846320" cy="502920"/>
          </a:xfrm>
          <a:prstGeom prst="rect">
            <a:avLst/>
          </a:prstGeom>
          <a:noFill/>
        </p:spPr>
        <p:txBody>
          <a:bodyPr wrap="square" lIns="50000" tIns="20000" rIns="50000" bIns="20000" anchor="t">
            <a:spAutoFit/>
          </a:bodyPr>
          <a:lstStyle/>
          <a:p>
            <a:pPr algn="l">
              <a:lnSpc>
                <a:spcPct val="120000"/>
              </a:lnSpc>
            </a:pPr>
            <a:r>
              <a:rPr sz="2000" b="1" i="0">
                <a:solidFill>
                  <a:srgbClr val="10B981"/>
                </a:solidFill>
                <a:latin typeface="Calibri"/>
              </a:rPr>
              <a:t>IoT + Unity Digital Twin</a:t>
            </a:r>
          </a:p>
        </p:txBody>
      </p:sp>
      <p:sp>
        <p:nvSpPr>
          <p:cNvPr id="21" name="TextBox 20"/>
          <p:cNvSpPr txBox="1"/>
          <p:nvPr/>
        </p:nvSpPr>
        <p:spPr>
          <a:xfrm>
            <a:off x="6245352" y="4828032"/>
            <a:ext cx="4846320" cy="777240"/>
          </a:xfrm>
          <a:prstGeom prst="rect">
            <a:avLst/>
          </a:prstGeom>
          <a:noFill/>
        </p:spPr>
        <p:txBody>
          <a:bodyPr wrap="square" lIns="50000" tIns="20000" rIns="50000" bIns="20000" anchor="t">
            <a:spAutoFit/>
          </a:bodyPr>
          <a:lstStyle/>
          <a:p>
            <a:pPr algn="l">
              <a:lnSpc>
                <a:spcPct val="140000"/>
              </a:lnSpc>
            </a:pPr>
            <a:r>
              <a:rPr sz="1500" b="0" i="0">
                <a:solidFill>
                  <a:srgbClr val="334155"/>
                </a:solidFill>
                <a:latin typeface="Calibri"/>
              </a:rPr>
              <a:t>ESP32 + Unity simulator
Vì sao: test E2E không cần phần cứng, scale đa bãi</a:t>
            </a:r>
          </a:p>
        </p:txBody>
      </p:sp>
      <p:sp>
        <p:nvSpPr>
          <p:cNvPr id="22" name="TextBox 21"/>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23" name="TextBox 22"/>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03 / 23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E40AF"/>
                </a:solidFill>
                <a:latin typeface="Calibri"/>
              </a:rPr>
              <a:t>03</a:t>
            </a:r>
            <a:r>
              <a:rPr sz="1100">
                <a:solidFill>
                  <a:srgbClr val="64748B"/>
                </a:solidFill>
                <a:latin typeface="Calibri"/>
              </a:rPr>
              <a:t>   CÔNG NGHỆ SỬ DỤNG</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6 quyết định công nghệ quan trọng nhất</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72287" y="2194560"/>
            <a:ext cx="3657600" cy="1874519"/>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2287" y="2194560"/>
            <a:ext cx="109728" cy="1874519"/>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3626967" y="2304288"/>
            <a:ext cx="365760" cy="365760"/>
          </a:xfrm>
          <a:prstGeom prst="ellipse">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26967" y="2304288"/>
            <a:ext cx="365760" cy="365760"/>
          </a:xfrm>
          <a:prstGeom prst="rect">
            <a:avLst/>
          </a:prstGeom>
          <a:noFill/>
        </p:spPr>
        <p:txBody>
          <a:bodyPr wrap="square" lIns="50000" tIns="20000" rIns="50000" bIns="20000" anchor="ctr">
            <a:spAutoFit/>
          </a:bodyPr>
          <a:lstStyle/>
          <a:p>
            <a:pPr algn="ctr">
              <a:lnSpc>
                <a:spcPct val="120000"/>
              </a:lnSpc>
            </a:pPr>
            <a:r>
              <a:rPr sz="1100" b="1" i="0">
                <a:solidFill>
                  <a:srgbClr val="FFFFFF"/>
                </a:solidFill>
                <a:latin typeface="Calibri"/>
              </a:rPr>
              <a:t>01</a:t>
            </a:r>
          </a:p>
        </p:txBody>
      </p:sp>
      <p:sp>
        <p:nvSpPr>
          <p:cNvPr id="10" name="TextBox 9"/>
          <p:cNvSpPr txBox="1"/>
          <p:nvPr/>
        </p:nvSpPr>
        <p:spPr>
          <a:xfrm>
            <a:off x="700887" y="2359152"/>
            <a:ext cx="2880360" cy="411480"/>
          </a:xfrm>
          <a:prstGeom prst="rect">
            <a:avLst/>
          </a:prstGeom>
          <a:noFill/>
        </p:spPr>
        <p:txBody>
          <a:bodyPr wrap="square" lIns="50000" tIns="20000" rIns="50000" bIns="20000" anchor="t">
            <a:spAutoFit/>
          </a:bodyPr>
          <a:lstStyle/>
          <a:p>
            <a:pPr algn="l">
              <a:lnSpc>
                <a:spcPct val="120000"/>
              </a:lnSpc>
            </a:pPr>
            <a:r>
              <a:rPr sz="1600" b="1" i="0">
                <a:solidFill>
                  <a:srgbClr val="1E40AF"/>
                </a:solidFill>
                <a:latin typeface="Calibri"/>
              </a:rPr>
              <a:t>Microservices</a:t>
            </a:r>
          </a:p>
        </p:txBody>
      </p:sp>
      <p:sp>
        <p:nvSpPr>
          <p:cNvPr id="11" name="TextBox 10"/>
          <p:cNvSpPr txBox="1"/>
          <p:nvPr/>
        </p:nvSpPr>
        <p:spPr>
          <a:xfrm>
            <a:off x="700887" y="2834640"/>
            <a:ext cx="3246120" cy="1142999"/>
          </a:xfrm>
          <a:prstGeom prst="rect">
            <a:avLst/>
          </a:prstGeom>
          <a:noFill/>
        </p:spPr>
        <p:txBody>
          <a:bodyPr wrap="square" lIns="50000" tIns="20000" rIns="50000" bIns="20000" anchor="t">
            <a:spAutoFit/>
          </a:bodyPr>
          <a:lstStyle/>
          <a:p>
            <a:pPr algn="l">
              <a:lnSpc>
                <a:spcPct val="140000"/>
              </a:lnSpc>
            </a:pPr>
            <a:r>
              <a:rPr sz="1200" b="0" i="0">
                <a:solidFill>
                  <a:srgbClr val="334155"/>
                </a:solidFill>
                <a:latin typeface="Calibri"/>
              </a:rPr>
              <a:t>Tách AI service (GPU) khỏi service nhẹ. Fault isolation: AI lỗi không sụp booking. Scale từng service độc lập theo tải.</a:t>
            </a:r>
          </a:p>
        </p:txBody>
      </p:sp>
      <p:sp>
        <p:nvSpPr>
          <p:cNvPr id="12" name="Rectangle 11"/>
          <p:cNvSpPr/>
          <p:nvPr/>
        </p:nvSpPr>
        <p:spPr>
          <a:xfrm>
            <a:off x="4267047" y="2194560"/>
            <a:ext cx="3657600" cy="1874519"/>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67047" y="2194560"/>
            <a:ext cx="109728" cy="1874519"/>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421727" y="2304288"/>
            <a:ext cx="365760" cy="36576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21727" y="2304288"/>
            <a:ext cx="365760" cy="365760"/>
          </a:xfrm>
          <a:prstGeom prst="rect">
            <a:avLst/>
          </a:prstGeom>
          <a:noFill/>
        </p:spPr>
        <p:txBody>
          <a:bodyPr wrap="square" lIns="50000" tIns="20000" rIns="50000" bIns="20000" anchor="ctr">
            <a:spAutoFit/>
          </a:bodyPr>
          <a:lstStyle/>
          <a:p>
            <a:pPr algn="ctr">
              <a:lnSpc>
                <a:spcPct val="120000"/>
              </a:lnSpc>
            </a:pPr>
            <a:r>
              <a:rPr sz="1100" b="1" i="0">
                <a:solidFill>
                  <a:srgbClr val="FFFFFF"/>
                </a:solidFill>
                <a:latin typeface="Calibri"/>
              </a:rPr>
              <a:t>02</a:t>
            </a:r>
          </a:p>
        </p:txBody>
      </p:sp>
      <p:sp>
        <p:nvSpPr>
          <p:cNvPr id="16" name="TextBox 15"/>
          <p:cNvSpPr txBox="1"/>
          <p:nvPr/>
        </p:nvSpPr>
        <p:spPr>
          <a:xfrm>
            <a:off x="4495647" y="2359152"/>
            <a:ext cx="2880360" cy="411480"/>
          </a:xfrm>
          <a:prstGeom prst="rect">
            <a:avLst/>
          </a:prstGeom>
          <a:noFill/>
        </p:spPr>
        <p:txBody>
          <a:bodyPr wrap="square" lIns="50000" tIns="20000" rIns="50000" bIns="20000" anchor="t">
            <a:spAutoFit/>
          </a:bodyPr>
          <a:lstStyle/>
          <a:p>
            <a:pPr algn="l">
              <a:lnSpc>
                <a:spcPct val="120000"/>
              </a:lnSpc>
            </a:pPr>
            <a:r>
              <a:rPr sz="1600" b="1" i="0">
                <a:solidFill>
                  <a:srgbClr val="8B5CF6"/>
                </a:solidFill>
                <a:latin typeface="Calibri"/>
              </a:rPr>
              <a:t>Python + Go kết hợp</a:t>
            </a:r>
          </a:p>
        </p:txBody>
      </p:sp>
      <p:sp>
        <p:nvSpPr>
          <p:cNvPr id="17" name="TextBox 16"/>
          <p:cNvSpPr txBox="1"/>
          <p:nvPr/>
        </p:nvSpPr>
        <p:spPr>
          <a:xfrm>
            <a:off x="4495647" y="2834640"/>
            <a:ext cx="3246120" cy="1142999"/>
          </a:xfrm>
          <a:prstGeom prst="rect">
            <a:avLst/>
          </a:prstGeom>
          <a:noFill/>
        </p:spPr>
        <p:txBody>
          <a:bodyPr wrap="square" lIns="50000" tIns="20000" rIns="50000" bIns="20000" anchor="t">
            <a:spAutoFit/>
          </a:bodyPr>
          <a:lstStyle/>
          <a:p>
            <a:pPr algn="l">
              <a:lnSpc>
                <a:spcPct val="140000"/>
              </a:lnSpc>
            </a:pPr>
            <a:r>
              <a:rPr sz="1200" b="0" i="0">
                <a:solidFill>
                  <a:srgbClr val="334155"/>
                </a:solidFill>
                <a:latin typeface="Calibri"/>
              </a:rPr>
              <a:t>Python cho AI (PyTorch ecosystem mạnh). Go cho Gateway (latency thấp, concurrent connections cao). Mỗi việc 1 công cụ.</a:t>
            </a:r>
          </a:p>
        </p:txBody>
      </p:sp>
      <p:sp>
        <p:nvSpPr>
          <p:cNvPr id="18" name="Rectangle 17"/>
          <p:cNvSpPr/>
          <p:nvPr/>
        </p:nvSpPr>
        <p:spPr>
          <a:xfrm>
            <a:off x="8061807" y="2194560"/>
            <a:ext cx="3657600" cy="1874519"/>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61807" y="2194560"/>
            <a:ext cx="109728" cy="1874519"/>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1216487" y="2304288"/>
            <a:ext cx="365760" cy="365760"/>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216487" y="2304288"/>
            <a:ext cx="365760" cy="365760"/>
          </a:xfrm>
          <a:prstGeom prst="rect">
            <a:avLst/>
          </a:prstGeom>
          <a:noFill/>
        </p:spPr>
        <p:txBody>
          <a:bodyPr wrap="square" lIns="50000" tIns="20000" rIns="50000" bIns="20000" anchor="ctr">
            <a:spAutoFit/>
          </a:bodyPr>
          <a:lstStyle/>
          <a:p>
            <a:pPr algn="ctr">
              <a:lnSpc>
                <a:spcPct val="120000"/>
              </a:lnSpc>
            </a:pPr>
            <a:r>
              <a:rPr sz="1100" b="1" i="0">
                <a:solidFill>
                  <a:srgbClr val="FFFFFF"/>
                </a:solidFill>
                <a:latin typeface="Calibri"/>
              </a:rPr>
              <a:t>03</a:t>
            </a:r>
          </a:p>
        </p:txBody>
      </p:sp>
      <p:sp>
        <p:nvSpPr>
          <p:cNvPr id="22" name="TextBox 21"/>
          <p:cNvSpPr txBox="1"/>
          <p:nvPr/>
        </p:nvSpPr>
        <p:spPr>
          <a:xfrm>
            <a:off x="8290407" y="2359152"/>
            <a:ext cx="2880360" cy="411480"/>
          </a:xfrm>
          <a:prstGeom prst="rect">
            <a:avLst/>
          </a:prstGeom>
          <a:noFill/>
        </p:spPr>
        <p:txBody>
          <a:bodyPr wrap="square" lIns="50000" tIns="20000" rIns="50000" bIns="20000" anchor="t">
            <a:spAutoFit/>
          </a:bodyPr>
          <a:lstStyle/>
          <a:p>
            <a:pPr algn="l">
              <a:lnSpc>
                <a:spcPct val="120000"/>
              </a:lnSpc>
            </a:pPr>
            <a:r>
              <a:rPr sz="1600" b="1" i="0">
                <a:solidFill>
                  <a:srgbClr val="F97316"/>
                </a:solidFill>
                <a:latin typeface="Calibri"/>
              </a:rPr>
              <a:t>Gemini 2.5 Flash (LLM)</a:t>
            </a:r>
          </a:p>
        </p:txBody>
      </p:sp>
      <p:sp>
        <p:nvSpPr>
          <p:cNvPr id="23" name="TextBox 22"/>
          <p:cNvSpPr txBox="1"/>
          <p:nvPr/>
        </p:nvSpPr>
        <p:spPr>
          <a:xfrm>
            <a:off x="8290407" y="2834640"/>
            <a:ext cx="3246120" cy="1142999"/>
          </a:xfrm>
          <a:prstGeom prst="rect">
            <a:avLst/>
          </a:prstGeom>
          <a:noFill/>
        </p:spPr>
        <p:txBody>
          <a:bodyPr wrap="square" lIns="50000" tIns="20000" rIns="50000" bIns="20000" anchor="t">
            <a:spAutoFit/>
          </a:bodyPr>
          <a:lstStyle/>
          <a:p>
            <a:pPr algn="l">
              <a:lnSpc>
                <a:spcPct val="140000"/>
              </a:lnSpc>
            </a:pPr>
            <a:r>
              <a:rPr sz="1200" b="0" i="0">
                <a:solidFill>
                  <a:srgbClr val="334155"/>
                </a:solidFill>
                <a:latin typeface="Calibri"/>
              </a:rPr>
              <a:t>Tiếng Việt support tốt · 200× rẻ hơn GPT-4 ($0.15 vs $30/1M tokens) · free tier 1500 req/day đủ cho KLTN.</a:t>
            </a:r>
          </a:p>
        </p:txBody>
      </p:sp>
      <p:sp>
        <p:nvSpPr>
          <p:cNvPr id="24" name="Rectangle 23"/>
          <p:cNvSpPr/>
          <p:nvPr/>
        </p:nvSpPr>
        <p:spPr>
          <a:xfrm>
            <a:off x="472287" y="4251959"/>
            <a:ext cx="3657600" cy="1874519"/>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72287" y="4251959"/>
            <a:ext cx="109728"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626967" y="43616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26967" y="4361687"/>
            <a:ext cx="365760" cy="365760"/>
          </a:xfrm>
          <a:prstGeom prst="rect">
            <a:avLst/>
          </a:prstGeom>
          <a:noFill/>
        </p:spPr>
        <p:txBody>
          <a:bodyPr wrap="square" lIns="50000" tIns="20000" rIns="50000" bIns="20000" anchor="ctr">
            <a:spAutoFit/>
          </a:bodyPr>
          <a:lstStyle/>
          <a:p>
            <a:pPr algn="ctr">
              <a:lnSpc>
                <a:spcPct val="120000"/>
              </a:lnSpc>
            </a:pPr>
            <a:r>
              <a:rPr sz="1100" b="1" i="0">
                <a:solidFill>
                  <a:srgbClr val="FFFFFF"/>
                </a:solidFill>
                <a:latin typeface="Calibri"/>
              </a:rPr>
              <a:t>04</a:t>
            </a:r>
          </a:p>
        </p:txBody>
      </p:sp>
      <p:sp>
        <p:nvSpPr>
          <p:cNvPr id="28" name="TextBox 27"/>
          <p:cNvSpPr txBox="1"/>
          <p:nvPr/>
        </p:nvSpPr>
        <p:spPr>
          <a:xfrm>
            <a:off x="700887" y="4416551"/>
            <a:ext cx="2880360" cy="411480"/>
          </a:xfrm>
          <a:prstGeom prst="rect">
            <a:avLst/>
          </a:prstGeom>
          <a:noFill/>
        </p:spPr>
        <p:txBody>
          <a:bodyPr wrap="square" lIns="50000" tIns="20000" rIns="50000" bIns="20000" anchor="t">
            <a:spAutoFit/>
          </a:bodyPr>
          <a:lstStyle/>
          <a:p>
            <a:pPr algn="l">
              <a:lnSpc>
                <a:spcPct val="120000"/>
              </a:lnSpc>
            </a:pPr>
            <a:r>
              <a:rPr sz="1600" b="1" i="0">
                <a:solidFill>
                  <a:srgbClr val="10B981"/>
                </a:solidFill>
                <a:latin typeface="Calibri"/>
              </a:rPr>
              <a:t>EfficientNetV2-S (Vision)</a:t>
            </a:r>
          </a:p>
        </p:txBody>
      </p:sp>
      <p:sp>
        <p:nvSpPr>
          <p:cNvPr id="29" name="TextBox 28"/>
          <p:cNvSpPr txBox="1"/>
          <p:nvPr/>
        </p:nvSpPr>
        <p:spPr>
          <a:xfrm>
            <a:off x="700887" y="4892039"/>
            <a:ext cx="3246120" cy="1142999"/>
          </a:xfrm>
          <a:prstGeom prst="rect">
            <a:avLst/>
          </a:prstGeom>
          <a:noFill/>
        </p:spPr>
        <p:txBody>
          <a:bodyPr wrap="square" lIns="50000" tIns="20000" rIns="50000" bIns="20000" anchor="t">
            <a:spAutoFit/>
          </a:bodyPr>
          <a:lstStyle/>
          <a:p>
            <a:pPr algn="l">
              <a:lnSpc>
                <a:spcPct val="140000"/>
              </a:lnSpc>
            </a:pPr>
            <a:r>
              <a:rPr sz="1200" b="0" i="0">
                <a:solidFill>
                  <a:srgbClr val="334155"/>
                </a:solidFill>
                <a:latin typeface="Calibri"/>
              </a:rPr>
              <a:t>Pretrained ImageNet 84% · Fused-MBConv train 4× nhanh hơn V1 · fit GTX 1650 4GB với mixed precision fp16.</a:t>
            </a:r>
          </a:p>
        </p:txBody>
      </p:sp>
      <p:sp>
        <p:nvSpPr>
          <p:cNvPr id="30" name="Rectangle 29"/>
          <p:cNvSpPr/>
          <p:nvPr/>
        </p:nvSpPr>
        <p:spPr>
          <a:xfrm>
            <a:off x="4267047" y="4251959"/>
            <a:ext cx="3657600" cy="1874519"/>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267047" y="4251959"/>
            <a:ext cx="109728" cy="1874519"/>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421727" y="4361687"/>
            <a:ext cx="365760" cy="36576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21727" y="4361687"/>
            <a:ext cx="365760" cy="365760"/>
          </a:xfrm>
          <a:prstGeom prst="rect">
            <a:avLst/>
          </a:prstGeom>
          <a:noFill/>
        </p:spPr>
        <p:txBody>
          <a:bodyPr wrap="square" lIns="50000" tIns="20000" rIns="50000" bIns="20000" anchor="ctr">
            <a:spAutoFit/>
          </a:bodyPr>
          <a:lstStyle/>
          <a:p>
            <a:pPr algn="ctr">
              <a:lnSpc>
                <a:spcPct val="120000"/>
              </a:lnSpc>
            </a:pPr>
            <a:r>
              <a:rPr sz="1100" b="1" i="0">
                <a:solidFill>
                  <a:srgbClr val="FFFFFF"/>
                </a:solidFill>
                <a:latin typeface="Calibri"/>
              </a:rPr>
              <a:t>05</a:t>
            </a:r>
          </a:p>
        </p:txBody>
      </p:sp>
      <p:sp>
        <p:nvSpPr>
          <p:cNvPr id="34" name="TextBox 33"/>
          <p:cNvSpPr txBox="1"/>
          <p:nvPr/>
        </p:nvSpPr>
        <p:spPr>
          <a:xfrm>
            <a:off x="4495647" y="4416551"/>
            <a:ext cx="2880360" cy="411480"/>
          </a:xfrm>
          <a:prstGeom prst="rect">
            <a:avLst/>
          </a:prstGeom>
          <a:noFill/>
        </p:spPr>
        <p:txBody>
          <a:bodyPr wrap="square" lIns="50000" tIns="20000" rIns="50000" bIns="20000" anchor="t">
            <a:spAutoFit/>
          </a:bodyPr>
          <a:lstStyle/>
          <a:p>
            <a:pPr algn="l">
              <a:lnSpc>
                <a:spcPct val="120000"/>
              </a:lnSpc>
            </a:pPr>
            <a:r>
              <a:rPr sz="1600" b="1" i="0">
                <a:solidFill>
                  <a:srgbClr val="14B8A6"/>
                </a:solidFill>
                <a:latin typeface="Calibri"/>
              </a:rPr>
              <a:t>ChromaDB (Vector store cho RAG)</a:t>
            </a:r>
          </a:p>
        </p:txBody>
      </p:sp>
      <p:sp>
        <p:nvSpPr>
          <p:cNvPr id="35" name="TextBox 34"/>
          <p:cNvSpPr txBox="1"/>
          <p:nvPr/>
        </p:nvSpPr>
        <p:spPr>
          <a:xfrm>
            <a:off x="4495647" y="4892039"/>
            <a:ext cx="3246120" cy="1142999"/>
          </a:xfrm>
          <a:prstGeom prst="rect">
            <a:avLst/>
          </a:prstGeom>
          <a:noFill/>
        </p:spPr>
        <p:txBody>
          <a:bodyPr wrap="square" lIns="50000" tIns="20000" rIns="50000" bIns="20000" anchor="t">
            <a:spAutoFit/>
          </a:bodyPr>
          <a:lstStyle/>
          <a:p>
            <a:pPr algn="l">
              <a:lnSpc>
                <a:spcPct val="140000"/>
              </a:lnSpc>
            </a:pPr>
            <a:r>
              <a:rPr sz="1200" b="0" i="0">
                <a:solidFill>
                  <a:srgbClr val="334155"/>
                </a:solidFill>
                <a:latin typeface="Calibri"/>
              </a:rPr>
              <a:t>Embedded vector DB — không cần external service như Pinecone. Local persistent, deploy đơn giản trong Docker Compose.</a:t>
            </a:r>
          </a:p>
        </p:txBody>
      </p:sp>
      <p:sp>
        <p:nvSpPr>
          <p:cNvPr id="36" name="Rectangle 35"/>
          <p:cNvSpPr/>
          <p:nvPr/>
        </p:nvSpPr>
        <p:spPr>
          <a:xfrm>
            <a:off x="8061807" y="4251959"/>
            <a:ext cx="3657600" cy="1874519"/>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061807" y="4251959"/>
            <a:ext cx="109728" cy="1874519"/>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1216487" y="4361687"/>
            <a:ext cx="365760" cy="36576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216487" y="4361687"/>
            <a:ext cx="365760" cy="365760"/>
          </a:xfrm>
          <a:prstGeom prst="rect">
            <a:avLst/>
          </a:prstGeom>
          <a:noFill/>
        </p:spPr>
        <p:txBody>
          <a:bodyPr wrap="square" lIns="50000" tIns="20000" rIns="50000" bIns="20000" anchor="ctr">
            <a:spAutoFit/>
          </a:bodyPr>
          <a:lstStyle/>
          <a:p>
            <a:pPr algn="ctr">
              <a:lnSpc>
                <a:spcPct val="120000"/>
              </a:lnSpc>
            </a:pPr>
            <a:r>
              <a:rPr sz="1100" b="1" i="0">
                <a:solidFill>
                  <a:srgbClr val="FFFFFF"/>
                </a:solidFill>
                <a:latin typeface="Calibri"/>
              </a:rPr>
              <a:t>06</a:t>
            </a:r>
          </a:p>
        </p:txBody>
      </p:sp>
      <p:sp>
        <p:nvSpPr>
          <p:cNvPr id="40" name="TextBox 39"/>
          <p:cNvSpPr txBox="1"/>
          <p:nvPr/>
        </p:nvSpPr>
        <p:spPr>
          <a:xfrm>
            <a:off x="8290407" y="4416551"/>
            <a:ext cx="2880360" cy="411480"/>
          </a:xfrm>
          <a:prstGeom prst="rect">
            <a:avLst/>
          </a:prstGeom>
          <a:noFill/>
        </p:spPr>
        <p:txBody>
          <a:bodyPr wrap="square" lIns="50000" tIns="20000" rIns="50000" bIns="20000" anchor="t">
            <a:spAutoFit/>
          </a:bodyPr>
          <a:lstStyle/>
          <a:p>
            <a:pPr algn="l">
              <a:lnSpc>
                <a:spcPct val="120000"/>
              </a:lnSpc>
            </a:pPr>
            <a:r>
              <a:rPr sz="1600" b="1" i="0">
                <a:solidFill>
                  <a:srgbClr val="EF4444"/>
                </a:solidFill>
                <a:latin typeface="Calibri"/>
              </a:rPr>
              <a:t>Unity Digital Twin</a:t>
            </a:r>
          </a:p>
        </p:txBody>
      </p:sp>
      <p:sp>
        <p:nvSpPr>
          <p:cNvPr id="41" name="TextBox 40"/>
          <p:cNvSpPr txBox="1"/>
          <p:nvPr/>
        </p:nvSpPr>
        <p:spPr>
          <a:xfrm>
            <a:off x="8290407" y="4892039"/>
            <a:ext cx="3246120" cy="1142999"/>
          </a:xfrm>
          <a:prstGeom prst="rect">
            <a:avLst/>
          </a:prstGeom>
          <a:noFill/>
        </p:spPr>
        <p:txBody>
          <a:bodyPr wrap="square" lIns="50000" tIns="20000" rIns="50000" bIns="20000" anchor="t">
            <a:spAutoFit/>
          </a:bodyPr>
          <a:lstStyle/>
          <a:p>
            <a:pPr algn="l">
              <a:lnSpc>
                <a:spcPct val="140000"/>
              </a:lnSpc>
            </a:pPr>
            <a:r>
              <a:rPr sz="1200" b="0" i="0">
                <a:solidFill>
                  <a:srgbClr val="334155"/>
                </a:solidFill>
                <a:latin typeface="Calibri"/>
              </a:rPr>
              <a:t>C# scripting dễ học · NavMesh AI sẵn cho xe tự lái · validate IoT contract end-to-end mà không cần phần cứng thật.</a:t>
            </a:r>
          </a:p>
        </p:txBody>
      </p:sp>
      <p:sp>
        <p:nvSpPr>
          <p:cNvPr id="42" name="TextBox 41"/>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43" name="TextBox 42"/>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04 / 23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E40AF"/>
                </a:solidFill>
                <a:latin typeface="Calibri"/>
              </a:rPr>
              <a:t>04</a:t>
            </a:r>
            <a:r>
              <a:rPr sz="1100">
                <a:solidFill>
                  <a:srgbClr val="64748B"/>
                </a:solidFill>
                <a:latin typeface="Calibri"/>
              </a:rPr>
              <a:t>   KIẾN TRÚC TỔNG THỂ</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Kiến trúc hệ thống ParkSmart</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overview_project.jpg"/>
          <p:cNvPicPr>
            <a:picLocks noChangeAspect="1"/>
          </p:cNvPicPr>
          <p:nvPr/>
        </p:nvPicPr>
        <p:blipFill>
          <a:blip r:embed="rId4"/>
          <a:stretch>
            <a:fillRect/>
          </a:stretch>
        </p:blipFill>
        <p:spPr>
          <a:xfrm>
            <a:off x="457200" y="1828800"/>
            <a:ext cx="6766560" cy="3776685"/>
          </a:xfrm>
          <a:prstGeom prst="rect">
            <a:avLst/>
          </a:prstGeom>
        </p:spPr>
      </p:pic>
      <p:sp>
        <p:nvSpPr>
          <p:cNvPr id="7" name="TextBox 6"/>
          <p:cNvSpPr txBox="1"/>
          <p:nvPr/>
        </p:nvSpPr>
        <p:spPr>
          <a:xfrm>
            <a:off x="457200" y="5651205"/>
            <a:ext cx="6766560" cy="274320"/>
          </a:xfrm>
          <a:prstGeom prst="rect">
            <a:avLst/>
          </a:prstGeom>
          <a:noFill/>
        </p:spPr>
        <p:txBody>
          <a:bodyPr wrap="square" lIns="50000" tIns="20000" rIns="50000" bIns="20000" anchor="t">
            <a:spAutoFit/>
          </a:bodyPr>
          <a:lstStyle/>
          <a:p>
            <a:pPr algn="ctr">
              <a:lnSpc>
                <a:spcPct val="120000"/>
              </a:lnSpc>
            </a:pPr>
            <a:r>
              <a:rPr sz="1100" b="0" i="1">
                <a:solidFill>
                  <a:srgbClr val="64748B"/>
                </a:solidFill>
                <a:latin typeface="Calibri"/>
              </a:rPr>
              <a:t>Hình 1. Sơ đồ kiến trúc tổng thể hệ thống ParkSmart</a:t>
            </a:r>
          </a:p>
        </p:txBody>
      </p:sp>
      <p:sp>
        <p:nvSpPr>
          <p:cNvPr id="8" name="TextBox 7"/>
          <p:cNvSpPr txBox="1"/>
          <p:nvPr/>
        </p:nvSpPr>
        <p:spPr>
          <a:xfrm>
            <a:off x="7406640" y="1828800"/>
            <a:ext cx="4343400" cy="320040"/>
          </a:xfrm>
          <a:prstGeom prst="rect">
            <a:avLst/>
          </a:prstGeom>
          <a:noFill/>
        </p:spPr>
        <p:txBody>
          <a:bodyPr wrap="square" lIns="50000" tIns="20000" rIns="50000" bIns="20000" anchor="t">
            <a:spAutoFit/>
          </a:bodyPr>
          <a:lstStyle/>
          <a:p>
            <a:pPr algn="l">
              <a:lnSpc>
                <a:spcPct val="120000"/>
              </a:lnSpc>
            </a:pPr>
            <a:r>
              <a:rPr sz="1100" b="1" i="0">
                <a:solidFill>
                  <a:srgbClr val="F97316"/>
                </a:solidFill>
                <a:latin typeface="Calibri"/>
              </a:rPr>
              <a:t>GIẢI THÍCH SƠ ĐỒ KIẾN TRÚC</a:t>
            </a:r>
          </a:p>
        </p:txBody>
      </p:sp>
      <p:sp>
        <p:nvSpPr>
          <p:cNvPr id="9" name="Rectangle 8"/>
          <p:cNvSpPr/>
          <p:nvPr/>
        </p:nvSpPr>
        <p:spPr>
          <a:xfrm>
            <a:off x="7406640" y="2240280"/>
            <a:ext cx="4343400" cy="713232"/>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06640" y="2240280"/>
            <a:ext cx="502920" cy="713232"/>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06640" y="2240280"/>
            <a:ext cx="502920" cy="713232"/>
          </a:xfrm>
          <a:prstGeom prst="rect">
            <a:avLst/>
          </a:prstGeom>
          <a:noFill/>
        </p:spPr>
        <p:txBody>
          <a:bodyPr wrap="square" lIns="50000" tIns="20000" rIns="50000" bIns="20000" anchor="ctr">
            <a:spAutoFit/>
          </a:bodyPr>
          <a:lstStyle/>
          <a:p>
            <a:pPr algn="ctr">
              <a:lnSpc>
                <a:spcPct val="120000"/>
              </a:lnSpc>
            </a:pPr>
            <a:r>
              <a:rPr sz="1400" b="1" i="0">
                <a:solidFill>
                  <a:srgbClr val="FFFFFF"/>
                </a:solidFill>
                <a:latin typeface="Calibri"/>
              </a:rPr>
              <a:t>L1</a:t>
            </a:r>
          </a:p>
        </p:txBody>
      </p:sp>
      <p:sp>
        <p:nvSpPr>
          <p:cNvPr id="12" name="TextBox 11"/>
          <p:cNvSpPr txBox="1"/>
          <p:nvPr/>
        </p:nvSpPr>
        <p:spPr>
          <a:xfrm>
            <a:off x="8001000" y="2313432"/>
            <a:ext cx="3703320" cy="274320"/>
          </a:xfrm>
          <a:prstGeom prst="rect">
            <a:avLst/>
          </a:prstGeom>
          <a:noFill/>
        </p:spPr>
        <p:txBody>
          <a:bodyPr wrap="square" lIns="50000" tIns="20000" rIns="50000" bIns="20000" anchor="t">
            <a:spAutoFit/>
          </a:bodyPr>
          <a:lstStyle/>
          <a:p>
            <a:pPr algn="l">
              <a:lnSpc>
                <a:spcPct val="120000"/>
              </a:lnSpc>
            </a:pPr>
            <a:r>
              <a:rPr sz="1300" b="1" i="0">
                <a:solidFill>
                  <a:srgbClr val="1E40AF"/>
                </a:solidFill>
                <a:latin typeface="Calibri"/>
              </a:rPr>
              <a:t>Client</a:t>
            </a:r>
          </a:p>
        </p:txBody>
      </p:sp>
      <p:sp>
        <p:nvSpPr>
          <p:cNvPr id="13" name="TextBox 12"/>
          <p:cNvSpPr txBox="1"/>
          <p:nvPr/>
        </p:nvSpPr>
        <p:spPr>
          <a:xfrm>
            <a:off x="8001000" y="2587752"/>
            <a:ext cx="3703320" cy="347472"/>
          </a:xfrm>
          <a:prstGeom prst="rect">
            <a:avLst/>
          </a:prstGeom>
          <a:noFill/>
        </p:spPr>
        <p:txBody>
          <a:bodyPr wrap="square" lIns="50000" tIns="20000" rIns="50000" bIns="20000" anchor="t">
            <a:spAutoFit/>
          </a:bodyPr>
          <a:lstStyle/>
          <a:p>
            <a:pPr algn="l">
              <a:lnSpc>
                <a:spcPct val="125000"/>
              </a:lnSpc>
            </a:pPr>
            <a:r>
              <a:rPr sz="1000" b="0" i="0">
                <a:solidFill>
                  <a:srgbClr val="334155"/>
                </a:solidFill>
                <a:latin typeface="Calibri"/>
              </a:rPr>
              <a:t>Web app · Unity simulator · ESP32 IoT</a:t>
            </a:r>
          </a:p>
        </p:txBody>
      </p:sp>
      <p:sp>
        <p:nvSpPr>
          <p:cNvPr id="14" name="Rectangle 13"/>
          <p:cNvSpPr/>
          <p:nvPr/>
        </p:nvSpPr>
        <p:spPr>
          <a:xfrm>
            <a:off x="7406640" y="2990088"/>
            <a:ext cx="4343400" cy="713232"/>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406640" y="2990088"/>
            <a:ext cx="502920" cy="71323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06640" y="2990088"/>
            <a:ext cx="502920" cy="713232"/>
          </a:xfrm>
          <a:prstGeom prst="rect">
            <a:avLst/>
          </a:prstGeom>
          <a:noFill/>
        </p:spPr>
        <p:txBody>
          <a:bodyPr wrap="square" lIns="50000" tIns="20000" rIns="50000" bIns="20000" anchor="ctr">
            <a:spAutoFit/>
          </a:bodyPr>
          <a:lstStyle/>
          <a:p>
            <a:pPr algn="ctr">
              <a:lnSpc>
                <a:spcPct val="120000"/>
              </a:lnSpc>
            </a:pPr>
            <a:r>
              <a:rPr sz="1400" b="1" i="0">
                <a:solidFill>
                  <a:srgbClr val="FFFFFF"/>
                </a:solidFill>
                <a:latin typeface="Calibri"/>
              </a:rPr>
              <a:t>L2</a:t>
            </a:r>
          </a:p>
        </p:txBody>
      </p:sp>
      <p:sp>
        <p:nvSpPr>
          <p:cNvPr id="17" name="TextBox 16"/>
          <p:cNvSpPr txBox="1"/>
          <p:nvPr/>
        </p:nvSpPr>
        <p:spPr>
          <a:xfrm>
            <a:off x="8001000" y="3063240"/>
            <a:ext cx="3703320" cy="274320"/>
          </a:xfrm>
          <a:prstGeom prst="rect">
            <a:avLst/>
          </a:prstGeom>
          <a:noFill/>
        </p:spPr>
        <p:txBody>
          <a:bodyPr wrap="square" lIns="50000" tIns="20000" rIns="50000" bIns="20000" anchor="t">
            <a:spAutoFit/>
          </a:bodyPr>
          <a:lstStyle/>
          <a:p>
            <a:pPr algn="l">
              <a:lnSpc>
                <a:spcPct val="120000"/>
              </a:lnSpc>
            </a:pPr>
            <a:r>
              <a:rPr sz="1300" b="1" i="0">
                <a:solidFill>
                  <a:srgbClr val="F97316"/>
                </a:solidFill>
                <a:latin typeface="Calibri"/>
              </a:rPr>
              <a:t>Gateway (Go)</a:t>
            </a:r>
          </a:p>
        </p:txBody>
      </p:sp>
      <p:sp>
        <p:nvSpPr>
          <p:cNvPr id="18" name="TextBox 17"/>
          <p:cNvSpPr txBox="1"/>
          <p:nvPr/>
        </p:nvSpPr>
        <p:spPr>
          <a:xfrm>
            <a:off x="8001000" y="3337560"/>
            <a:ext cx="3703320" cy="347472"/>
          </a:xfrm>
          <a:prstGeom prst="rect">
            <a:avLst/>
          </a:prstGeom>
          <a:noFill/>
        </p:spPr>
        <p:txBody>
          <a:bodyPr wrap="square" lIns="50000" tIns="20000" rIns="50000" bIns="20000" anchor="t">
            <a:spAutoFit/>
          </a:bodyPr>
          <a:lstStyle/>
          <a:p>
            <a:pPr algn="l">
              <a:lnSpc>
                <a:spcPct val="125000"/>
              </a:lnSpc>
            </a:pPr>
            <a:r>
              <a:rPr sz="1000" b="0" i="0">
                <a:solidFill>
                  <a:srgbClr val="334155"/>
                </a:solidFill>
                <a:latin typeface="Calibri"/>
              </a:rPr>
              <a:t>Xác thực session · phát khóa bảo mật · rate limit</a:t>
            </a:r>
          </a:p>
        </p:txBody>
      </p:sp>
      <p:sp>
        <p:nvSpPr>
          <p:cNvPr id="19" name="Rectangle 18"/>
          <p:cNvSpPr/>
          <p:nvPr/>
        </p:nvSpPr>
        <p:spPr>
          <a:xfrm>
            <a:off x="7406640" y="3739896"/>
            <a:ext cx="4343400" cy="713232"/>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06640" y="3739896"/>
            <a:ext cx="502920" cy="71323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06640" y="3739896"/>
            <a:ext cx="502920" cy="713232"/>
          </a:xfrm>
          <a:prstGeom prst="rect">
            <a:avLst/>
          </a:prstGeom>
          <a:noFill/>
        </p:spPr>
        <p:txBody>
          <a:bodyPr wrap="square" lIns="50000" tIns="20000" rIns="50000" bIns="20000" anchor="ctr">
            <a:spAutoFit/>
          </a:bodyPr>
          <a:lstStyle/>
          <a:p>
            <a:pPr algn="ctr">
              <a:lnSpc>
                <a:spcPct val="120000"/>
              </a:lnSpc>
            </a:pPr>
            <a:r>
              <a:rPr sz="1400" b="1" i="0">
                <a:solidFill>
                  <a:srgbClr val="FFFFFF"/>
                </a:solidFill>
                <a:latin typeface="Calibri"/>
              </a:rPr>
              <a:t>L3</a:t>
            </a:r>
          </a:p>
        </p:txBody>
      </p:sp>
      <p:sp>
        <p:nvSpPr>
          <p:cNvPr id="22" name="TextBox 21"/>
          <p:cNvSpPr txBox="1"/>
          <p:nvPr/>
        </p:nvSpPr>
        <p:spPr>
          <a:xfrm>
            <a:off x="8001000" y="3813048"/>
            <a:ext cx="3703320" cy="274320"/>
          </a:xfrm>
          <a:prstGeom prst="rect">
            <a:avLst/>
          </a:prstGeom>
          <a:noFill/>
        </p:spPr>
        <p:txBody>
          <a:bodyPr wrap="square" lIns="50000" tIns="20000" rIns="50000" bIns="20000" anchor="t">
            <a:spAutoFit/>
          </a:bodyPr>
          <a:lstStyle/>
          <a:p>
            <a:pPr algn="l">
              <a:lnSpc>
                <a:spcPct val="120000"/>
              </a:lnSpc>
            </a:pPr>
            <a:r>
              <a:rPr sz="1300" b="1" i="0">
                <a:solidFill>
                  <a:srgbClr val="8B5CF6"/>
                </a:solidFill>
                <a:latin typeface="Calibri"/>
              </a:rPr>
              <a:t>Microservices</a:t>
            </a:r>
          </a:p>
        </p:txBody>
      </p:sp>
      <p:sp>
        <p:nvSpPr>
          <p:cNvPr id="23" name="TextBox 22"/>
          <p:cNvSpPr txBox="1"/>
          <p:nvPr/>
        </p:nvSpPr>
        <p:spPr>
          <a:xfrm>
            <a:off x="8001000" y="4087368"/>
            <a:ext cx="3703320" cy="347472"/>
          </a:xfrm>
          <a:prstGeom prst="rect">
            <a:avLst/>
          </a:prstGeom>
          <a:noFill/>
        </p:spPr>
        <p:txBody>
          <a:bodyPr wrap="square" lIns="50000" tIns="20000" rIns="50000" bIns="20000" anchor="t">
            <a:spAutoFit/>
          </a:bodyPr>
          <a:lstStyle/>
          <a:p>
            <a:pPr algn="l">
              <a:lnSpc>
                <a:spcPct val="125000"/>
              </a:lnSpc>
            </a:pPr>
            <a:r>
              <a:rPr sz="1000" b="0" i="0">
                <a:solidFill>
                  <a:srgbClr val="334155"/>
                </a:solidFill>
                <a:latin typeface="Calibri"/>
              </a:rPr>
              <a:t>10 service: auth · booking · parking · AI · chatbot</a:t>
            </a:r>
          </a:p>
        </p:txBody>
      </p:sp>
      <p:sp>
        <p:nvSpPr>
          <p:cNvPr id="24" name="Rectangle 23"/>
          <p:cNvSpPr/>
          <p:nvPr/>
        </p:nvSpPr>
        <p:spPr>
          <a:xfrm>
            <a:off x="7406640" y="4489704"/>
            <a:ext cx="4343400" cy="713232"/>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406640" y="4489704"/>
            <a:ext cx="50292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06640" y="4489704"/>
            <a:ext cx="502920" cy="713232"/>
          </a:xfrm>
          <a:prstGeom prst="rect">
            <a:avLst/>
          </a:prstGeom>
          <a:noFill/>
        </p:spPr>
        <p:txBody>
          <a:bodyPr wrap="square" lIns="50000" tIns="20000" rIns="50000" bIns="20000" anchor="ctr">
            <a:spAutoFit/>
          </a:bodyPr>
          <a:lstStyle/>
          <a:p>
            <a:pPr algn="ctr">
              <a:lnSpc>
                <a:spcPct val="120000"/>
              </a:lnSpc>
            </a:pPr>
            <a:r>
              <a:rPr sz="1400" b="1" i="0">
                <a:solidFill>
                  <a:srgbClr val="FFFFFF"/>
                </a:solidFill>
                <a:latin typeface="Calibri"/>
              </a:rPr>
              <a:t>L4</a:t>
            </a:r>
          </a:p>
        </p:txBody>
      </p:sp>
      <p:sp>
        <p:nvSpPr>
          <p:cNvPr id="27" name="TextBox 26"/>
          <p:cNvSpPr txBox="1"/>
          <p:nvPr/>
        </p:nvSpPr>
        <p:spPr>
          <a:xfrm>
            <a:off x="8001000" y="4562856"/>
            <a:ext cx="3703320" cy="274320"/>
          </a:xfrm>
          <a:prstGeom prst="rect">
            <a:avLst/>
          </a:prstGeom>
          <a:noFill/>
        </p:spPr>
        <p:txBody>
          <a:bodyPr wrap="square" lIns="50000" tIns="20000" rIns="50000" bIns="20000" anchor="t">
            <a:spAutoFit/>
          </a:bodyPr>
          <a:lstStyle/>
          <a:p>
            <a:pPr algn="l">
              <a:lnSpc>
                <a:spcPct val="120000"/>
              </a:lnSpc>
            </a:pPr>
            <a:r>
              <a:rPr sz="1300" b="1" i="0">
                <a:solidFill>
                  <a:srgbClr val="10B981"/>
                </a:solidFill>
                <a:latin typeface="Calibri"/>
              </a:rPr>
              <a:t>Event Bus</a:t>
            </a:r>
          </a:p>
        </p:txBody>
      </p:sp>
      <p:sp>
        <p:nvSpPr>
          <p:cNvPr id="28" name="TextBox 27"/>
          <p:cNvSpPr txBox="1"/>
          <p:nvPr/>
        </p:nvSpPr>
        <p:spPr>
          <a:xfrm>
            <a:off x="8001000" y="4837176"/>
            <a:ext cx="3703320" cy="347472"/>
          </a:xfrm>
          <a:prstGeom prst="rect">
            <a:avLst/>
          </a:prstGeom>
          <a:noFill/>
        </p:spPr>
        <p:txBody>
          <a:bodyPr wrap="square" lIns="50000" tIns="20000" rIns="50000" bIns="20000" anchor="t">
            <a:spAutoFit/>
          </a:bodyPr>
          <a:lstStyle/>
          <a:p>
            <a:pPr algn="l">
              <a:lnSpc>
                <a:spcPct val="125000"/>
              </a:lnSpc>
            </a:pPr>
            <a:r>
              <a:rPr sz="1000" b="0" i="0">
                <a:solidFill>
                  <a:srgbClr val="334155"/>
                </a:solidFill>
                <a:latin typeface="Calibri"/>
              </a:rPr>
              <a:t>RabbitMQ fan-out · 1 event → nhiều consumer async</a:t>
            </a:r>
          </a:p>
        </p:txBody>
      </p:sp>
      <p:sp>
        <p:nvSpPr>
          <p:cNvPr id="29" name="Rectangle 28"/>
          <p:cNvSpPr/>
          <p:nvPr/>
        </p:nvSpPr>
        <p:spPr>
          <a:xfrm>
            <a:off x="7406640" y="5239512"/>
            <a:ext cx="4343400" cy="713232"/>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406640" y="5239512"/>
            <a:ext cx="502920" cy="71323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406640" y="5239512"/>
            <a:ext cx="502920" cy="713232"/>
          </a:xfrm>
          <a:prstGeom prst="rect">
            <a:avLst/>
          </a:prstGeom>
          <a:noFill/>
        </p:spPr>
        <p:txBody>
          <a:bodyPr wrap="square" lIns="50000" tIns="20000" rIns="50000" bIns="20000" anchor="ctr">
            <a:spAutoFit/>
          </a:bodyPr>
          <a:lstStyle/>
          <a:p>
            <a:pPr algn="ctr">
              <a:lnSpc>
                <a:spcPct val="120000"/>
              </a:lnSpc>
            </a:pPr>
            <a:r>
              <a:rPr sz="1400" b="1" i="0">
                <a:solidFill>
                  <a:srgbClr val="FFFFFF"/>
                </a:solidFill>
                <a:latin typeface="Calibri"/>
              </a:rPr>
              <a:t>L5</a:t>
            </a:r>
          </a:p>
        </p:txBody>
      </p:sp>
      <p:sp>
        <p:nvSpPr>
          <p:cNvPr id="32" name="TextBox 31"/>
          <p:cNvSpPr txBox="1"/>
          <p:nvPr/>
        </p:nvSpPr>
        <p:spPr>
          <a:xfrm>
            <a:off x="8001000" y="5312664"/>
            <a:ext cx="3703320" cy="274320"/>
          </a:xfrm>
          <a:prstGeom prst="rect">
            <a:avLst/>
          </a:prstGeom>
          <a:noFill/>
        </p:spPr>
        <p:txBody>
          <a:bodyPr wrap="square" lIns="50000" tIns="20000" rIns="50000" bIns="20000" anchor="t">
            <a:spAutoFit/>
          </a:bodyPr>
          <a:lstStyle/>
          <a:p>
            <a:pPr algn="l">
              <a:lnSpc>
                <a:spcPct val="120000"/>
              </a:lnSpc>
            </a:pPr>
            <a:r>
              <a:rPr sz="1300" b="1" i="0">
                <a:solidFill>
                  <a:srgbClr val="14B8A6"/>
                </a:solidFill>
                <a:latin typeface="Calibri"/>
              </a:rPr>
              <a:t>Datastore</a:t>
            </a:r>
          </a:p>
        </p:txBody>
      </p:sp>
      <p:sp>
        <p:nvSpPr>
          <p:cNvPr id="33" name="TextBox 32"/>
          <p:cNvSpPr txBox="1"/>
          <p:nvPr/>
        </p:nvSpPr>
        <p:spPr>
          <a:xfrm>
            <a:off x="8001000" y="5586984"/>
            <a:ext cx="3703320" cy="347472"/>
          </a:xfrm>
          <a:prstGeom prst="rect">
            <a:avLst/>
          </a:prstGeom>
          <a:noFill/>
        </p:spPr>
        <p:txBody>
          <a:bodyPr wrap="square" lIns="50000" tIns="20000" rIns="50000" bIns="20000" anchor="t">
            <a:spAutoFit/>
          </a:bodyPr>
          <a:lstStyle/>
          <a:p>
            <a:pPr algn="l">
              <a:lnSpc>
                <a:spcPct val="125000"/>
              </a:lnSpc>
            </a:pPr>
            <a:r>
              <a:rPr sz="1000" b="0" i="0">
                <a:solidFill>
                  <a:srgbClr val="334155"/>
                </a:solidFill>
                <a:latin typeface="Calibri"/>
              </a:rPr>
              <a:t>MySQL relational + Redis × 6 DBs cô lập</a:t>
            </a:r>
          </a:p>
        </p:txBody>
      </p:sp>
      <p:sp>
        <p:nvSpPr>
          <p:cNvPr id="34" name="TextBox 33"/>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35" name="TextBox 34"/>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05 / 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E40AF"/>
                </a:solidFill>
                <a:latin typeface="Calibri"/>
              </a:rPr>
              <a:t>05</a:t>
            </a:r>
            <a:r>
              <a:rPr sz="1100">
                <a:solidFill>
                  <a:srgbClr val="64748B"/>
                </a:solidFill>
                <a:latin typeface="Calibri"/>
              </a:rPr>
              <a:t>   LỰA CHỌN KIẾN TRÚC</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Vì sao chọn Microservices?</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0867" y="2194560"/>
            <a:ext cx="3520440" cy="36576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0867" y="2194560"/>
            <a:ext cx="3520440" cy="54864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0867" y="2304288"/>
            <a:ext cx="3520440" cy="411480"/>
          </a:xfrm>
          <a:prstGeom prst="rect">
            <a:avLst/>
          </a:prstGeom>
          <a:noFill/>
        </p:spPr>
        <p:txBody>
          <a:bodyPr wrap="square" lIns="50000" tIns="20000" rIns="50000" bIns="20000" anchor="t">
            <a:spAutoFit/>
          </a:bodyPr>
          <a:lstStyle/>
          <a:p>
            <a:pPr algn="ctr">
              <a:lnSpc>
                <a:spcPct val="120000"/>
              </a:lnSpc>
            </a:pPr>
            <a:r>
              <a:rPr sz="1800" b="1" i="0">
                <a:solidFill>
                  <a:srgbClr val="FFFFFF"/>
                </a:solidFill>
                <a:latin typeface="Calibri"/>
              </a:rPr>
              <a:t>MONOLITH</a:t>
            </a:r>
          </a:p>
        </p:txBody>
      </p:sp>
      <p:sp>
        <p:nvSpPr>
          <p:cNvPr id="9" name="TextBox 8"/>
          <p:cNvSpPr txBox="1"/>
          <p:nvPr/>
        </p:nvSpPr>
        <p:spPr>
          <a:xfrm>
            <a:off x="769467" y="2971800"/>
            <a:ext cx="3154680" cy="1097280"/>
          </a:xfrm>
          <a:prstGeom prst="rect">
            <a:avLst/>
          </a:prstGeom>
          <a:noFill/>
        </p:spPr>
        <p:txBody>
          <a:bodyPr wrap="square" lIns="50000" tIns="20000" rIns="50000" bIns="20000" anchor="t">
            <a:spAutoFit/>
          </a:bodyPr>
          <a:lstStyle/>
          <a:p>
            <a:pPr algn="ctr">
              <a:lnSpc>
                <a:spcPct val="140000"/>
              </a:lnSpc>
            </a:pPr>
            <a:r>
              <a:rPr sz="1400" b="0" i="0">
                <a:solidFill>
                  <a:srgbClr val="334155"/>
                </a:solidFill>
                <a:latin typeface="Calibri"/>
              </a:rPr>
              <a:t>1 codebase
1 deploy unit
Dev nhanh ban đầu</a:t>
            </a:r>
          </a:p>
        </p:txBody>
      </p:sp>
      <p:sp>
        <p:nvSpPr>
          <p:cNvPr id="10" name="TextBox 9"/>
          <p:cNvSpPr txBox="1"/>
          <p:nvPr/>
        </p:nvSpPr>
        <p:spPr>
          <a:xfrm>
            <a:off x="860907" y="4069079"/>
            <a:ext cx="3063240" cy="1188720"/>
          </a:xfrm>
          <a:prstGeom prst="rect">
            <a:avLst/>
          </a:prstGeom>
          <a:noFill/>
        </p:spPr>
        <p:txBody>
          <a:bodyPr wrap="square" lIns="50000" tIns="20000" rIns="50000" bIns="20000" anchor="t">
            <a:spAutoFit/>
          </a:bodyPr>
          <a:lstStyle/>
          <a:p>
            <a:pPr algn="l">
              <a:lnSpc>
                <a:spcPct val="150000"/>
              </a:lnSpc>
            </a:pPr>
            <a:r>
              <a:rPr sz="1400" b="0" i="0">
                <a:solidFill>
                  <a:srgbClr val="0F172A"/>
                </a:solidFill>
                <a:latin typeface="Calibri"/>
              </a:rPr>
              <a:t>✓ Simple</a:t>
            </a:r>
          </a:p>
          <a:p>
            <a:pPr algn="l">
              <a:lnSpc>
                <a:spcPct val="150000"/>
              </a:lnSpc>
            </a:pPr>
            <a:r>
              <a:rPr sz="1400" b="0" i="0">
                <a:solidFill>
                  <a:srgbClr val="0F172A"/>
                </a:solidFill>
                <a:latin typeface="Calibri"/>
              </a:rPr>
              <a:t>✗ Khó scale</a:t>
            </a:r>
          </a:p>
          <a:p>
            <a:pPr algn="l">
              <a:lnSpc>
                <a:spcPct val="150000"/>
              </a:lnSpc>
            </a:pPr>
            <a:r>
              <a:rPr sz="1400" b="0" i="0">
                <a:solidFill>
                  <a:srgbClr val="0F172A"/>
                </a:solidFill>
                <a:latin typeface="Calibri"/>
              </a:rPr>
              <a:t>✗ Sụp toàn bộ</a:t>
            </a:r>
          </a:p>
          <a:p>
            <a:pPr algn="l">
              <a:lnSpc>
                <a:spcPct val="150000"/>
              </a:lnSpc>
            </a:pPr>
            <a:r>
              <a:rPr sz="1400" b="0" i="0">
                <a:solidFill>
                  <a:srgbClr val="0F172A"/>
                </a:solidFill>
                <a:latin typeface="Calibri"/>
              </a:rPr>
              <a:t>✗ Khó đa stack</a:t>
            </a:r>
          </a:p>
        </p:txBody>
      </p:sp>
      <p:sp>
        <p:nvSpPr>
          <p:cNvPr id="11" name="Rectangle 10"/>
          <p:cNvSpPr/>
          <p:nvPr/>
        </p:nvSpPr>
        <p:spPr>
          <a:xfrm>
            <a:off x="4335627" y="2194560"/>
            <a:ext cx="3520440" cy="3657600"/>
          </a:xfrm>
          <a:prstGeom prst="rect">
            <a:avLst/>
          </a:prstGeom>
          <a:solidFill>
            <a:srgbClr val="EFF6FF"/>
          </a:solidFill>
          <a:ln w="9525">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35627" y="2194560"/>
            <a:ext cx="3520440" cy="54864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35627" y="2304288"/>
            <a:ext cx="3520440" cy="411480"/>
          </a:xfrm>
          <a:prstGeom prst="rect">
            <a:avLst/>
          </a:prstGeom>
          <a:noFill/>
        </p:spPr>
        <p:txBody>
          <a:bodyPr wrap="square" lIns="50000" tIns="20000" rIns="50000" bIns="20000" anchor="t">
            <a:spAutoFit/>
          </a:bodyPr>
          <a:lstStyle/>
          <a:p>
            <a:pPr algn="ctr">
              <a:lnSpc>
                <a:spcPct val="120000"/>
              </a:lnSpc>
            </a:pPr>
            <a:r>
              <a:rPr sz="1800" b="1" i="0">
                <a:solidFill>
                  <a:srgbClr val="FFFFFF"/>
                </a:solidFill>
                <a:latin typeface="Calibri"/>
              </a:rPr>
              <a:t>MICROSERVICES</a:t>
            </a:r>
          </a:p>
        </p:txBody>
      </p:sp>
      <p:sp>
        <p:nvSpPr>
          <p:cNvPr id="14" name="TextBox 13"/>
          <p:cNvSpPr txBox="1"/>
          <p:nvPr/>
        </p:nvSpPr>
        <p:spPr>
          <a:xfrm>
            <a:off x="4564227" y="2971800"/>
            <a:ext cx="3154680" cy="1097280"/>
          </a:xfrm>
          <a:prstGeom prst="rect">
            <a:avLst/>
          </a:prstGeom>
          <a:noFill/>
        </p:spPr>
        <p:txBody>
          <a:bodyPr wrap="square" lIns="50000" tIns="20000" rIns="50000" bIns="20000" anchor="t">
            <a:spAutoFit/>
          </a:bodyPr>
          <a:lstStyle/>
          <a:p>
            <a:pPr algn="ctr">
              <a:lnSpc>
                <a:spcPct val="140000"/>
              </a:lnSpc>
            </a:pPr>
            <a:r>
              <a:rPr sz="1400" b="0" i="0">
                <a:solidFill>
                  <a:srgbClr val="334155"/>
                </a:solidFill>
                <a:latin typeface="Calibri"/>
              </a:rPr>
              <a:t>10 services độc lập
Giao tiếp HTTP + Event
Gateway pattern</a:t>
            </a:r>
          </a:p>
        </p:txBody>
      </p:sp>
      <p:sp>
        <p:nvSpPr>
          <p:cNvPr id="15" name="TextBox 14"/>
          <p:cNvSpPr txBox="1"/>
          <p:nvPr/>
        </p:nvSpPr>
        <p:spPr>
          <a:xfrm>
            <a:off x="4655667" y="4069079"/>
            <a:ext cx="3063240" cy="1188720"/>
          </a:xfrm>
          <a:prstGeom prst="rect">
            <a:avLst/>
          </a:prstGeom>
          <a:noFill/>
        </p:spPr>
        <p:txBody>
          <a:bodyPr wrap="square" lIns="50000" tIns="20000" rIns="50000" bIns="20000" anchor="t">
            <a:spAutoFit/>
          </a:bodyPr>
          <a:lstStyle/>
          <a:p>
            <a:pPr algn="l">
              <a:lnSpc>
                <a:spcPct val="150000"/>
              </a:lnSpc>
            </a:pPr>
            <a:r>
              <a:rPr sz="1400" b="0" i="0">
                <a:solidFill>
                  <a:srgbClr val="0F172A"/>
                </a:solidFill>
                <a:latin typeface="Calibri"/>
              </a:rPr>
              <a:t>✓ Scale từng phần</a:t>
            </a:r>
          </a:p>
          <a:p>
            <a:pPr algn="l">
              <a:lnSpc>
                <a:spcPct val="150000"/>
              </a:lnSpc>
            </a:pPr>
            <a:r>
              <a:rPr sz="1400" b="0" i="0">
                <a:solidFill>
                  <a:srgbClr val="0F172A"/>
                </a:solidFill>
                <a:latin typeface="Calibri"/>
              </a:rPr>
              <a:t>✓ Fault isolation</a:t>
            </a:r>
          </a:p>
          <a:p>
            <a:pPr algn="l">
              <a:lnSpc>
                <a:spcPct val="150000"/>
              </a:lnSpc>
            </a:pPr>
            <a:r>
              <a:rPr sz="1400" b="0" i="0">
                <a:solidFill>
                  <a:srgbClr val="0F172A"/>
                </a:solidFill>
                <a:latin typeface="Calibri"/>
              </a:rPr>
              <a:t>✓ Đa stack dễ</a:t>
            </a:r>
          </a:p>
          <a:p>
            <a:pPr algn="l">
              <a:lnSpc>
                <a:spcPct val="150000"/>
              </a:lnSpc>
            </a:pPr>
            <a:r>
              <a:rPr sz="1400" b="0" i="0">
                <a:solidFill>
                  <a:srgbClr val="0F172A"/>
                </a:solidFill>
                <a:latin typeface="Calibri"/>
              </a:rPr>
              <a:t>⚠ Setup phức tạp</a:t>
            </a:r>
          </a:p>
        </p:txBody>
      </p:sp>
      <p:sp>
        <p:nvSpPr>
          <p:cNvPr id="16" name="Rectangle 15"/>
          <p:cNvSpPr/>
          <p:nvPr/>
        </p:nvSpPr>
        <p:spPr>
          <a:xfrm>
            <a:off x="4701387" y="5349240"/>
            <a:ext cx="2788920" cy="36576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35627" y="5349240"/>
            <a:ext cx="3520440" cy="365760"/>
          </a:xfrm>
          <a:prstGeom prst="rect">
            <a:avLst/>
          </a:prstGeom>
          <a:noFill/>
        </p:spPr>
        <p:txBody>
          <a:bodyPr wrap="square" lIns="50000" tIns="20000" rIns="50000" bIns="20000" anchor="ctr">
            <a:spAutoFit/>
          </a:bodyPr>
          <a:lstStyle/>
          <a:p>
            <a:pPr algn="ctr">
              <a:lnSpc>
                <a:spcPct val="120000"/>
              </a:lnSpc>
            </a:pPr>
            <a:r>
              <a:rPr sz="1400" b="1" i="0">
                <a:solidFill>
                  <a:srgbClr val="FFFFFF"/>
                </a:solidFill>
                <a:latin typeface="Calibri"/>
              </a:rPr>
              <a:t>ĐÃ CHỌN</a:t>
            </a:r>
          </a:p>
        </p:txBody>
      </p:sp>
      <p:sp>
        <p:nvSpPr>
          <p:cNvPr id="18" name="Rectangle 17"/>
          <p:cNvSpPr/>
          <p:nvPr/>
        </p:nvSpPr>
        <p:spPr>
          <a:xfrm>
            <a:off x="8130387" y="2194560"/>
            <a:ext cx="3520440" cy="36576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30387" y="2194560"/>
            <a:ext cx="3520440" cy="54864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30387" y="2304288"/>
            <a:ext cx="3520440" cy="411480"/>
          </a:xfrm>
          <a:prstGeom prst="rect">
            <a:avLst/>
          </a:prstGeom>
          <a:noFill/>
        </p:spPr>
        <p:txBody>
          <a:bodyPr wrap="square" lIns="50000" tIns="20000" rIns="50000" bIns="20000" anchor="t">
            <a:spAutoFit/>
          </a:bodyPr>
          <a:lstStyle/>
          <a:p>
            <a:pPr algn="ctr">
              <a:lnSpc>
                <a:spcPct val="120000"/>
              </a:lnSpc>
            </a:pPr>
            <a:r>
              <a:rPr sz="1800" b="1" i="0">
                <a:solidFill>
                  <a:srgbClr val="FFFFFF"/>
                </a:solidFill>
                <a:latin typeface="Calibri"/>
              </a:rPr>
              <a:t>SERVERLESS</a:t>
            </a:r>
          </a:p>
        </p:txBody>
      </p:sp>
      <p:sp>
        <p:nvSpPr>
          <p:cNvPr id="21" name="TextBox 20"/>
          <p:cNvSpPr txBox="1"/>
          <p:nvPr/>
        </p:nvSpPr>
        <p:spPr>
          <a:xfrm>
            <a:off x="8358987" y="2971800"/>
            <a:ext cx="3154680" cy="1097280"/>
          </a:xfrm>
          <a:prstGeom prst="rect">
            <a:avLst/>
          </a:prstGeom>
          <a:noFill/>
        </p:spPr>
        <p:txBody>
          <a:bodyPr wrap="square" lIns="50000" tIns="20000" rIns="50000" bIns="20000" anchor="t">
            <a:spAutoFit/>
          </a:bodyPr>
          <a:lstStyle/>
          <a:p>
            <a:pPr algn="ctr">
              <a:lnSpc>
                <a:spcPct val="140000"/>
              </a:lnSpc>
            </a:pPr>
            <a:r>
              <a:rPr sz="1400" b="0" i="0">
                <a:solidFill>
                  <a:srgbClr val="334155"/>
                </a:solidFill>
                <a:latin typeface="Calibri"/>
              </a:rPr>
              <a:t>Function-as-a-service
Auto-scaling
Pay per request</a:t>
            </a:r>
          </a:p>
        </p:txBody>
      </p:sp>
      <p:sp>
        <p:nvSpPr>
          <p:cNvPr id="22" name="TextBox 21"/>
          <p:cNvSpPr txBox="1"/>
          <p:nvPr/>
        </p:nvSpPr>
        <p:spPr>
          <a:xfrm>
            <a:off x="8450427" y="4069079"/>
            <a:ext cx="3063240" cy="1188720"/>
          </a:xfrm>
          <a:prstGeom prst="rect">
            <a:avLst/>
          </a:prstGeom>
          <a:noFill/>
        </p:spPr>
        <p:txBody>
          <a:bodyPr wrap="square" lIns="50000" tIns="20000" rIns="50000" bIns="20000" anchor="t">
            <a:spAutoFit/>
          </a:bodyPr>
          <a:lstStyle/>
          <a:p>
            <a:pPr algn="l">
              <a:lnSpc>
                <a:spcPct val="150000"/>
              </a:lnSpc>
            </a:pPr>
            <a:r>
              <a:rPr sz="1400" b="0" i="0">
                <a:solidFill>
                  <a:srgbClr val="0F172A"/>
                </a:solidFill>
                <a:latin typeface="Calibri"/>
              </a:rPr>
              <a:t>✓ Auto scale</a:t>
            </a:r>
          </a:p>
          <a:p>
            <a:pPr algn="l">
              <a:lnSpc>
                <a:spcPct val="150000"/>
              </a:lnSpc>
            </a:pPr>
            <a:r>
              <a:rPr sz="1400" b="0" i="0">
                <a:solidFill>
                  <a:srgbClr val="0F172A"/>
                </a:solidFill>
                <a:latin typeface="Calibri"/>
              </a:rPr>
              <a:t>⚠ Cold start</a:t>
            </a:r>
          </a:p>
          <a:p>
            <a:pPr algn="l">
              <a:lnSpc>
                <a:spcPct val="150000"/>
              </a:lnSpc>
            </a:pPr>
            <a:r>
              <a:rPr sz="1400" b="0" i="0">
                <a:solidFill>
                  <a:srgbClr val="0F172A"/>
                </a:solidFill>
                <a:latin typeface="Calibri"/>
              </a:rPr>
              <a:t>⚠ Cost cao</a:t>
            </a:r>
          </a:p>
          <a:p>
            <a:pPr algn="l">
              <a:lnSpc>
                <a:spcPct val="150000"/>
              </a:lnSpc>
            </a:pPr>
            <a:r>
              <a:rPr sz="1400" b="0" i="0">
                <a:solidFill>
                  <a:srgbClr val="0F172A"/>
                </a:solidFill>
                <a:latin typeface="Calibri"/>
              </a:rPr>
              <a:t>⚠ Vendor lock-in</a:t>
            </a:r>
          </a:p>
        </p:txBody>
      </p:sp>
      <p:sp>
        <p:nvSpPr>
          <p:cNvPr id="23" name="TextBox 22"/>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24" name="TextBox 23"/>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06 / 23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E40AF"/>
                </a:solidFill>
                <a:latin typeface="Calibri"/>
              </a:rPr>
              <a:t>06</a:t>
            </a:r>
            <a:r>
              <a:rPr sz="1100">
                <a:solidFill>
                  <a:srgbClr val="64748B"/>
                </a:solidFill>
                <a:latin typeface="Calibri"/>
              </a:rPr>
              <a:t>   PATTERNS KIẾN TRÚC</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Event-Driven + Cache layer</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2103120"/>
            <a:ext cx="6858000" cy="365760"/>
          </a:xfrm>
          <a:prstGeom prst="rect">
            <a:avLst/>
          </a:prstGeom>
          <a:noFill/>
        </p:spPr>
        <p:txBody>
          <a:bodyPr wrap="square" lIns="50000" tIns="20000" rIns="50000" bIns="20000" anchor="t">
            <a:spAutoFit/>
          </a:bodyPr>
          <a:lstStyle/>
          <a:p>
            <a:pPr algn="l">
              <a:lnSpc>
                <a:spcPct val="120000"/>
              </a:lnSpc>
            </a:pPr>
            <a:r>
              <a:rPr sz="1400" b="1" i="0">
                <a:solidFill>
                  <a:srgbClr val="8B5CF6"/>
                </a:solidFill>
                <a:latin typeface="Calibri"/>
              </a:rPr>
              <a:t>RABBITMQ — FAN-OUT EVENT BUS</a:t>
            </a:r>
          </a:p>
        </p:txBody>
      </p:sp>
      <p:sp>
        <p:nvSpPr>
          <p:cNvPr id="7" name="Rectangle 6"/>
          <p:cNvSpPr/>
          <p:nvPr/>
        </p:nvSpPr>
        <p:spPr>
          <a:xfrm>
            <a:off x="457200" y="2606040"/>
            <a:ext cx="2560320" cy="64008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743200"/>
            <a:ext cx="2560320" cy="457200"/>
          </a:xfrm>
          <a:prstGeom prst="rect">
            <a:avLst/>
          </a:prstGeom>
          <a:noFill/>
        </p:spPr>
        <p:txBody>
          <a:bodyPr wrap="square" lIns="50000" tIns="20000" rIns="50000" bIns="20000" anchor="ctr">
            <a:spAutoFit/>
          </a:bodyPr>
          <a:lstStyle/>
          <a:p>
            <a:pPr algn="ctr">
              <a:lnSpc>
                <a:spcPct val="120000"/>
              </a:lnSpc>
            </a:pPr>
            <a:r>
              <a:rPr sz="1600" b="1" i="0">
                <a:solidFill>
                  <a:srgbClr val="FFFFFF"/>
                </a:solidFill>
                <a:latin typeface="Calibri"/>
              </a:rPr>
              <a:t>booking-service</a:t>
            </a:r>
          </a:p>
        </p:txBody>
      </p:sp>
      <p:sp>
        <p:nvSpPr>
          <p:cNvPr id="9" name="Right Arrow 8"/>
          <p:cNvSpPr/>
          <p:nvPr/>
        </p:nvSpPr>
        <p:spPr>
          <a:xfrm>
            <a:off x="3108960" y="2788920"/>
            <a:ext cx="365760" cy="274320"/>
          </a:xfrm>
          <a:prstGeom prst="rightArrow">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11880" y="2606040"/>
            <a:ext cx="1828800" cy="64008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11880" y="2743200"/>
            <a:ext cx="1828800" cy="457200"/>
          </a:xfrm>
          <a:prstGeom prst="rect">
            <a:avLst/>
          </a:prstGeom>
          <a:noFill/>
        </p:spPr>
        <p:txBody>
          <a:bodyPr wrap="square" lIns="50000" tIns="20000" rIns="50000" bIns="20000" anchor="ctr">
            <a:spAutoFit/>
          </a:bodyPr>
          <a:lstStyle/>
          <a:p>
            <a:pPr algn="ctr">
              <a:lnSpc>
                <a:spcPct val="120000"/>
              </a:lnSpc>
            </a:pPr>
            <a:r>
              <a:rPr sz="1600" b="1" i="0">
                <a:solidFill>
                  <a:srgbClr val="FFFFFF"/>
                </a:solidFill>
                <a:latin typeface="Calibri"/>
              </a:rPr>
              <a:t>RabbitMQ</a:t>
            </a:r>
          </a:p>
        </p:txBody>
      </p:sp>
      <p:sp>
        <p:nvSpPr>
          <p:cNvPr id="12" name="Down Arrow 11"/>
          <p:cNvSpPr/>
          <p:nvPr/>
        </p:nvSpPr>
        <p:spPr>
          <a:xfrm>
            <a:off x="1188720" y="3291840"/>
            <a:ext cx="182880" cy="548640"/>
          </a:xfrm>
          <a:prstGeom prst="down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4023360"/>
            <a:ext cx="1554480" cy="731520"/>
          </a:xfrm>
          <a:prstGeom prst="rect">
            <a:avLst/>
          </a:prstGeom>
          <a:solidFill>
            <a:srgbClr val="F1F5F9"/>
          </a:solidFill>
          <a:ln w="952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4096512"/>
            <a:ext cx="1554480" cy="320040"/>
          </a:xfrm>
          <a:prstGeom prst="rect">
            <a:avLst/>
          </a:prstGeom>
          <a:noFill/>
        </p:spPr>
        <p:txBody>
          <a:bodyPr wrap="square" lIns="50000" tIns="20000" rIns="50000" bIns="20000" anchor="t">
            <a:spAutoFit/>
          </a:bodyPr>
          <a:lstStyle/>
          <a:p>
            <a:pPr algn="ctr">
              <a:lnSpc>
                <a:spcPct val="120000"/>
              </a:lnSpc>
            </a:pPr>
            <a:r>
              <a:rPr sz="1300" b="1" i="0">
                <a:solidFill>
                  <a:srgbClr val="8B5CF6"/>
                </a:solidFill>
                <a:latin typeface="Calibri"/>
              </a:rPr>
              <a:t>notification</a:t>
            </a:r>
          </a:p>
        </p:txBody>
      </p:sp>
      <p:sp>
        <p:nvSpPr>
          <p:cNvPr id="15" name="TextBox 14"/>
          <p:cNvSpPr txBox="1"/>
          <p:nvPr/>
        </p:nvSpPr>
        <p:spPr>
          <a:xfrm>
            <a:off x="502920" y="4416552"/>
            <a:ext cx="1554480" cy="292608"/>
          </a:xfrm>
          <a:prstGeom prst="rect">
            <a:avLst/>
          </a:prstGeom>
          <a:noFill/>
        </p:spPr>
        <p:txBody>
          <a:bodyPr wrap="square" lIns="50000" tIns="20000" rIns="50000" bIns="20000" anchor="t">
            <a:spAutoFit/>
          </a:bodyPr>
          <a:lstStyle/>
          <a:p>
            <a:pPr algn="ctr">
              <a:lnSpc>
                <a:spcPct val="120000"/>
              </a:lnSpc>
            </a:pPr>
            <a:r>
              <a:rPr sz="1100" b="0" i="1">
                <a:solidFill>
                  <a:srgbClr val="64748B"/>
                </a:solidFill>
                <a:latin typeface="Calibri"/>
              </a:rPr>
              <a:t>email + push</a:t>
            </a:r>
          </a:p>
        </p:txBody>
      </p:sp>
      <p:sp>
        <p:nvSpPr>
          <p:cNvPr id="16" name="Down Arrow 15"/>
          <p:cNvSpPr/>
          <p:nvPr/>
        </p:nvSpPr>
        <p:spPr>
          <a:xfrm>
            <a:off x="2807208" y="3291840"/>
            <a:ext cx="182880" cy="548640"/>
          </a:xfrm>
          <a:prstGeom prst="down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121408" y="4023360"/>
            <a:ext cx="1554480" cy="731520"/>
          </a:xfrm>
          <a:prstGeom prst="rect">
            <a:avLst/>
          </a:prstGeom>
          <a:solidFill>
            <a:srgbClr val="F1F5F9"/>
          </a:solidFill>
          <a:ln w="952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21408" y="4096512"/>
            <a:ext cx="1554480" cy="320040"/>
          </a:xfrm>
          <a:prstGeom prst="rect">
            <a:avLst/>
          </a:prstGeom>
          <a:noFill/>
        </p:spPr>
        <p:txBody>
          <a:bodyPr wrap="square" lIns="50000" tIns="20000" rIns="50000" bIns="20000" anchor="t">
            <a:spAutoFit/>
          </a:bodyPr>
          <a:lstStyle/>
          <a:p>
            <a:pPr algn="ctr">
              <a:lnSpc>
                <a:spcPct val="120000"/>
              </a:lnSpc>
            </a:pPr>
            <a:r>
              <a:rPr sz="1300" b="1" i="0">
                <a:solidFill>
                  <a:srgbClr val="8B5CF6"/>
                </a:solidFill>
                <a:latin typeface="Calibri"/>
              </a:rPr>
              <a:t>payment</a:t>
            </a:r>
          </a:p>
        </p:txBody>
      </p:sp>
      <p:sp>
        <p:nvSpPr>
          <p:cNvPr id="19" name="TextBox 18"/>
          <p:cNvSpPr txBox="1"/>
          <p:nvPr/>
        </p:nvSpPr>
        <p:spPr>
          <a:xfrm>
            <a:off x="2121408" y="4416552"/>
            <a:ext cx="1554480" cy="292608"/>
          </a:xfrm>
          <a:prstGeom prst="rect">
            <a:avLst/>
          </a:prstGeom>
          <a:noFill/>
        </p:spPr>
        <p:txBody>
          <a:bodyPr wrap="square" lIns="50000" tIns="20000" rIns="50000" bIns="20000" anchor="t">
            <a:spAutoFit/>
          </a:bodyPr>
          <a:lstStyle/>
          <a:p>
            <a:pPr algn="ctr">
              <a:lnSpc>
                <a:spcPct val="120000"/>
              </a:lnSpc>
            </a:pPr>
            <a:r>
              <a:rPr sz="1100" b="0" i="1">
                <a:solidFill>
                  <a:srgbClr val="64748B"/>
                </a:solidFill>
                <a:latin typeface="Calibri"/>
              </a:rPr>
              <a:t>QR code</a:t>
            </a:r>
          </a:p>
        </p:txBody>
      </p:sp>
      <p:sp>
        <p:nvSpPr>
          <p:cNvPr id="20" name="Down Arrow 19"/>
          <p:cNvSpPr/>
          <p:nvPr/>
        </p:nvSpPr>
        <p:spPr>
          <a:xfrm>
            <a:off x="4425696" y="3291840"/>
            <a:ext cx="182880" cy="548640"/>
          </a:xfrm>
          <a:prstGeom prst="down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739896" y="4023360"/>
            <a:ext cx="1554480" cy="731520"/>
          </a:xfrm>
          <a:prstGeom prst="rect">
            <a:avLst/>
          </a:prstGeom>
          <a:solidFill>
            <a:srgbClr val="F1F5F9"/>
          </a:solidFill>
          <a:ln w="952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39896" y="4096512"/>
            <a:ext cx="1554480" cy="320040"/>
          </a:xfrm>
          <a:prstGeom prst="rect">
            <a:avLst/>
          </a:prstGeom>
          <a:noFill/>
        </p:spPr>
        <p:txBody>
          <a:bodyPr wrap="square" lIns="50000" tIns="20000" rIns="50000" bIns="20000" anchor="t">
            <a:spAutoFit/>
          </a:bodyPr>
          <a:lstStyle/>
          <a:p>
            <a:pPr algn="ctr">
              <a:lnSpc>
                <a:spcPct val="120000"/>
              </a:lnSpc>
            </a:pPr>
            <a:r>
              <a:rPr sz="1300" b="1" i="0">
                <a:solidFill>
                  <a:srgbClr val="8B5CF6"/>
                </a:solidFill>
                <a:latin typeface="Calibri"/>
              </a:rPr>
              <a:t>analytics</a:t>
            </a:r>
          </a:p>
        </p:txBody>
      </p:sp>
      <p:sp>
        <p:nvSpPr>
          <p:cNvPr id="23" name="TextBox 22"/>
          <p:cNvSpPr txBox="1"/>
          <p:nvPr/>
        </p:nvSpPr>
        <p:spPr>
          <a:xfrm>
            <a:off x="3739896" y="4416552"/>
            <a:ext cx="1554480" cy="292608"/>
          </a:xfrm>
          <a:prstGeom prst="rect">
            <a:avLst/>
          </a:prstGeom>
          <a:noFill/>
        </p:spPr>
        <p:txBody>
          <a:bodyPr wrap="square" lIns="50000" tIns="20000" rIns="50000" bIns="20000" anchor="t">
            <a:spAutoFit/>
          </a:bodyPr>
          <a:lstStyle/>
          <a:p>
            <a:pPr algn="ctr">
              <a:lnSpc>
                <a:spcPct val="120000"/>
              </a:lnSpc>
            </a:pPr>
            <a:r>
              <a:rPr sz="1100" b="0" i="1">
                <a:solidFill>
                  <a:srgbClr val="64748B"/>
                </a:solidFill>
                <a:latin typeface="Calibri"/>
              </a:rPr>
              <a:t>log event</a:t>
            </a:r>
          </a:p>
        </p:txBody>
      </p:sp>
      <p:sp>
        <p:nvSpPr>
          <p:cNvPr id="24" name="Down Arrow 23"/>
          <p:cNvSpPr/>
          <p:nvPr/>
        </p:nvSpPr>
        <p:spPr>
          <a:xfrm>
            <a:off x="6044184" y="3291840"/>
            <a:ext cx="182880" cy="548640"/>
          </a:xfrm>
          <a:prstGeom prst="down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358384" y="4023360"/>
            <a:ext cx="1554480" cy="731520"/>
          </a:xfrm>
          <a:prstGeom prst="rect">
            <a:avLst/>
          </a:prstGeom>
          <a:solidFill>
            <a:srgbClr val="F1F5F9"/>
          </a:solidFill>
          <a:ln w="952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358384" y="4096512"/>
            <a:ext cx="1554480" cy="320040"/>
          </a:xfrm>
          <a:prstGeom prst="rect">
            <a:avLst/>
          </a:prstGeom>
          <a:noFill/>
        </p:spPr>
        <p:txBody>
          <a:bodyPr wrap="square" lIns="50000" tIns="20000" rIns="50000" bIns="20000" anchor="t">
            <a:spAutoFit/>
          </a:bodyPr>
          <a:lstStyle/>
          <a:p>
            <a:pPr algn="ctr">
              <a:lnSpc>
                <a:spcPct val="120000"/>
              </a:lnSpc>
            </a:pPr>
            <a:r>
              <a:rPr sz="1300" b="1" i="0">
                <a:solidFill>
                  <a:srgbClr val="8B5CF6"/>
                </a:solidFill>
                <a:latin typeface="Calibri"/>
              </a:rPr>
              <a:t>chatbot</a:t>
            </a:r>
          </a:p>
        </p:txBody>
      </p:sp>
      <p:sp>
        <p:nvSpPr>
          <p:cNvPr id="27" name="TextBox 26"/>
          <p:cNvSpPr txBox="1"/>
          <p:nvPr/>
        </p:nvSpPr>
        <p:spPr>
          <a:xfrm>
            <a:off x="5358384" y="4416552"/>
            <a:ext cx="1554480" cy="292608"/>
          </a:xfrm>
          <a:prstGeom prst="rect">
            <a:avLst/>
          </a:prstGeom>
          <a:noFill/>
        </p:spPr>
        <p:txBody>
          <a:bodyPr wrap="square" lIns="50000" tIns="20000" rIns="50000" bIns="20000" anchor="t">
            <a:spAutoFit/>
          </a:bodyPr>
          <a:lstStyle/>
          <a:p>
            <a:pPr algn="ctr">
              <a:lnSpc>
                <a:spcPct val="120000"/>
              </a:lnSpc>
            </a:pPr>
            <a:r>
              <a:rPr sz="1100" b="0" i="1">
                <a:solidFill>
                  <a:srgbClr val="64748B"/>
                </a:solidFill>
                <a:latin typeface="Calibri"/>
              </a:rPr>
              <a:t>user state</a:t>
            </a:r>
          </a:p>
        </p:txBody>
      </p:sp>
      <p:sp>
        <p:nvSpPr>
          <p:cNvPr id="28" name="TextBox 27"/>
          <p:cNvSpPr txBox="1"/>
          <p:nvPr/>
        </p:nvSpPr>
        <p:spPr>
          <a:xfrm>
            <a:off x="7772400" y="2103120"/>
            <a:ext cx="3931920" cy="365760"/>
          </a:xfrm>
          <a:prstGeom prst="rect">
            <a:avLst/>
          </a:prstGeom>
          <a:noFill/>
        </p:spPr>
        <p:txBody>
          <a:bodyPr wrap="square" lIns="50000" tIns="20000" rIns="50000" bIns="20000" anchor="t">
            <a:spAutoFit/>
          </a:bodyPr>
          <a:lstStyle/>
          <a:p>
            <a:pPr algn="l">
              <a:lnSpc>
                <a:spcPct val="120000"/>
              </a:lnSpc>
            </a:pPr>
            <a:r>
              <a:rPr sz="1400" b="1" i="0">
                <a:solidFill>
                  <a:srgbClr val="10B981"/>
                </a:solidFill>
                <a:latin typeface="Calibri"/>
              </a:rPr>
              <a:t>REDIS — 6 DBs CÔ LẬP</a:t>
            </a:r>
          </a:p>
        </p:txBody>
      </p:sp>
      <p:sp>
        <p:nvSpPr>
          <p:cNvPr id="29" name="Rectangle 28"/>
          <p:cNvSpPr/>
          <p:nvPr/>
        </p:nvSpPr>
        <p:spPr>
          <a:xfrm>
            <a:off x="7772400" y="2606040"/>
            <a:ext cx="393192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772400" y="2606040"/>
            <a:ext cx="9144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955279" y="2715768"/>
            <a:ext cx="731520" cy="320040"/>
          </a:xfrm>
          <a:prstGeom prst="rect">
            <a:avLst/>
          </a:prstGeom>
          <a:noFill/>
        </p:spPr>
        <p:txBody>
          <a:bodyPr wrap="square" lIns="50000" tIns="20000" rIns="50000" bIns="20000" anchor="ctr">
            <a:spAutoFit/>
          </a:bodyPr>
          <a:lstStyle/>
          <a:p>
            <a:pPr algn="l">
              <a:lnSpc>
                <a:spcPct val="120000"/>
              </a:lnSpc>
            </a:pPr>
            <a:r>
              <a:rPr sz="1400" b="1" i="0">
                <a:solidFill>
                  <a:srgbClr val="10B981"/>
                </a:solidFill>
                <a:latin typeface="Calibri"/>
              </a:rPr>
              <a:t>DB 0</a:t>
            </a:r>
          </a:p>
        </p:txBody>
      </p:sp>
      <p:sp>
        <p:nvSpPr>
          <p:cNvPr id="32" name="TextBox 31"/>
          <p:cNvSpPr txBox="1"/>
          <p:nvPr/>
        </p:nvSpPr>
        <p:spPr>
          <a:xfrm>
            <a:off x="8732520" y="2715768"/>
            <a:ext cx="2926080" cy="320040"/>
          </a:xfrm>
          <a:prstGeom prst="rect">
            <a:avLst/>
          </a:prstGeom>
          <a:noFill/>
        </p:spPr>
        <p:txBody>
          <a:bodyPr wrap="square" lIns="50000" tIns="20000" rIns="50000" bIns="20000" anchor="ctr">
            <a:spAutoFit/>
          </a:bodyPr>
          <a:lstStyle/>
          <a:p>
            <a:pPr algn="l">
              <a:lnSpc>
                <a:spcPct val="120000"/>
              </a:lnSpc>
            </a:pPr>
            <a:r>
              <a:rPr sz="1300" b="0" i="0">
                <a:solidFill>
                  <a:srgbClr val="0F172A"/>
                </a:solidFill>
                <a:latin typeface="Calibri"/>
              </a:rPr>
              <a:t>Celery — task queue</a:t>
            </a:r>
          </a:p>
        </p:txBody>
      </p:sp>
      <p:sp>
        <p:nvSpPr>
          <p:cNvPr id="33" name="Rectangle 32"/>
          <p:cNvSpPr/>
          <p:nvPr/>
        </p:nvSpPr>
        <p:spPr>
          <a:xfrm>
            <a:off x="7772400" y="3108960"/>
            <a:ext cx="3931920" cy="5029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772400" y="3108960"/>
            <a:ext cx="9144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955279" y="3218688"/>
            <a:ext cx="731520" cy="320040"/>
          </a:xfrm>
          <a:prstGeom prst="rect">
            <a:avLst/>
          </a:prstGeom>
          <a:noFill/>
        </p:spPr>
        <p:txBody>
          <a:bodyPr wrap="square" lIns="50000" tIns="20000" rIns="50000" bIns="20000" anchor="ctr">
            <a:spAutoFit/>
          </a:bodyPr>
          <a:lstStyle/>
          <a:p>
            <a:pPr algn="l">
              <a:lnSpc>
                <a:spcPct val="120000"/>
              </a:lnSpc>
            </a:pPr>
            <a:r>
              <a:rPr sz="1400" b="1" i="0">
                <a:solidFill>
                  <a:srgbClr val="10B981"/>
                </a:solidFill>
                <a:latin typeface="Calibri"/>
              </a:rPr>
              <a:t>DB 1</a:t>
            </a:r>
          </a:p>
        </p:txBody>
      </p:sp>
      <p:sp>
        <p:nvSpPr>
          <p:cNvPr id="36" name="TextBox 35"/>
          <p:cNvSpPr txBox="1"/>
          <p:nvPr/>
        </p:nvSpPr>
        <p:spPr>
          <a:xfrm>
            <a:off x="8732520" y="3218688"/>
            <a:ext cx="2926080" cy="320040"/>
          </a:xfrm>
          <a:prstGeom prst="rect">
            <a:avLst/>
          </a:prstGeom>
          <a:noFill/>
        </p:spPr>
        <p:txBody>
          <a:bodyPr wrap="square" lIns="50000" tIns="20000" rIns="50000" bIns="20000" anchor="ctr">
            <a:spAutoFit/>
          </a:bodyPr>
          <a:lstStyle/>
          <a:p>
            <a:pPr algn="l">
              <a:lnSpc>
                <a:spcPct val="120000"/>
              </a:lnSpc>
            </a:pPr>
            <a:r>
              <a:rPr sz="1300" b="0" i="0">
                <a:solidFill>
                  <a:srgbClr val="0F172A"/>
                </a:solidFill>
                <a:latin typeface="Calibri"/>
              </a:rPr>
              <a:t>auth + gateway session</a:t>
            </a:r>
          </a:p>
        </p:txBody>
      </p:sp>
      <p:sp>
        <p:nvSpPr>
          <p:cNvPr id="37" name="Rectangle 36"/>
          <p:cNvSpPr/>
          <p:nvPr/>
        </p:nvSpPr>
        <p:spPr>
          <a:xfrm>
            <a:off x="7772400" y="3611880"/>
            <a:ext cx="393192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772400" y="3611880"/>
            <a:ext cx="9144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955279" y="3721608"/>
            <a:ext cx="731520" cy="320040"/>
          </a:xfrm>
          <a:prstGeom prst="rect">
            <a:avLst/>
          </a:prstGeom>
          <a:noFill/>
        </p:spPr>
        <p:txBody>
          <a:bodyPr wrap="square" lIns="50000" tIns="20000" rIns="50000" bIns="20000" anchor="ctr">
            <a:spAutoFit/>
          </a:bodyPr>
          <a:lstStyle/>
          <a:p>
            <a:pPr algn="l">
              <a:lnSpc>
                <a:spcPct val="120000"/>
              </a:lnSpc>
            </a:pPr>
            <a:r>
              <a:rPr sz="1400" b="1" i="0">
                <a:solidFill>
                  <a:srgbClr val="10B981"/>
                </a:solidFill>
                <a:latin typeface="Calibri"/>
              </a:rPr>
              <a:t>DB 2</a:t>
            </a:r>
          </a:p>
        </p:txBody>
      </p:sp>
      <p:sp>
        <p:nvSpPr>
          <p:cNvPr id="40" name="TextBox 39"/>
          <p:cNvSpPr txBox="1"/>
          <p:nvPr/>
        </p:nvSpPr>
        <p:spPr>
          <a:xfrm>
            <a:off x="8732520" y="3721608"/>
            <a:ext cx="2926080" cy="320040"/>
          </a:xfrm>
          <a:prstGeom prst="rect">
            <a:avLst/>
          </a:prstGeom>
          <a:noFill/>
        </p:spPr>
        <p:txBody>
          <a:bodyPr wrap="square" lIns="50000" tIns="20000" rIns="50000" bIns="20000" anchor="ctr">
            <a:spAutoFit/>
          </a:bodyPr>
          <a:lstStyle/>
          <a:p>
            <a:pPr algn="l">
              <a:lnSpc>
                <a:spcPct val="120000"/>
              </a:lnSpc>
            </a:pPr>
            <a:r>
              <a:rPr sz="1300" b="0" i="0">
                <a:solidFill>
                  <a:srgbClr val="0F172A"/>
                </a:solidFill>
                <a:latin typeface="Calibri"/>
              </a:rPr>
              <a:t>booking cache</a:t>
            </a:r>
          </a:p>
        </p:txBody>
      </p:sp>
      <p:sp>
        <p:nvSpPr>
          <p:cNvPr id="41" name="Rectangle 40"/>
          <p:cNvSpPr/>
          <p:nvPr/>
        </p:nvSpPr>
        <p:spPr>
          <a:xfrm>
            <a:off x="7772400" y="4114800"/>
            <a:ext cx="3931920" cy="5029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772400" y="4114800"/>
            <a:ext cx="9144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955279" y="4224528"/>
            <a:ext cx="731520" cy="320040"/>
          </a:xfrm>
          <a:prstGeom prst="rect">
            <a:avLst/>
          </a:prstGeom>
          <a:noFill/>
        </p:spPr>
        <p:txBody>
          <a:bodyPr wrap="square" lIns="50000" tIns="20000" rIns="50000" bIns="20000" anchor="ctr">
            <a:spAutoFit/>
          </a:bodyPr>
          <a:lstStyle/>
          <a:p>
            <a:pPr algn="l">
              <a:lnSpc>
                <a:spcPct val="120000"/>
              </a:lnSpc>
            </a:pPr>
            <a:r>
              <a:rPr sz="1400" b="1" i="0">
                <a:solidFill>
                  <a:srgbClr val="10B981"/>
                </a:solidFill>
                <a:latin typeface="Calibri"/>
              </a:rPr>
              <a:t>DB 3</a:t>
            </a:r>
          </a:p>
        </p:txBody>
      </p:sp>
      <p:sp>
        <p:nvSpPr>
          <p:cNvPr id="44" name="TextBox 43"/>
          <p:cNvSpPr txBox="1"/>
          <p:nvPr/>
        </p:nvSpPr>
        <p:spPr>
          <a:xfrm>
            <a:off x="8732520" y="4224528"/>
            <a:ext cx="2926080" cy="320040"/>
          </a:xfrm>
          <a:prstGeom prst="rect">
            <a:avLst/>
          </a:prstGeom>
          <a:noFill/>
        </p:spPr>
        <p:txBody>
          <a:bodyPr wrap="square" lIns="50000" tIns="20000" rIns="50000" bIns="20000" anchor="ctr">
            <a:spAutoFit/>
          </a:bodyPr>
          <a:lstStyle/>
          <a:p>
            <a:pPr algn="l">
              <a:lnSpc>
                <a:spcPct val="120000"/>
              </a:lnSpc>
            </a:pPr>
            <a:r>
              <a:rPr sz="1300" b="0" i="0">
                <a:solidFill>
                  <a:srgbClr val="0F172A"/>
                </a:solidFill>
                <a:latin typeface="Calibri"/>
              </a:rPr>
              <a:t>parking slot status</a:t>
            </a:r>
          </a:p>
        </p:txBody>
      </p:sp>
      <p:sp>
        <p:nvSpPr>
          <p:cNvPr id="45" name="Rectangle 44"/>
          <p:cNvSpPr/>
          <p:nvPr/>
        </p:nvSpPr>
        <p:spPr>
          <a:xfrm>
            <a:off x="7772400" y="4617720"/>
            <a:ext cx="393192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7772400" y="4617720"/>
            <a:ext cx="9144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955279" y="4727448"/>
            <a:ext cx="731520" cy="320040"/>
          </a:xfrm>
          <a:prstGeom prst="rect">
            <a:avLst/>
          </a:prstGeom>
          <a:noFill/>
        </p:spPr>
        <p:txBody>
          <a:bodyPr wrap="square" lIns="50000" tIns="20000" rIns="50000" bIns="20000" anchor="ctr">
            <a:spAutoFit/>
          </a:bodyPr>
          <a:lstStyle/>
          <a:p>
            <a:pPr algn="l">
              <a:lnSpc>
                <a:spcPct val="120000"/>
              </a:lnSpc>
            </a:pPr>
            <a:r>
              <a:rPr sz="1400" b="1" i="0">
                <a:solidFill>
                  <a:srgbClr val="10B981"/>
                </a:solidFill>
                <a:latin typeface="Calibri"/>
              </a:rPr>
              <a:t>DB 4</a:t>
            </a:r>
          </a:p>
        </p:txBody>
      </p:sp>
      <p:sp>
        <p:nvSpPr>
          <p:cNvPr id="48" name="TextBox 47"/>
          <p:cNvSpPr txBox="1"/>
          <p:nvPr/>
        </p:nvSpPr>
        <p:spPr>
          <a:xfrm>
            <a:off x="8732520" y="4727448"/>
            <a:ext cx="2926080" cy="320040"/>
          </a:xfrm>
          <a:prstGeom prst="rect">
            <a:avLst/>
          </a:prstGeom>
          <a:noFill/>
        </p:spPr>
        <p:txBody>
          <a:bodyPr wrap="square" lIns="50000" tIns="20000" rIns="50000" bIns="20000" anchor="ctr">
            <a:spAutoFit/>
          </a:bodyPr>
          <a:lstStyle/>
          <a:p>
            <a:pPr algn="l">
              <a:lnSpc>
                <a:spcPct val="120000"/>
              </a:lnSpc>
            </a:pPr>
            <a:r>
              <a:rPr sz="1300" b="0" i="0">
                <a:solidFill>
                  <a:srgbClr val="0F172A"/>
                </a:solidFill>
                <a:latin typeface="Calibri"/>
              </a:rPr>
              <a:t>vehicle service</a:t>
            </a:r>
          </a:p>
        </p:txBody>
      </p:sp>
      <p:sp>
        <p:nvSpPr>
          <p:cNvPr id="49" name="Rectangle 48"/>
          <p:cNvSpPr/>
          <p:nvPr/>
        </p:nvSpPr>
        <p:spPr>
          <a:xfrm>
            <a:off x="7772400" y="5120640"/>
            <a:ext cx="3931920" cy="5029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7772400" y="5120640"/>
            <a:ext cx="9144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955279" y="5230368"/>
            <a:ext cx="731520" cy="320040"/>
          </a:xfrm>
          <a:prstGeom prst="rect">
            <a:avLst/>
          </a:prstGeom>
          <a:noFill/>
        </p:spPr>
        <p:txBody>
          <a:bodyPr wrap="square" lIns="50000" tIns="20000" rIns="50000" bIns="20000" anchor="ctr">
            <a:spAutoFit/>
          </a:bodyPr>
          <a:lstStyle/>
          <a:p>
            <a:pPr algn="l">
              <a:lnSpc>
                <a:spcPct val="120000"/>
              </a:lnSpc>
            </a:pPr>
            <a:r>
              <a:rPr sz="1400" b="1" i="0">
                <a:solidFill>
                  <a:srgbClr val="10B981"/>
                </a:solidFill>
                <a:latin typeface="Calibri"/>
              </a:rPr>
              <a:t>DB 5</a:t>
            </a:r>
          </a:p>
        </p:txBody>
      </p:sp>
      <p:sp>
        <p:nvSpPr>
          <p:cNvPr id="52" name="TextBox 51"/>
          <p:cNvSpPr txBox="1"/>
          <p:nvPr/>
        </p:nvSpPr>
        <p:spPr>
          <a:xfrm>
            <a:off x="8732520" y="5230368"/>
            <a:ext cx="2926080" cy="320040"/>
          </a:xfrm>
          <a:prstGeom prst="rect">
            <a:avLst/>
          </a:prstGeom>
          <a:noFill/>
        </p:spPr>
        <p:txBody>
          <a:bodyPr wrap="square" lIns="50000" tIns="20000" rIns="50000" bIns="20000" anchor="ctr">
            <a:spAutoFit/>
          </a:bodyPr>
          <a:lstStyle/>
          <a:p>
            <a:pPr algn="l">
              <a:lnSpc>
                <a:spcPct val="120000"/>
              </a:lnSpc>
            </a:pPr>
            <a:r>
              <a:rPr sz="1300" b="0" i="0">
                <a:solidFill>
                  <a:srgbClr val="0F172A"/>
                </a:solidFill>
                <a:latin typeface="Calibri"/>
              </a:rPr>
              <a:t>realtime WS pub/sub</a:t>
            </a:r>
          </a:p>
        </p:txBody>
      </p:sp>
      <p:sp>
        <p:nvSpPr>
          <p:cNvPr id="53" name="Rectangle 52"/>
          <p:cNvSpPr/>
          <p:nvPr/>
        </p:nvSpPr>
        <p:spPr>
          <a:xfrm>
            <a:off x="7772400" y="5623560"/>
            <a:ext cx="393192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7772400" y="5623560"/>
            <a:ext cx="9144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955279" y="5733288"/>
            <a:ext cx="731520" cy="320040"/>
          </a:xfrm>
          <a:prstGeom prst="rect">
            <a:avLst/>
          </a:prstGeom>
          <a:noFill/>
        </p:spPr>
        <p:txBody>
          <a:bodyPr wrap="square" lIns="50000" tIns="20000" rIns="50000" bIns="20000" anchor="ctr">
            <a:spAutoFit/>
          </a:bodyPr>
          <a:lstStyle/>
          <a:p>
            <a:pPr algn="l">
              <a:lnSpc>
                <a:spcPct val="120000"/>
              </a:lnSpc>
            </a:pPr>
            <a:r>
              <a:rPr sz="1400" b="1" i="0">
                <a:solidFill>
                  <a:srgbClr val="10B981"/>
                </a:solidFill>
                <a:latin typeface="Calibri"/>
              </a:rPr>
              <a:t>DB 6</a:t>
            </a:r>
          </a:p>
        </p:txBody>
      </p:sp>
      <p:sp>
        <p:nvSpPr>
          <p:cNvPr id="56" name="TextBox 55"/>
          <p:cNvSpPr txBox="1"/>
          <p:nvPr/>
        </p:nvSpPr>
        <p:spPr>
          <a:xfrm>
            <a:off x="8732520" y="5733288"/>
            <a:ext cx="2926080" cy="320040"/>
          </a:xfrm>
          <a:prstGeom prst="rect">
            <a:avLst/>
          </a:prstGeom>
          <a:noFill/>
        </p:spPr>
        <p:txBody>
          <a:bodyPr wrap="square" lIns="50000" tIns="20000" rIns="50000" bIns="20000" anchor="ctr">
            <a:spAutoFit/>
          </a:bodyPr>
          <a:lstStyle/>
          <a:p>
            <a:pPr algn="l">
              <a:lnSpc>
                <a:spcPct val="120000"/>
              </a:lnSpc>
            </a:pPr>
            <a:r>
              <a:rPr sz="1300" b="0" i="0">
                <a:solidFill>
                  <a:srgbClr val="0F172A"/>
                </a:solidFill>
                <a:latin typeface="Calibri"/>
              </a:rPr>
              <a:t>chatbot state TTL 30p</a:t>
            </a:r>
          </a:p>
        </p:txBody>
      </p:sp>
      <p:sp>
        <p:nvSpPr>
          <p:cNvPr id="57" name="TextBox 56"/>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58" name="TextBox 57"/>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07 / 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E40AF"/>
                </a:solidFill>
                <a:latin typeface="Calibri"/>
              </a:rPr>
              <a:t>07</a:t>
            </a:r>
            <a:r>
              <a:rPr sz="1100">
                <a:solidFill>
                  <a:srgbClr val="64748B"/>
                </a:solidFill>
                <a:latin typeface="Calibri"/>
              </a:rPr>
              <a:t>   LUỒNG HOẠT ĐỘNG</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Một chu trình hoàn chỉnh — 3 phase</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103120"/>
            <a:ext cx="11247120" cy="12801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103120"/>
            <a:ext cx="2286000" cy="128016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331720"/>
            <a:ext cx="2286000" cy="365760"/>
          </a:xfrm>
          <a:prstGeom prst="rect">
            <a:avLst/>
          </a:prstGeom>
          <a:noFill/>
        </p:spPr>
        <p:txBody>
          <a:bodyPr wrap="square" lIns="50000" tIns="20000" rIns="50000" bIns="20000" anchor="t">
            <a:spAutoFit/>
          </a:bodyPr>
          <a:lstStyle/>
          <a:p>
            <a:pPr algn="ctr">
              <a:lnSpc>
                <a:spcPct val="120000"/>
              </a:lnSpc>
            </a:pPr>
            <a:r>
              <a:rPr sz="1400" b="1" i="0">
                <a:solidFill>
                  <a:srgbClr val="FFFFFF"/>
                </a:solidFill>
                <a:latin typeface="Calibri"/>
              </a:rPr>
              <a:t>PHASE 1</a:t>
            </a:r>
          </a:p>
        </p:txBody>
      </p:sp>
      <p:sp>
        <p:nvSpPr>
          <p:cNvPr id="9" name="TextBox 8"/>
          <p:cNvSpPr txBox="1"/>
          <p:nvPr/>
        </p:nvSpPr>
        <p:spPr>
          <a:xfrm>
            <a:off x="457200" y="2697480"/>
            <a:ext cx="2286000" cy="548640"/>
          </a:xfrm>
          <a:prstGeom prst="rect">
            <a:avLst/>
          </a:prstGeom>
          <a:noFill/>
        </p:spPr>
        <p:txBody>
          <a:bodyPr wrap="square" lIns="50000" tIns="20000" rIns="50000" bIns="20000" anchor="t">
            <a:spAutoFit/>
          </a:bodyPr>
          <a:lstStyle/>
          <a:p>
            <a:pPr algn="ctr">
              <a:lnSpc>
                <a:spcPct val="110000"/>
              </a:lnSpc>
            </a:pPr>
            <a:r>
              <a:rPr sz="1800" b="1" i="0">
                <a:solidFill>
                  <a:srgbClr val="FFFFFF"/>
                </a:solidFill>
                <a:latin typeface="Calibri"/>
              </a:rPr>
              <a:t>ĐẶT CHỖ ONLINE</a:t>
            </a:r>
          </a:p>
        </p:txBody>
      </p:sp>
      <p:sp>
        <p:nvSpPr>
          <p:cNvPr id="10" name="TextBox 9"/>
          <p:cNvSpPr txBox="1"/>
          <p:nvPr/>
        </p:nvSpPr>
        <p:spPr>
          <a:xfrm>
            <a:off x="2926080" y="2286000"/>
            <a:ext cx="8595360" cy="914400"/>
          </a:xfrm>
          <a:prstGeom prst="rect">
            <a:avLst/>
          </a:prstGeom>
          <a:noFill/>
        </p:spPr>
        <p:txBody>
          <a:bodyPr wrap="square" lIns="50000" tIns="20000" rIns="50000" bIns="20000" anchor="ctr">
            <a:spAutoFit/>
          </a:bodyPr>
          <a:lstStyle/>
          <a:p>
            <a:pPr algn="l">
              <a:lnSpc>
                <a:spcPct val="160000"/>
              </a:lnSpc>
            </a:pPr>
            <a:r>
              <a:rPr sz="1500" b="0" i="0">
                <a:solidFill>
                  <a:srgbClr val="0F172A"/>
                </a:solidFill>
                <a:latin typeface="Calibri"/>
              </a:rPr>
              <a:t>User mở web/app  →  Gateway xác thực  →  Booking-service tạo booking  →  MySQL persist  →  RabbitMQ event  →  Email + QR confirmation</a:t>
            </a:r>
          </a:p>
        </p:txBody>
      </p:sp>
      <p:sp>
        <p:nvSpPr>
          <p:cNvPr id="11" name="Rectangle 10"/>
          <p:cNvSpPr/>
          <p:nvPr/>
        </p:nvSpPr>
        <p:spPr>
          <a:xfrm>
            <a:off x="457200" y="3520440"/>
            <a:ext cx="11247120" cy="12801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3520440"/>
            <a:ext cx="228600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3749040"/>
            <a:ext cx="2286000" cy="365760"/>
          </a:xfrm>
          <a:prstGeom prst="rect">
            <a:avLst/>
          </a:prstGeom>
          <a:noFill/>
        </p:spPr>
        <p:txBody>
          <a:bodyPr wrap="square" lIns="50000" tIns="20000" rIns="50000" bIns="20000" anchor="t">
            <a:spAutoFit/>
          </a:bodyPr>
          <a:lstStyle/>
          <a:p>
            <a:pPr algn="ctr">
              <a:lnSpc>
                <a:spcPct val="120000"/>
              </a:lnSpc>
            </a:pPr>
            <a:r>
              <a:rPr sz="1400" b="1" i="0">
                <a:solidFill>
                  <a:srgbClr val="FFFFFF"/>
                </a:solidFill>
                <a:latin typeface="Calibri"/>
              </a:rPr>
              <a:t>PHASE 2</a:t>
            </a:r>
          </a:p>
        </p:txBody>
      </p:sp>
      <p:sp>
        <p:nvSpPr>
          <p:cNvPr id="14" name="TextBox 13"/>
          <p:cNvSpPr txBox="1"/>
          <p:nvPr/>
        </p:nvSpPr>
        <p:spPr>
          <a:xfrm>
            <a:off x="457200" y="4114800"/>
            <a:ext cx="2286000" cy="548640"/>
          </a:xfrm>
          <a:prstGeom prst="rect">
            <a:avLst/>
          </a:prstGeom>
          <a:noFill/>
        </p:spPr>
        <p:txBody>
          <a:bodyPr wrap="square" lIns="50000" tIns="20000" rIns="50000" bIns="20000" anchor="t">
            <a:spAutoFit/>
          </a:bodyPr>
          <a:lstStyle/>
          <a:p>
            <a:pPr algn="ctr">
              <a:lnSpc>
                <a:spcPct val="110000"/>
              </a:lnSpc>
            </a:pPr>
            <a:r>
              <a:rPr sz="1800" b="1" i="0">
                <a:solidFill>
                  <a:srgbClr val="FFFFFF"/>
                </a:solidFill>
                <a:latin typeface="Calibri"/>
              </a:rPr>
              <a:t>CHECK-IN VÀO BÃI</a:t>
            </a:r>
          </a:p>
        </p:txBody>
      </p:sp>
      <p:sp>
        <p:nvSpPr>
          <p:cNvPr id="15" name="TextBox 14"/>
          <p:cNvSpPr txBox="1"/>
          <p:nvPr/>
        </p:nvSpPr>
        <p:spPr>
          <a:xfrm>
            <a:off x="2926080" y="3703320"/>
            <a:ext cx="8595360" cy="914400"/>
          </a:xfrm>
          <a:prstGeom prst="rect">
            <a:avLst/>
          </a:prstGeom>
          <a:noFill/>
        </p:spPr>
        <p:txBody>
          <a:bodyPr wrap="square" lIns="50000" tIns="20000" rIns="50000" bIns="20000" anchor="ctr">
            <a:spAutoFit/>
          </a:bodyPr>
          <a:lstStyle/>
          <a:p>
            <a:pPr algn="l">
              <a:lnSpc>
                <a:spcPct val="160000"/>
              </a:lnSpc>
            </a:pPr>
            <a:r>
              <a:rPr sz="1500" b="0" i="0">
                <a:solidFill>
                  <a:srgbClr val="0F172A"/>
                </a:solidFill>
                <a:latin typeface="Calibri"/>
              </a:rPr>
              <a:t>Xe đến cổng  →  Camera ANPR chụp biển  →  AI đọc text  →  Match booking (Levenshtein ≤ 1)  →  ESP32 mở barrier  →  Dashboard cập nhật</a:t>
            </a:r>
          </a:p>
        </p:txBody>
      </p:sp>
      <p:sp>
        <p:nvSpPr>
          <p:cNvPr id="16" name="Rectangle 15"/>
          <p:cNvSpPr/>
          <p:nvPr/>
        </p:nvSpPr>
        <p:spPr>
          <a:xfrm>
            <a:off x="457200" y="4937760"/>
            <a:ext cx="11247120" cy="12801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4937760"/>
            <a:ext cx="2286000" cy="12801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5166360"/>
            <a:ext cx="2286000" cy="365760"/>
          </a:xfrm>
          <a:prstGeom prst="rect">
            <a:avLst/>
          </a:prstGeom>
          <a:noFill/>
        </p:spPr>
        <p:txBody>
          <a:bodyPr wrap="square" lIns="50000" tIns="20000" rIns="50000" bIns="20000" anchor="t">
            <a:spAutoFit/>
          </a:bodyPr>
          <a:lstStyle/>
          <a:p>
            <a:pPr algn="ctr">
              <a:lnSpc>
                <a:spcPct val="120000"/>
              </a:lnSpc>
            </a:pPr>
            <a:r>
              <a:rPr sz="1400" b="1" i="0">
                <a:solidFill>
                  <a:srgbClr val="FFFFFF"/>
                </a:solidFill>
                <a:latin typeface="Calibri"/>
              </a:rPr>
              <a:t>PHASE 3</a:t>
            </a:r>
          </a:p>
        </p:txBody>
      </p:sp>
      <p:sp>
        <p:nvSpPr>
          <p:cNvPr id="19" name="TextBox 18"/>
          <p:cNvSpPr txBox="1"/>
          <p:nvPr/>
        </p:nvSpPr>
        <p:spPr>
          <a:xfrm>
            <a:off x="457200" y="5532120"/>
            <a:ext cx="2286000" cy="548640"/>
          </a:xfrm>
          <a:prstGeom prst="rect">
            <a:avLst/>
          </a:prstGeom>
          <a:noFill/>
        </p:spPr>
        <p:txBody>
          <a:bodyPr wrap="square" lIns="50000" tIns="20000" rIns="50000" bIns="20000" anchor="t">
            <a:spAutoFit/>
          </a:bodyPr>
          <a:lstStyle/>
          <a:p>
            <a:pPr algn="ctr">
              <a:lnSpc>
                <a:spcPct val="110000"/>
              </a:lnSpc>
            </a:pPr>
            <a:r>
              <a:rPr sz="1800" b="1" i="0">
                <a:solidFill>
                  <a:srgbClr val="FFFFFF"/>
                </a:solidFill>
                <a:latin typeface="Calibri"/>
              </a:rPr>
              <a:t>CHECK-OUT + THANH TOÁN</a:t>
            </a:r>
          </a:p>
        </p:txBody>
      </p:sp>
      <p:sp>
        <p:nvSpPr>
          <p:cNvPr id="20" name="TextBox 19"/>
          <p:cNvSpPr txBox="1"/>
          <p:nvPr/>
        </p:nvSpPr>
        <p:spPr>
          <a:xfrm>
            <a:off x="2926080" y="5120640"/>
            <a:ext cx="8595360" cy="914400"/>
          </a:xfrm>
          <a:prstGeom prst="rect">
            <a:avLst/>
          </a:prstGeom>
          <a:noFill/>
        </p:spPr>
        <p:txBody>
          <a:bodyPr wrap="square" lIns="50000" tIns="20000" rIns="50000" bIns="20000" anchor="ctr">
            <a:spAutoFit/>
          </a:bodyPr>
          <a:lstStyle/>
          <a:p>
            <a:pPr algn="l">
              <a:lnSpc>
                <a:spcPct val="160000"/>
              </a:lnSpc>
            </a:pPr>
            <a:r>
              <a:rPr sz="1500" b="0" i="0">
                <a:solidFill>
                  <a:srgbClr val="0F172A"/>
                </a:solidFill>
                <a:latin typeface="Calibri"/>
              </a:rPr>
              <a:t>Xe ra  →  Cash scanner ESP32  →  AI nhận diện 9 mệnh giá  →  Tính phí  →  Payment đóng booking  →  Barrier mở  →  Email biên lai</a:t>
            </a:r>
          </a:p>
        </p:txBody>
      </p:sp>
      <p:sp>
        <p:nvSpPr>
          <p:cNvPr id="21" name="TextBox 20"/>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22" name="TextBox 21"/>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08 / 23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E40AF"/>
                </a:solidFill>
                <a:latin typeface="Calibri"/>
              </a:rPr>
              <a:t>08</a:t>
            </a:r>
            <a:r>
              <a:rPr sz="1100">
                <a:solidFill>
                  <a:srgbClr val="64748B"/>
                </a:solidFill>
                <a:latin typeface="Calibri"/>
              </a:rPr>
              <a:t>   AI MODULE</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AI #1 — Nhận diện biển số xe</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274320"/>
          </a:xfrm>
          <a:prstGeom prst="rect">
            <a:avLst/>
          </a:prstGeom>
          <a:noFill/>
        </p:spPr>
        <p:txBody>
          <a:bodyPr wrap="square" lIns="50000" tIns="20000" rIns="50000" bIns="20000" anchor="t">
            <a:spAutoFit/>
          </a:bodyPr>
          <a:lstStyle/>
          <a:p>
            <a:pPr algn="l">
              <a:lnSpc>
                <a:spcPct val="120000"/>
              </a:lnSpc>
            </a:pPr>
            <a:r>
              <a:rPr sz="1200" b="1" i="0">
                <a:solidFill>
                  <a:srgbClr val="1E40AF"/>
                </a:solidFill>
                <a:latin typeface="Calibri"/>
              </a:rPr>
              <a:t>PIPELINE</a:t>
            </a:r>
          </a:p>
        </p:txBody>
      </p:sp>
      <p:sp>
        <p:nvSpPr>
          <p:cNvPr id="7" name="Rectangle 6"/>
          <p:cNvSpPr/>
          <p:nvPr/>
        </p:nvSpPr>
        <p:spPr>
          <a:xfrm>
            <a:off x="457200" y="2011680"/>
            <a:ext cx="2051913"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2011680"/>
            <a:ext cx="2051913" cy="4572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2103120"/>
            <a:ext cx="1905609"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YOLOv8
Detect</a:t>
            </a:r>
          </a:p>
        </p:txBody>
      </p:sp>
      <p:sp>
        <p:nvSpPr>
          <p:cNvPr id="10" name="Right Arrow 9"/>
          <p:cNvSpPr/>
          <p:nvPr/>
        </p:nvSpPr>
        <p:spPr>
          <a:xfrm>
            <a:off x="2531973" y="2267712"/>
            <a:ext cx="201168" cy="182880"/>
          </a:xfrm>
          <a:prstGeom prst="rightArrow">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56001" y="2011680"/>
            <a:ext cx="2051913"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56001" y="2011680"/>
            <a:ext cx="2051913" cy="4572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29153" y="2103120"/>
            <a:ext cx="1905609"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Crop +
Warp</a:t>
            </a:r>
          </a:p>
        </p:txBody>
      </p:sp>
      <p:sp>
        <p:nvSpPr>
          <p:cNvPr id="14" name="Right Arrow 13"/>
          <p:cNvSpPr/>
          <p:nvPr/>
        </p:nvSpPr>
        <p:spPr>
          <a:xfrm>
            <a:off x="4830775" y="2267712"/>
            <a:ext cx="201168" cy="182880"/>
          </a:xfrm>
          <a:prstGeom prst="rightArrow">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54803" y="2011680"/>
            <a:ext cx="2051913"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54803" y="2011680"/>
            <a:ext cx="2051913" cy="4572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27955" y="2103120"/>
            <a:ext cx="1905609"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TrOCR
Primary</a:t>
            </a:r>
          </a:p>
        </p:txBody>
      </p:sp>
      <p:sp>
        <p:nvSpPr>
          <p:cNvPr id="18" name="Right Arrow 17"/>
          <p:cNvSpPr/>
          <p:nvPr/>
        </p:nvSpPr>
        <p:spPr>
          <a:xfrm>
            <a:off x="7129576" y="2267712"/>
            <a:ext cx="201168" cy="182880"/>
          </a:xfrm>
          <a:prstGeom prst="rightArrow">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53604" y="2011680"/>
            <a:ext cx="2051913"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53604" y="2011680"/>
            <a:ext cx="2051913" cy="4572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26756" y="2103120"/>
            <a:ext cx="1905609"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EasyOCR
Fallback</a:t>
            </a:r>
          </a:p>
        </p:txBody>
      </p:sp>
      <p:sp>
        <p:nvSpPr>
          <p:cNvPr id="22" name="Right Arrow 21"/>
          <p:cNvSpPr/>
          <p:nvPr/>
        </p:nvSpPr>
        <p:spPr>
          <a:xfrm>
            <a:off x="9428378" y="2267712"/>
            <a:ext cx="201168" cy="182880"/>
          </a:xfrm>
          <a:prstGeom prst="rightArrow">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652406" y="2011680"/>
            <a:ext cx="2051913"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652406" y="2011680"/>
            <a:ext cx="2051913" cy="4572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25558" y="2103120"/>
            <a:ext cx="1905609"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Levenshtein
Match</a:t>
            </a:r>
          </a:p>
        </p:txBody>
      </p:sp>
      <p:sp>
        <p:nvSpPr>
          <p:cNvPr id="26" name="Rectangle 25"/>
          <p:cNvSpPr/>
          <p:nvPr/>
        </p:nvSpPr>
        <p:spPr>
          <a:xfrm>
            <a:off x="45720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2788920"/>
            <a:ext cx="2708910" cy="54864"/>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1E40AF"/>
                </a:solidFill>
                <a:latin typeface="Calibri"/>
              </a:rPr>
              <a:t>96.3%</a:t>
            </a:r>
          </a:p>
        </p:txBody>
      </p:sp>
      <p:sp>
        <p:nvSpPr>
          <p:cNvPr id="29" name="TextBox 28"/>
          <p:cNvSpPr txBox="1"/>
          <p:nvPr/>
        </p:nvSpPr>
        <p:spPr>
          <a:xfrm>
            <a:off x="45720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Detection accuracy</a:t>
            </a:r>
          </a:p>
        </p:txBody>
      </p:sp>
      <p:sp>
        <p:nvSpPr>
          <p:cNvPr id="30" name="Rectangle 29"/>
          <p:cNvSpPr/>
          <p:nvPr/>
        </p:nvSpPr>
        <p:spPr>
          <a:xfrm>
            <a:off x="330327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303270" y="2788920"/>
            <a:ext cx="2708910" cy="54864"/>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30327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1E40AF"/>
                </a:solidFill>
                <a:latin typeface="Calibri"/>
              </a:rPr>
              <a:t>92.1%</a:t>
            </a:r>
          </a:p>
        </p:txBody>
      </p:sp>
      <p:sp>
        <p:nvSpPr>
          <p:cNvPr id="33" name="TextBox 32"/>
          <p:cNvSpPr txBox="1"/>
          <p:nvPr/>
        </p:nvSpPr>
        <p:spPr>
          <a:xfrm>
            <a:off x="330327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OCR accuracy</a:t>
            </a:r>
          </a:p>
        </p:txBody>
      </p:sp>
      <p:sp>
        <p:nvSpPr>
          <p:cNvPr id="34" name="Rectangle 33"/>
          <p:cNvSpPr/>
          <p:nvPr/>
        </p:nvSpPr>
        <p:spPr>
          <a:xfrm>
            <a:off x="614934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149340" y="2788920"/>
            <a:ext cx="2708910" cy="54864"/>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14934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1E40AF"/>
                </a:solidFill>
                <a:latin typeface="Calibri"/>
              </a:rPr>
              <a:t>94.5%</a:t>
            </a:r>
          </a:p>
        </p:txBody>
      </p:sp>
      <p:sp>
        <p:nvSpPr>
          <p:cNvPr id="37" name="TextBox 36"/>
          <p:cNvSpPr txBox="1"/>
          <p:nvPr/>
        </p:nvSpPr>
        <p:spPr>
          <a:xfrm>
            <a:off x="614934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End-to-end</a:t>
            </a:r>
          </a:p>
        </p:txBody>
      </p:sp>
      <p:sp>
        <p:nvSpPr>
          <p:cNvPr id="38" name="Rectangle 37"/>
          <p:cNvSpPr/>
          <p:nvPr/>
        </p:nvSpPr>
        <p:spPr>
          <a:xfrm>
            <a:off x="899541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995410" y="2788920"/>
            <a:ext cx="2708910" cy="54864"/>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99541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1E40AF"/>
                </a:solidFill>
                <a:latin typeface="Calibri"/>
              </a:rPr>
              <a:t>&lt;0.5%</a:t>
            </a:r>
          </a:p>
        </p:txBody>
      </p:sp>
      <p:sp>
        <p:nvSpPr>
          <p:cNvPr id="41" name="TextBox 40"/>
          <p:cNvSpPr txBox="1"/>
          <p:nvPr/>
        </p:nvSpPr>
        <p:spPr>
          <a:xfrm>
            <a:off x="899541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False accept rate</a:t>
            </a:r>
          </a:p>
        </p:txBody>
      </p:sp>
      <p:sp>
        <p:nvSpPr>
          <p:cNvPr id="42" name="TextBox 41"/>
          <p:cNvSpPr txBox="1"/>
          <p:nvPr/>
        </p:nvSpPr>
        <p:spPr>
          <a:xfrm>
            <a:off x="457200" y="3794760"/>
            <a:ext cx="11247120" cy="274320"/>
          </a:xfrm>
          <a:prstGeom prst="rect">
            <a:avLst/>
          </a:prstGeom>
          <a:noFill/>
        </p:spPr>
        <p:txBody>
          <a:bodyPr wrap="square" lIns="50000" tIns="20000" rIns="50000" bIns="20000" anchor="t">
            <a:spAutoFit/>
          </a:bodyPr>
          <a:lstStyle/>
          <a:p>
            <a:pPr algn="l">
              <a:lnSpc>
                <a:spcPct val="120000"/>
              </a:lnSpc>
            </a:pPr>
            <a:r>
              <a:rPr sz="1200" b="1" i="0">
                <a:solidFill>
                  <a:srgbClr val="1E40AF"/>
                </a:solidFill>
                <a:latin typeface="Calibri"/>
              </a:rPr>
              <a:t>KỸ THUẬT ÁP DỤNG  ·  Vì sao chọn các kỹ thuật này?</a:t>
            </a:r>
          </a:p>
        </p:txBody>
      </p:sp>
      <p:sp>
        <p:nvSpPr>
          <p:cNvPr id="43" name="Rectangle 42"/>
          <p:cNvSpPr/>
          <p:nvPr/>
        </p:nvSpPr>
        <p:spPr>
          <a:xfrm>
            <a:off x="457200" y="411480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57200" y="4114800"/>
            <a:ext cx="3627120" cy="54864"/>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0080" y="422452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1E40AF"/>
                </a:solidFill>
                <a:latin typeface="Calibri"/>
              </a:rPr>
              <a:t>YOLOv8 Detection</a:t>
            </a:r>
          </a:p>
        </p:txBody>
      </p:sp>
      <p:sp>
        <p:nvSpPr>
          <p:cNvPr id="46" name="TextBox 45"/>
          <p:cNvSpPr txBox="1"/>
          <p:nvPr/>
        </p:nvSpPr>
        <p:spPr>
          <a:xfrm>
            <a:off x="640080" y="453542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Anchor-free + decoupled head. Train 2000 ảnh biển VN đạt 96%. Stable hơn v11 mới ra, ecosystem matured.</a:t>
            </a:r>
          </a:p>
        </p:txBody>
      </p:sp>
      <p:sp>
        <p:nvSpPr>
          <p:cNvPr id="47" name="Rectangle 46"/>
          <p:cNvSpPr/>
          <p:nvPr/>
        </p:nvSpPr>
        <p:spPr>
          <a:xfrm>
            <a:off x="4267200" y="411480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67200" y="4114800"/>
            <a:ext cx="3627120" cy="54864"/>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50080" y="422452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1E40AF"/>
                </a:solidFill>
                <a:latin typeface="Calibri"/>
              </a:rPr>
              <a:t>Perspective Warp</a:t>
            </a:r>
          </a:p>
        </p:txBody>
      </p:sp>
      <p:sp>
        <p:nvSpPr>
          <p:cNvPr id="50" name="TextBox 49"/>
          <p:cNvSpPr txBox="1"/>
          <p:nvPr/>
        </p:nvSpPr>
        <p:spPr>
          <a:xfrm>
            <a:off x="4450080" y="453542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Nắn 4 góc bbox biển nghiêng thành chữ nhật thẳng. Deterministic không cần ML. +5% OCR accuracy.</a:t>
            </a:r>
          </a:p>
        </p:txBody>
      </p:sp>
      <p:sp>
        <p:nvSpPr>
          <p:cNvPr id="51" name="Rectangle 50"/>
          <p:cNvSpPr/>
          <p:nvPr/>
        </p:nvSpPr>
        <p:spPr>
          <a:xfrm>
            <a:off x="8077200" y="411480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077200" y="4114800"/>
            <a:ext cx="3627120" cy="54864"/>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260080" y="422452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1E40AF"/>
                </a:solidFill>
                <a:latin typeface="Calibri"/>
              </a:rPr>
              <a:t>TrOCR Primary</a:t>
            </a:r>
          </a:p>
        </p:txBody>
      </p:sp>
      <p:sp>
        <p:nvSpPr>
          <p:cNvPr id="54" name="TextBox 53"/>
          <p:cNvSpPr txBox="1"/>
          <p:nvPr/>
        </p:nvSpPr>
        <p:spPr>
          <a:xfrm>
            <a:off x="8260080" y="453542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Vision Transformer Microsoft pretrained. Mạnh nhất với biển khó (mờ, nghiêng, đêm) — 96% hard cases.</a:t>
            </a:r>
          </a:p>
        </p:txBody>
      </p:sp>
      <p:sp>
        <p:nvSpPr>
          <p:cNvPr id="55" name="Rectangle 54"/>
          <p:cNvSpPr/>
          <p:nvPr/>
        </p:nvSpPr>
        <p:spPr>
          <a:xfrm>
            <a:off x="457200" y="530352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57200" y="5303520"/>
            <a:ext cx="3627120" cy="54864"/>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40080" y="541324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1E40AF"/>
                </a:solidFill>
                <a:latin typeface="Calibri"/>
              </a:rPr>
              <a:t>EasyOCR + Tesseract</a:t>
            </a:r>
          </a:p>
        </p:txBody>
      </p:sp>
      <p:sp>
        <p:nvSpPr>
          <p:cNvPr id="58" name="TextBox 57"/>
          <p:cNvSpPr txBox="1"/>
          <p:nvPr/>
        </p:nvSpPr>
        <p:spPr>
          <a:xfrm>
            <a:off x="640080" y="572414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Fallback khi TrOCR conf &lt; 0.6. Triple-engine cover edge cases. Tổng accuracy 92-96%.</a:t>
            </a:r>
          </a:p>
        </p:txBody>
      </p:sp>
      <p:sp>
        <p:nvSpPr>
          <p:cNvPr id="59" name="Rectangle 58"/>
          <p:cNvSpPr/>
          <p:nvPr/>
        </p:nvSpPr>
        <p:spPr>
          <a:xfrm>
            <a:off x="4267200" y="530352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267200" y="5303520"/>
            <a:ext cx="3627120" cy="54864"/>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450080" y="541324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1E40AF"/>
                </a:solidFill>
                <a:latin typeface="Calibri"/>
              </a:rPr>
              <a:t>Levenshtein ≤ 1 Match</a:t>
            </a:r>
          </a:p>
        </p:txBody>
      </p:sp>
      <p:sp>
        <p:nvSpPr>
          <p:cNvPr id="62" name="TextBox 61"/>
          <p:cNvSpPr txBox="1"/>
          <p:nvPr/>
        </p:nvSpPr>
        <p:spPr>
          <a:xfrm>
            <a:off x="4450080" y="572414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Tolerate sai 1 ký tự (OCR hay nhầm O↔0, I↔1). UX tốt mà vẫn an toàn — false accept &lt; 0.5%.</a:t>
            </a:r>
          </a:p>
        </p:txBody>
      </p:sp>
      <p:sp>
        <p:nvSpPr>
          <p:cNvPr id="63" name="Rectangle 62"/>
          <p:cNvSpPr/>
          <p:nvPr/>
        </p:nvSpPr>
        <p:spPr>
          <a:xfrm>
            <a:off x="8077200" y="530352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8077200" y="5303520"/>
            <a:ext cx="3627120" cy="54864"/>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260080" y="541324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1E40AF"/>
                </a:solidFill>
                <a:latin typeface="Calibri"/>
              </a:rPr>
              <a:t>Pre-warm Lifespan</a:t>
            </a:r>
          </a:p>
        </p:txBody>
      </p:sp>
      <p:sp>
        <p:nvSpPr>
          <p:cNvPr id="66" name="TextBox 65"/>
          <p:cNvSpPr txBox="1"/>
          <p:nvPr/>
        </p:nvSpPr>
        <p:spPr>
          <a:xfrm>
            <a:off x="8260080" y="572414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Load AI models vào RAM khi FastAPI startup. Tránh cold-start 20s. Trade-off: tốn ~2GB RAM.</a:t>
            </a:r>
          </a:p>
        </p:txBody>
      </p:sp>
      <p:sp>
        <p:nvSpPr>
          <p:cNvPr id="67" name="TextBox 66"/>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68" name="TextBox 67"/>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09 / 23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F97316"/>
                </a:solidFill>
                <a:latin typeface="Calibri"/>
              </a:rPr>
              <a:t>09</a:t>
            </a:r>
            <a:r>
              <a:rPr sz="1100">
                <a:solidFill>
                  <a:srgbClr val="64748B"/>
                </a:solidFill>
                <a:latin typeface="Calibri"/>
              </a:rPr>
              <a:t>   AI MODULE</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AI #2 — Nhận diện mệnh giá tiền VN  ·  UNIQUE</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274320"/>
          </a:xfrm>
          <a:prstGeom prst="rect">
            <a:avLst/>
          </a:prstGeom>
          <a:noFill/>
        </p:spPr>
        <p:txBody>
          <a:bodyPr wrap="square" lIns="50000" tIns="20000" rIns="50000" bIns="20000" anchor="t">
            <a:spAutoFit/>
          </a:bodyPr>
          <a:lstStyle/>
          <a:p>
            <a:pPr algn="l">
              <a:lnSpc>
                <a:spcPct val="120000"/>
              </a:lnSpc>
            </a:pPr>
            <a:r>
              <a:rPr sz="1200" b="1" i="0">
                <a:solidFill>
                  <a:srgbClr val="F97316"/>
                </a:solidFill>
                <a:latin typeface="Calibri"/>
              </a:rPr>
              <a:t>PIPELINE</a:t>
            </a:r>
          </a:p>
        </p:txBody>
      </p:sp>
      <p:sp>
        <p:nvSpPr>
          <p:cNvPr id="7" name="Rectangle 6"/>
          <p:cNvSpPr/>
          <p:nvPr/>
        </p:nvSpPr>
        <p:spPr>
          <a:xfrm>
            <a:off x="457200" y="2011680"/>
            <a:ext cx="2626614"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2011680"/>
            <a:ext cx="2626614"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2103120"/>
            <a:ext cx="2480310"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T1 Quality
Laplacian</a:t>
            </a:r>
          </a:p>
        </p:txBody>
      </p:sp>
      <p:sp>
        <p:nvSpPr>
          <p:cNvPr id="10" name="Right Arrow 9"/>
          <p:cNvSpPr/>
          <p:nvPr/>
        </p:nvSpPr>
        <p:spPr>
          <a:xfrm>
            <a:off x="3106674" y="2267712"/>
            <a:ext cx="201168" cy="182880"/>
          </a:xfrm>
          <a:prstGeom prst="rightArrow">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30702" y="2011680"/>
            <a:ext cx="2626614"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30702" y="2011680"/>
            <a:ext cx="2626614"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03854" y="2103120"/>
            <a:ext cx="2480310"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T2 Detector
HSV+Contour</a:t>
            </a:r>
          </a:p>
        </p:txBody>
      </p:sp>
      <p:sp>
        <p:nvSpPr>
          <p:cNvPr id="14" name="Right Arrow 13"/>
          <p:cNvSpPr/>
          <p:nvPr/>
        </p:nvSpPr>
        <p:spPr>
          <a:xfrm>
            <a:off x="5980176" y="2267712"/>
            <a:ext cx="201168" cy="182880"/>
          </a:xfrm>
          <a:prstGeom prst="rightArrow">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04204" y="2011680"/>
            <a:ext cx="2626614"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04204" y="2011680"/>
            <a:ext cx="2626614"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77356" y="2103120"/>
            <a:ext cx="2480310"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T3 Color
Gabor+SVM</a:t>
            </a:r>
          </a:p>
        </p:txBody>
      </p:sp>
      <p:sp>
        <p:nvSpPr>
          <p:cNvPr id="18" name="Right Arrow 17"/>
          <p:cNvSpPr/>
          <p:nvPr/>
        </p:nvSpPr>
        <p:spPr>
          <a:xfrm>
            <a:off x="8853678" y="2267712"/>
            <a:ext cx="201168" cy="182880"/>
          </a:xfrm>
          <a:prstGeom prst="rightArrow">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77706" y="2011680"/>
            <a:ext cx="2626614"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077706" y="2011680"/>
            <a:ext cx="2626614"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50858" y="2103120"/>
            <a:ext cx="2480310"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T4 Deep
ENetV2-S+TTA</a:t>
            </a:r>
          </a:p>
        </p:txBody>
      </p:sp>
      <p:sp>
        <p:nvSpPr>
          <p:cNvPr id="22" name="Rectangle 21"/>
          <p:cNvSpPr/>
          <p:nvPr/>
        </p:nvSpPr>
        <p:spPr>
          <a:xfrm>
            <a:off x="45720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2788920"/>
            <a:ext cx="270891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F97316"/>
                </a:solidFill>
                <a:latin typeface="Calibri"/>
              </a:rPr>
              <a:t>98.22%</a:t>
            </a:r>
          </a:p>
        </p:txBody>
      </p:sp>
      <p:sp>
        <p:nvSpPr>
          <p:cNvPr id="25" name="TextBox 24"/>
          <p:cNvSpPr txBox="1"/>
          <p:nvPr/>
        </p:nvSpPr>
        <p:spPr>
          <a:xfrm>
            <a:off x="45720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Accuracy 9 mệnh giá</a:t>
            </a:r>
          </a:p>
        </p:txBody>
      </p:sp>
      <p:sp>
        <p:nvSpPr>
          <p:cNvPr id="26" name="Rectangle 25"/>
          <p:cNvSpPr/>
          <p:nvPr/>
        </p:nvSpPr>
        <p:spPr>
          <a:xfrm>
            <a:off x="330327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303270" y="2788920"/>
            <a:ext cx="270891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0327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F97316"/>
                </a:solidFill>
                <a:latin typeface="Calibri"/>
              </a:rPr>
              <a:t>≥99.5%</a:t>
            </a:r>
          </a:p>
        </p:txBody>
      </p:sp>
      <p:sp>
        <p:nvSpPr>
          <p:cNvPr id="29" name="TextBox 28"/>
          <p:cNvSpPr txBox="1"/>
          <p:nvPr/>
        </p:nvSpPr>
        <p:spPr>
          <a:xfrm>
            <a:off x="330327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Precision-at-accept</a:t>
            </a:r>
          </a:p>
        </p:txBody>
      </p:sp>
      <p:sp>
        <p:nvSpPr>
          <p:cNvPr id="30" name="Rectangle 29"/>
          <p:cNvSpPr/>
          <p:nvPr/>
        </p:nvSpPr>
        <p:spPr>
          <a:xfrm>
            <a:off x="614934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149340" y="2788920"/>
            <a:ext cx="270891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14934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F97316"/>
                </a:solidFill>
                <a:latin typeface="Calibri"/>
              </a:rPr>
              <a:t>85-90%</a:t>
            </a:r>
          </a:p>
        </p:txBody>
      </p:sp>
      <p:sp>
        <p:nvSpPr>
          <p:cNvPr id="33" name="TextBox 32"/>
          <p:cNvSpPr txBox="1"/>
          <p:nvPr/>
        </p:nvSpPr>
        <p:spPr>
          <a:xfrm>
            <a:off x="614934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Accept rate</a:t>
            </a:r>
          </a:p>
        </p:txBody>
      </p:sp>
      <p:sp>
        <p:nvSpPr>
          <p:cNvPr id="34" name="Rectangle 33"/>
          <p:cNvSpPr/>
          <p:nvPr/>
        </p:nvSpPr>
        <p:spPr>
          <a:xfrm>
            <a:off x="899541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995410" y="2788920"/>
            <a:ext cx="270891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99541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F97316"/>
                </a:solidFill>
                <a:latin typeface="Calibri"/>
              </a:rPr>
              <a:t>~50ms</a:t>
            </a:r>
          </a:p>
        </p:txBody>
      </p:sp>
      <p:sp>
        <p:nvSpPr>
          <p:cNvPr id="37" name="TextBox 36"/>
          <p:cNvSpPr txBox="1"/>
          <p:nvPr/>
        </p:nvSpPr>
        <p:spPr>
          <a:xfrm>
            <a:off x="899541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Latency trung bình</a:t>
            </a:r>
          </a:p>
        </p:txBody>
      </p:sp>
      <p:sp>
        <p:nvSpPr>
          <p:cNvPr id="38" name="TextBox 37"/>
          <p:cNvSpPr txBox="1"/>
          <p:nvPr/>
        </p:nvSpPr>
        <p:spPr>
          <a:xfrm>
            <a:off x="457200" y="3794760"/>
            <a:ext cx="11247120" cy="274320"/>
          </a:xfrm>
          <a:prstGeom prst="rect">
            <a:avLst/>
          </a:prstGeom>
          <a:noFill/>
        </p:spPr>
        <p:txBody>
          <a:bodyPr wrap="square" lIns="50000" tIns="20000" rIns="50000" bIns="20000" anchor="t">
            <a:spAutoFit/>
          </a:bodyPr>
          <a:lstStyle/>
          <a:p>
            <a:pPr algn="l">
              <a:lnSpc>
                <a:spcPct val="120000"/>
              </a:lnSpc>
            </a:pPr>
            <a:r>
              <a:rPr sz="1200" b="1" i="0">
                <a:solidFill>
                  <a:srgbClr val="F97316"/>
                </a:solidFill>
                <a:latin typeface="Calibri"/>
              </a:rPr>
              <a:t>KỸ THUẬT ÁP DỤNG  ·  Vì sao chọn các kỹ thuật này?</a:t>
            </a:r>
          </a:p>
        </p:txBody>
      </p:sp>
      <p:sp>
        <p:nvSpPr>
          <p:cNvPr id="39" name="Rectangle 38"/>
          <p:cNvSpPr/>
          <p:nvPr/>
        </p:nvSpPr>
        <p:spPr>
          <a:xfrm>
            <a:off x="457200" y="411480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57200" y="4114800"/>
            <a:ext cx="36271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 y="422452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F97316"/>
                </a:solidFill>
                <a:latin typeface="Calibri"/>
              </a:rPr>
              <a:t>Cascade 4-tầng</a:t>
            </a:r>
          </a:p>
        </p:txBody>
      </p:sp>
      <p:sp>
        <p:nvSpPr>
          <p:cNvPr id="42" name="TextBox 41"/>
          <p:cNvSpPr txBox="1"/>
          <p:nvPr/>
        </p:nvSpPr>
        <p:spPr>
          <a:xfrm>
            <a:off x="640080" y="453542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Quality → Detector → Color SVM → Deep. 70% dừng ở tầng 3, TB 50ms. Đánh đổi latency vs accuracy.</a:t>
            </a:r>
          </a:p>
        </p:txBody>
      </p:sp>
      <p:sp>
        <p:nvSpPr>
          <p:cNvPr id="43" name="Rectangle 42"/>
          <p:cNvSpPr/>
          <p:nvPr/>
        </p:nvSpPr>
        <p:spPr>
          <a:xfrm>
            <a:off x="4267200" y="411480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267200" y="4114800"/>
            <a:ext cx="36271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50080" y="422452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F97316"/>
                </a:solidFill>
                <a:latin typeface="Calibri"/>
              </a:rPr>
              <a:t>EfficientNetV2-S</a:t>
            </a:r>
          </a:p>
        </p:txBody>
      </p:sp>
      <p:sp>
        <p:nvSpPr>
          <p:cNvPr id="46" name="TextBox 45"/>
          <p:cNvSpPr txBox="1"/>
          <p:nvPr/>
        </p:nvSpPr>
        <p:spPr>
          <a:xfrm>
            <a:off x="4450080" y="453542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Pretrained ImageNet 84%. Fused-MBConv train 4× nhanh hơn V1. Fit GTX 1650 4GB với mixed precision.</a:t>
            </a:r>
          </a:p>
        </p:txBody>
      </p:sp>
      <p:sp>
        <p:nvSpPr>
          <p:cNvPr id="47" name="Rectangle 46"/>
          <p:cNvSpPr/>
          <p:nvPr/>
        </p:nvSpPr>
        <p:spPr>
          <a:xfrm>
            <a:off x="8077200" y="411480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077200" y="4114800"/>
            <a:ext cx="36271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260080" y="422452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F97316"/>
                </a:solidFill>
                <a:latin typeface="Calibri"/>
              </a:rPr>
              <a:t>TTA × 5 biến thể</a:t>
            </a:r>
          </a:p>
        </p:txBody>
      </p:sp>
      <p:sp>
        <p:nvSpPr>
          <p:cNvPr id="50" name="TextBox 49"/>
          <p:cNvSpPr txBox="1"/>
          <p:nvPr/>
        </p:nvSpPr>
        <p:spPr>
          <a:xfrm>
            <a:off x="8260080" y="453542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Predict 5 augmented versions → average softmax. +1-2% accuracy không cần train thêm.</a:t>
            </a:r>
          </a:p>
        </p:txBody>
      </p:sp>
      <p:sp>
        <p:nvSpPr>
          <p:cNvPr id="51" name="Rectangle 50"/>
          <p:cNvSpPr/>
          <p:nvPr/>
        </p:nvSpPr>
        <p:spPr>
          <a:xfrm>
            <a:off x="457200" y="530352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457200" y="5303520"/>
            <a:ext cx="36271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0080" y="541324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F97316"/>
                </a:solidFill>
                <a:latin typeface="Calibri"/>
              </a:rPr>
              <a:t>Rejection Margin-based</a:t>
            </a:r>
          </a:p>
        </p:txBody>
      </p:sp>
      <p:sp>
        <p:nvSpPr>
          <p:cNvPr id="54" name="TextBox 53"/>
          <p:cNvSpPr txBox="1"/>
          <p:nvPr/>
        </p:nvSpPr>
        <p:spPr>
          <a:xfrm>
            <a:off x="640080" y="572414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Top1≥0.92 AND margin≥0.25 → accept. Precision-first cho giao dịch tiền — 'thà từ chối còn hơn sai'.</a:t>
            </a:r>
          </a:p>
        </p:txBody>
      </p:sp>
      <p:sp>
        <p:nvSpPr>
          <p:cNvPr id="55" name="Rectangle 54"/>
          <p:cNvSpPr/>
          <p:nvPr/>
        </p:nvSpPr>
        <p:spPr>
          <a:xfrm>
            <a:off x="4267200" y="530352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267200" y="5303520"/>
            <a:ext cx="36271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450080" y="541324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F97316"/>
                </a:solidFill>
                <a:latin typeface="Calibri"/>
              </a:rPr>
              <a:t>Siamese + OneClass SVM</a:t>
            </a:r>
          </a:p>
        </p:txBody>
      </p:sp>
      <p:sp>
        <p:nvSpPr>
          <p:cNvPr id="58" name="TextBox 57"/>
          <p:cNvSpPr txBox="1"/>
          <p:nvPr/>
        </p:nvSpPr>
        <p:spPr>
          <a:xfrm>
            <a:off x="4450080" y="572414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Bank-grade 3-stage. Siamese verify cặp embedding. OneClass SVM detect anomaly tiền giả/lỗi.</a:t>
            </a:r>
          </a:p>
        </p:txBody>
      </p:sp>
      <p:sp>
        <p:nvSpPr>
          <p:cNvPr id="59" name="Rectangle 58"/>
          <p:cNvSpPr/>
          <p:nvPr/>
        </p:nvSpPr>
        <p:spPr>
          <a:xfrm>
            <a:off x="8077200" y="530352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077200" y="5303520"/>
            <a:ext cx="36271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60080" y="541324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F97316"/>
                </a:solidFill>
                <a:latin typeface="Calibri"/>
              </a:rPr>
              <a:t>Weighted Sampling</a:t>
            </a:r>
          </a:p>
        </p:txBody>
      </p:sp>
      <p:sp>
        <p:nvSpPr>
          <p:cNvPr id="62" name="TextBox 61"/>
          <p:cNvSpPr txBox="1"/>
          <p:nvPr/>
        </p:nvSpPr>
        <p:spPr>
          <a:xfrm>
            <a:off x="8260080" y="572414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Class imbalance 200k:457 vs 1800. Sampler weight 1/count + Albumentations augment realistic.</a:t>
            </a:r>
          </a:p>
        </p:txBody>
      </p:sp>
      <p:sp>
        <p:nvSpPr>
          <p:cNvPr id="63" name="TextBox 62"/>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64" name="TextBox 63"/>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10 / 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8B5CF6"/>
                </a:solidFill>
                <a:latin typeface="Calibri"/>
              </a:rPr>
              <a:t>10</a:t>
            </a:r>
            <a:r>
              <a:rPr sz="1100">
                <a:solidFill>
                  <a:srgbClr val="64748B"/>
                </a:solidFill>
                <a:latin typeface="Calibri"/>
              </a:rPr>
              <a:t>   AI MODULE</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AI #3 — Trợ lý ảo tiếng Việt  ·  RAG-powered</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274320"/>
          </a:xfrm>
          <a:prstGeom prst="rect">
            <a:avLst/>
          </a:prstGeom>
          <a:noFill/>
        </p:spPr>
        <p:txBody>
          <a:bodyPr wrap="square" lIns="50000" tIns="20000" rIns="50000" bIns="20000" anchor="t">
            <a:spAutoFit/>
          </a:bodyPr>
          <a:lstStyle/>
          <a:p>
            <a:pPr algn="l">
              <a:lnSpc>
                <a:spcPct val="120000"/>
              </a:lnSpc>
            </a:pPr>
            <a:r>
              <a:rPr sz="1200" b="1" i="0">
                <a:solidFill>
                  <a:srgbClr val="8B5CF6"/>
                </a:solidFill>
                <a:latin typeface="Calibri"/>
              </a:rPr>
              <a:t>PIPELINE</a:t>
            </a:r>
          </a:p>
        </p:txBody>
      </p:sp>
      <p:sp>
        <p:nvSpPr>
          <p:cNvPr id="7" name="Rectangle 6"/>
          <p:cNvSpPr/>
          <p:nvPr/>
        </p:nvSpPr>
        <p:spPr>
          <a:xfrm>
            <a:off x="457200" y="2011680"/>
            <a:ext cx="2051913"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2011680"/>
            <a:ext cx="2051913"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2103120"/>
            <a:ext cx="1905609"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Preproc
normalize</a:t>
            </a:r>
          </a:p>
        </p:txBody>
      </p:sp>
      <p:sp>
        <p:nvSpPr>
          <p:cNvPr id="10" name="Right Arrow 9"/>
          <p:cNvSpPr/>
          <p:nvPr/>
        </p:nvSpPr>
        <p:spPr>
          <a:xfrm>
            <a:off x="2531973" y="2267712"/>
            <a:ext cx="201168" cy="182880"/>
          </a:xfrm>
          <a:prstGeom prst="right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56001" y="2011680"/>
            <a:ext cx="2051913"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56001" y="2011680"/>
            <a:ext cx="2051913"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29153" y="2103120"/>
            <a:ext cx="1905609"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Intent
16 class</a:t>
            </a:r>
          </a:p>
        </p:txBody>
      </p:sp>
      <p:sp>
        <p:nvSpPr>
          <p:cNvPr id="14" name="Right Arrow 13"/>
          <p:cNvSpPr/>
          <p:nvPr/>
        </p:nvSpPr>
        <p:spPr>
          <a:xfrm>
            <a:off x="4830775" y="2267712"/>
            <a:ext cx="201168" cy="182880"/>
          </a:xfrm>
          <a:prstGeom prst="right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54803" y="2011680"/>
            <a:ext cx="2051913"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54803" y="2011680"/>
            <a:ext cx="2051913"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27955" y="2103120"/>
            <a:ext cx="1905609"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Entity
JSON schema</a:t>
            </a:r>
          </a:p>
        </p:txBody>
      </p:sp>
      <p:sp>
        <p:nvSpPr>
          <p:cNvPr id="18" name="Right Arrow 17"/>
          <p:cNvSpPr/>
          <p:nvPr/>
        </p:nvSpPr>
        <p:spPr>
          <a:xfrm>
            <a:off x="7129576" y="2267712"/>
            <a:ext cx="201168" cy="182880"/>
          </a:xfrm>
          <a:prstGeom prst="right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53604" y="2011680"/>
            <a:ext cx="2051913"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53604" y="2011680"/>
            <a:ext cx="2051913"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26756" y="2103120"/>
            <a:ext cx="1905609"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Action
call API</a:t>
            </a:r>
          </a:p>
        </p:txBody>
      </p:sp>
      <p:sp>
        <p:nvSpPr>
          <p:cNvPr id="22" name="Right Arrow 21"/>
          <p:cNvSpPr/>
          <p:nvPr/>
        </p:nvSpPr>
        <p:spPr>
          <a:xfrm>
            <a:off x="9428378" y="2267712"/>
            <a:ext cx="201168" cy="182880"/>
          </a:xfrm>
          <a:prstGeom prst="rightArrow">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652406" y="2011680"/>
            <a:ext cx="2051913"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652406" y="2011680"/>
            <a:ext cx="2051913" cy="4572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25558" y="2103120"/>
            <a:ext cx="1905609"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Response
format</a:t>
            </a:r>
          </a:p>
        </p:txBody>
      </p:sp>
      <p:sp>
        <p:nvSpPr>
          <p:cNvPr id="26" name="Rectangle 25"/>
          <p:cNvSpPr/>
          <p:nvPr/>
        </p:nvSpPr>
        <p:spPr>
          <a:xfrm>
            <a:off x="45720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2788920"/>
            <a:ext cx="2708910"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8B5CF6"/>
                </a:solidFill>
                <a:latin typeface="Calibri"/>
              </a:rPr>
              <a:t>16</a:t>
            </a:r>
          </a:p>
        </p:txBody>
      </p:sp>
      <p:sp>
        <p:nvSpPr>
          <p:cNvPr id="29" name="TextBox 28"/>
          <p:cNvSpPr txBox="1"/>
          <p:nvPr/>
        </p:nvSpPr>
        <p:spPr>
          <a:xfrm>
            <a:off x="45720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Intents &gt; 93% acc</a:t>
            </a:r>
          </a:p>
        </p:txBody>
      </p:sp>
      <p:sp>
        <p:nvSpPr>
          <p:cNvPr id="30" name="Rectangle 29"/>
          <p:cNvSpPr/>
          <p:nvPr/>
        </p:nvSpPr>
        <p:spPr>
          <a:xfrm>
            <a:off x="330327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303270" y="2788920"/>
            <a:ext cx="2708910"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30327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8B5CF6"/>
                </a:solidFill>
                <a:latin typeface="Calibri"/>
              </a:rPr>
              <a:t>0.8s</a:t>
            </a:r>
          </a:p>
        </p:txBody>
      </p:sp>
      <p:sp>
        <p:nvSpPr>
          <p:cNvPr id="33" name="TextBox 32"/>
          <p:cNvSpPr txBox="1"/>
          <p:nvPr/>
        </p:nvSpPr>
        <p:spPr>
          <a:xfrm>
            <a:off x="330327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Latency/message</a:t>
            </a:r>
          </a:p>
        </p:txBody>
      </p:sp>
      <p:sp>
        <p:nvSpPr>
          <p:cNvPr id="34" name="Rectangle 33"/>
          <p:cNvSpPr/>
          <p:nvPr/>
        </p:nvSpPr>
        <p:spPr>
          <a:xfrm>
            <a:off x="614934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149340" y="2788920"/>
            <a:ext cx="2708910"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14934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8B5CF6"/>
                </a:solidFill>
                <a:latin typeface="Calibri"/>
              </a:rPr>
              <a:t>RAG</a:t>
            </a:r>
          </a:p>
        </p:txBody>
      </p:sp>
      <p:sp>
        <p:nvSpPr>
          <p:cNvPr id="37" name="TextBox 36"/>
          <p:cNvSpPr txBox="1"/>
          <p:nvPr/>
        </p:nvSpPr>
        <p:spPr>
          <a:xfrm>
            <a:off x="614934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Citation từ docs</a:t>
            </a:r>
          </a:p>
        </p:txBody>
      </p:sp>
      <p:sp>
        <p:nvSpPr>
          <p:cNvPr id="38" name="Rectangle 37"/>
          <p:cNvSpPr/>
          <p:nvPr/>
        </p:nvSpPr>
        <p:spPr>
          <a:xfrm>
            <a:off x="899541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995410" y="2788920"/>
            <a:ext cx="2708910"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99541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8B5CF6"/>
                </a:solidFill>
                <a:latin typeface="Calibri"/>
              </a:rPr>
              <a:t>Free</a:t>
            </a:r>
          </a:p>
        </p:txBody>
      </p:sp>
      <p:sp>
        <p:nvSpPr>
          <p:cNvPr id="41" name="TextBox 40"/>
          <p:cNvSpPr txBox="1"/>
          <p:nvPr/>
        </p:nvSpPr>
        <p:spPr>
          <a:xfrm>
            <a:off x="899541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Gemini tier 1500/day</a:t>
            </a:r>
          </a:p>
        </p:txBody>
      </p:sp>
      <p:sp>
        <p:nvSpPr>
          <p:cNvPr id="42" name="TextBox 41"/>
          <p:cNvSpPr txBox="1"/>
          <p:nvPr/>
        </p:nvSpPr>
        <p:spPr>
          <a:xfrm>
            <a:off x="457200" y="3794760"/>
            <a:ext cx="11247120" cy="274320"/>
          </a:xfrm>
          <a:prstGeom prst="rect">
            <a:avLst/>
          </a:prstGeom>
          <a:noFill/>
        </p:spPr>
        <p:txBody>
          <a:bodyPr wrap="square" lIns="50000" tIns="20000" rIns="50000" bIns="20000" anchor="t">
            <a:spAutoFit/>
          </a:bodyPr>
          <a:lstStyle/>
          <a:p>
            <a:pPr algn="l">
              <a:lnSpc>
                <a:spcPct val="120000"/>
              </a:lnSpc>
            </a:pPr>
            <a:r>
              <a:rPr sz="1200" b="1" i="0">
                <a:solidFill>
                  <a:srgbClr val="8B5CF6"/>
                </a:solidFill>
                <a:latin typeface="Calibri"/>
              </a:rPr>
              <a:t>KỸ THUẬT ÁP DỤNG  ·  Vì sao chọn các kỹ thuật này?</a:t>
            </a:r>
          </a:p>
        </p:txBody>
      </p:sp>
      <p:sp>
        <p:nvSpPr>
          <p:cNvPr id="43" name="Rectangle 42"/>
          <p:cNvSpPr/>
          <p:nvPr/>
        </p:nvSpPr>
        <p:spPr>
          <a:xfrm>
            <a:off x="457200" y="411480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57200" y="4114800"/>
            <a:ext cx="3627120"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0080" y="422452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8B5CF6"/>
                </a:solidFill>
                <a:latin typeface="Calibri"/>
              </a:rPr>
              <a:t>DDD 3-Layer</a:t>
            </a:r>
          </a:p>
        </p:txBody>
      </p:sp>
      <p:sp>
        <p:nvSpPr>
          <p:cNvPr id="46" name="TextBox 45"/>
          <p:cNvSpPr txBox="1"/>
          <p:nvPr/>
        </p:nvSpPr>
        <p:spPr>
          <a:xfrm>
            <a:off x="640080" y="453542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Domain · Application · Infrastructure tách rõ. Đổi LLM chỉ sửa Infrastructure, không động Domain.</a:t>
            </a:r>
          </a:p>
        </p:txBody>
      </p:sp>
      <p:sp>
        <p:nvSpPr>
          <p:cNvPr id="47" name="Rectangle 46"/>
          <p:cNvSpPr/>
          <p:nvPr/>
        </p:nvSpPr>
        <p:spPr>
          <a:xfrm>
            <a:off x="4267200" y="411480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67200" y="4114800"/>
            <a:ext cx="3627120"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50080" y="422452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8B5CF6"/>
                </a:solidFill>
                <a:latin typeface="Calibri"/>
              </a:rPr>
              <a:t>Gemini 2.5 Flash</a:t>
            </a:r>
          </a:p>
        </p:txBody>
      </p:sp>
      <p:sp>
        <p:nvSpPr>
          <p:cNvPr id="50" name="TextBox 49"/>
          <p:cNvSpPr txBox="1"/>
          <p:nvPr/>
        </p:nvSpPr>
        <p:spPr>
          <a:xfrm>
            <a:off x="4450080" y="453542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Tiếng Việt tốt · 200× rẻ hơn GPT-4 ($0.15 vs $30/1M tokens) · latency 0.8s · free tier.</a:t>
            </a:r>
          </a:p>
        </p:txBody>
      </p:sp>
      <p:sp>
        <p:nvSpPr>
          <p:cNvPr id="51" name="Rectangle 50"/>
          <p:cNvSpPr/>
          <p:nvPr/>
        </p:nvSpPr>
        <p:spPr>
          <a:xfrm>
            <a:off x="8077200" y="411480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077200" y="4114800"/>
            <a:ext cx="3627120"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260080" y="422452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8B5CF6"/>
                </a:solidFill>
                <a:latin typeface="Calibri"/>
              </a:rPr>
              <a:t>Schema-driven Entity</a:t>
            </a:r>
          </a:p>
        </p:txBody>
      </p:sp>
      <p:sp>
        <p:nvSpPr>
          <p:cNvPr id="54" name="TextBox 53"/>
          <p:cNvSpPr txBox="1"/>
          <p:nvPr/>
        </p:nvSpPr>
        <p:spPr>
          <a:xfrm>
            <a:off x="8260080" y="453542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Mỗi intent có JSON schema riêng. LLM bắt buộc trả structured. Tránh free-text parsing.</a:t>
            </a:r>
          </a:p>
        </p:txBody>
      </p:sp>
      <p:sp>
        <p:nvSpPr>
          <p:cNvPr id="55" name="Rectangle 54"/>
          <p:cNvSpPr/>
          <p:nvPr/>
        </p:nvSpPr>
        <p:spPr>
          <a:xfrm>
            <a:off x="457200" y="530352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57200" y="5303520"/>
            <a:ext cx="3627120"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40080" y="541324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8B5CF6"/>
                </a:solidFill>
                <a:latin typeface="Calibri"/>
              </a:rPr>
              <a:t>Hybrid Confidence</a:t>
            </a:r>
          </a:p>
        </p:txBody>
      </p:sp>
      <p:sp>
        <p:nvSpPr>
          <p:cNvPr id="58" name="TextBox 57"/>
          <p:cNvSpPr txBox="1"/>
          <p:nvPr/>
        </p:nvSpPr>
        <p:spPr>
          <a:xfrm>
            <a:off x="640080" y="572414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0.4×LLM + 0.3×Entity + 0.3×Context. LLM tự tin một mình không đủ — gộp 3 dim chính xác hơn.</a:t>
            </a:r>
          </a:p>
        </p:txBody>
      </p:sp>
      <p:sp>
        <p:nvSpPr>
          <p:cNvPr id="59" name="Rectangle 58"/>
          <p:cNvSpPr/>
          <p:nvPr/>
        </p:nvSpPr>
        <p:spPr>
          <a:xfrm>
            <a:off x="4267200" y="530352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267200" y="5303520"/>
            <a:ext cx="3627120"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450080" y="541324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8B5CF6"/>
                </a:solidFill>
                <a:latin typeface="Calibri"/>
              </a:rPr>
              <a:t>Booking Wizard Multi-turn</a:t>
            </a:r>
          </a:p>
        </p:txBody>
      </p:sp>
      <p:sp>
        <p:nvSpPr>
          <p:cNvPr id="62" name="TextBox 61"/>
          <p:cNvSpPr txBox="1"/>
          <p:nvPr/>
        </p:nvSpPr>
        <p:spPr>
          <a:xfrm>
            <a:off x="4450080" y="572414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State machine 3 bước (vehicle → lot → slot). Redis state TTL 30 phút. 1 câu không đủ.</a:t>
            </a:r>
          </a:p>
        </p:txBody>
      </p:sp>
      <p:sp>
        <p:nvSpPr>
          <p:cNvPr id="63" name="Rectangle 62"/>
          <p:cNvSpPr/>
          <p:nvPr/>
        </p:nvSpPr>
        <p:spPr>
          <a:xfrm>
            <a:off x="8077200" y="530352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8077200" y="5303520"/>
            <a:ext cx="3627120" cy="548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260080" y="541324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8B5CF6"/>
                </a:solidFill>
                <a:latin typeface="Calibri"/>
              </a:rPr>
              <a:t>RAG + ChromaDB</a:t>
            </a:r>
          </a:p>
        </p:txBody>
      </p:sp>
      <p:sp>
        <p:nvSpPr>
          <p:cNvPr id="66" name="TextBox 65"/>
          <p:cNvSpPr txBox="1"/>
          <p:nvPr/>
        </p:nvSpPr>
        <p:spPr>
          <a:xfrm>
            <a:off x="8260080" y="572414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ChromaDB vector store + multilingual embeddings. Top-K=3 cosine ≥ 0.35. FAQ có citation.</a:t>
            </a:r>
          </a:p>
        </p:txBody>
      </p:sp>
      <p:sp>
        <p:nvSpPr>
          <p:cNvPr id="67" name="TextBox 66"/>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68" name="TextBox 67"/>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11 / 23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4B8A6"/>
                </a:solidFill>
                <a:latin typeface="Calibri"/>
              </a:rPr>
              <a:t>11</a:t>
            </a:r>
            <a:r>
              <a:rPr sz="1100">
                <a:solidFill>
                  <a:srgbClr val="64748B"/>
                </a:solidFill>
                <a:latin typeface="Calibri"/>
              </a:rPr>
              <a:t>   AI MODULE</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AI #4 — Nhận diện ô đỗ xe</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274320"/>
          </a:xfrm>
          <a:prstGeom prst="rect">
            <a:avLst/>
          </a:prstGeom>
          <a:noFill/>
        </p:spPr>
        <p:txBody>
          <a:bodyPr wrap="square" lIns="50000" tIns="20000" rIns="50000" bIns="20000" anchor="t">
            <a:spAutoFit/>
          </a:bodyPr>
          <a:lstStyle/>
          <a:p>
            <a:pPr algn="l">
              <a:lnSpc>
                <a:spcPct val="120000"/>
              </a:lnSpc>
            </a:pPr>
            <a:r>
              <a:rPr sz="1200" b="1" i="0">
                <a:solidFill>
                  <a:srgbClr val="14B8A6"/>
                </a:solidFill>
                <a:latin typeface="Calibri"/>
              </a:rPr>
              <a:t>PIPELINE</a:t>
            </a:r>
          </a:p>
        </p:txBody>
      </p:sp>
      <p:sp>
        <p:nvSpPr>
          <p:cNvPr id="7" name="Rectangle 6"/>
          <p:cNvSpPr/>
          <p:nvPr/>
        </p:nvSpPr>
        <p:spPr>
          <a:xfrm>
            <a:off x="457200" y="2011680"/>
            <a:ext cx="2626614"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2011680"/>
            <a:ext cx="2626614"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2103120"/>
            <a:ext cx="2480310"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HSV Mask
viền cam</a:t>
            </a:r>
          </a:p>
        </p:txBody>
      </p:sp>
      <p:sp>
        <p:nvSpPr>
          <p:cNvPr id="10" name="Right Arrow 9"/>
          <p:cNvSpPr/>
          <p:nvPr/>
        </p:nvSpPr>
        <p:spPr>
          <a:xfrm>
            <a:off x="3106674" y="2267712"/>
            <a:ext cx="201168" cy="182880"/>
          </a:xfrm>
          <a:prstGeom prst="rightArrow">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30702" y="2011680"/>
            <a:ext cx="2626614"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30702" y="2011680"/>
            <a:ext cx="2626614"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03854" y="2103120"/>
            <a:ext cx="2480310"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Morphology
CLOSE+DILATE</a:t>
            </a:r>
          </a:p>
        </p:txBody>
      </p:sp>
      <p:sp>
        <p:nvSpPr>
          <p:cNvPr id="14" name="Right Arrow 13"/>
          <p:cNvSpPr/>
          <p:nvPr/>
        </p:nvSpPr>
        <p:spPr>
          <a:xfrm>
            <a:off x="5980176" y="2267712"/>
            <a:ext cx="201168" cy="182880"/>
          </a:xfrm>
          <a:prstGeom prst="rightArrow">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04204" y="2011680"/>
            <a:ext cx="2626614"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04204" y="2011680"/>
            <a:ext cx="2626614"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77356" y="2103120"/>
            <a:ext cx="2480310"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findContours
RETR_CCOMP</a:t>
            </a:r>
          </a:p>
        </p:txBody>
      </p:sp>
      <p:sp>
        <p:nvSpPr>
          <p:cNvPr id="18" name="Right Arrow 17"/>
          <p:cNvSpPr/>
          <p:nvPr/>
        </p:nvSpPr>
        <p:spPr>
          <a:xfrm>
            <a:off x="8853678" y="2267712"/>
            <a:ext cx="201168" cy="182880"/>
          </a:xfrm>
          <a:prstGeom prst="rightArrow">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77706" y="2011680"/>
            <a:ext cx="2626614"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077706" y="2011680"/>
            <a:ext cx="2626614"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50858" y="2103120"/>
            <a:ext cx="2480310" cy="457200"/>
          </a:xfrm>
          <a:prstGeom prst="rect">
            <a:avLst/>
          </a:prstGeom>
          <a:noFill/>
        </p:spPr>
        <p:txBody>
          <a:bodyPr wrap="square" lIns="50000" tIns="20000" rIns="50000" bIns="20000" anchor="ctr">
            <a:spAutoFit/>
          </a:bodyPr>
          <a:lstStyle/>
          <a:p>
            <a:pPr algn="ctr">
              <a:lnSpc>
                <a:spcPct val="115000"/>
              </a:lnSpc>
            </a:pPr>
            <a:r>
              <a:rPr sz="1200" b="1" i="0">
                <a:solidFill>
                  <a:srgbClr val="0F172A"/>
                </a:solidFill>
                <a:latin typeface="Calibri"/>
              </a:rPr>
              <a:t>Classify
HSV patch</a:t>
            </a:r>
          </a:p>
        </p:txBody>
      </p:sp>
      <p:sp>
        <p:nvSpPr>
          <p:cNvPr id="22" name="Rectangle 21"/>
          <p:cNvSpPr/>
          <p:nvPr/>
        </p:nvSpPr>
        <p:spPr>
          <a:xfrm>
            <a:off x="45720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2788920"/>
            <a:ext cx="2708910"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14B8A6"/>
                </a:solidFill>
                <a:latin typeface="Calibri"/>
              </a:rPr>
              <a:t>100%</a:t>
            </a:r>
          </a:p>
        </p:txBody>
      </p:sp>
      <p:sp>
        <p:nvSpPr>
          <p:cNvPr id="25" name="TextBox 24"/>
          <p:cNvSpPr txBox="1"/>
          <p:nvPr/>
        </p:nvSpPr>
        <p:spPr>
          <a:xfrm>
            <a:off x="45720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Bãi trống detect</a:t>
            </a:r>
          </a:p>
        </p:txBody>
      </p:sp>
      <p:sp>
        <p:nvSpPr>
          <p:cNvPr id="26" name="Rectangle 25"/>
          <p:cNvSpPr/>
          <p:nvPr/>
        </p:nvSpPr>
        <p:spPr>
          <a:xfrm>
            <a:off x="330327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303270" y="2788920"/>
            <a:ext cx="2708910"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0327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14B8A6"/>
                </a:solidFill>
                <a:latin typeface="Calibri"/>
              </a:rPr>
              <a:t>86-93%</a:t>
            </a:r>
          </a:p>
        </p:txBody>
      </p:sp>
      <p:sp>
        <p:nvSpPr>
          <p:cNvPr id="29" name="TextBox 28"/>
          <p:cNvSpPr txBox="1"/>
          <p:nvPr/>
        </p:nvSpPr>
        <p:spPr>
          <a:xfrm>
            <a:off x="330327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Bãi đầy detect</a:t>
            </a:r>
          </a:p>
        </p:txBody>
      </p:sp>
      <p:sp>
        <p:nvSpPr>
          <p:cNvPr id="30" name="Rectangle 29"/>
          <p:cNvSpPr/>
          <p:nvPr/>
        </p:nvSpPr>
        <p:spPr>
          <a:xfrm>
            <a:off x="614934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149340" y="2788920"/>
            <a:ext cx="2708910"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14934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14B8A6"/>
                </a:solidFill>
                <a:latin typeface="Calibri"/>
              </a:rPr>
              <a:t>&lt;80ms</a:t>
            </a:r>
          </a:p>
        </p:txBody>
      </p:sp>
      <p:sp>
        <p:nvSpPr>
          <p:cNvPr id="33" name="TextBox 32"/>
          <p:cNvSpPr txBox="1"/>
          <p:nvPr/>
        </p:nvSpPr>
        <p:spPr>
          <a:xfrm>
            <a:off x="614934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Latency/frame</a:t>
            </a:r>
          </a:p>
        </p:txBody>
      </p:sp>
      <p:sp>
        <p:nvSpPr>
          <p:cNvPr id="34" name="Rectangle 33"/>
          <p:cNvSpPr/>
          <p:nvPr/>
        </p:nvSpPr>
        <p:spPr>
          <a:xfrm>
            <a:off x="8995410" y="2788920"/>
            <a:ext cx="270891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995410" y="2788920"/>
            <a:ext cx="2708910"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995410" y="2880360"/>
            <a:ext cx="2708910" cy="538581"/>
          </a:xfrm>
          <a:prstGeom prst="rect">
            <a:avLst/>
          </a:prstGeom>
          <a:noFill/>
        </p:spPr>
        <p:txBody>
          <a:bodyPr wrap="square" lIns="50000" tIns="20000" rIns="50000" bIns="20000" anchor="ctr">
            <a:spAutoFit/>
          </a:bodyPr>
          <a:lstStyle/>
          <a:p>
            <a:pPr algn="ctr">
              <a:lnSpc>
                <a:spcPct val="100000"/>
              </a:lnSpc>
            </a:pPr>
            <a:r>
              <a:rPr sz="4400" b="1" i="0">
                <a:solidFill>
                  <a:srgbClr val="14B8A6"/>
                </a:solidFill>
                <a:latin typeface="Calibri"/>
              </a:rPr>
              <a:t>5 FPS</a:t>
            </a:r>
          </a:p>
        </p:txBody>
      </p:sp>
      <p:sp>
        <p:nvSpPr>
          <p:cNvPr id="37" name="TextBox 36"/>
          <p:cNvSpPr txBox="1"/>
          <p:nvPr/>
        </p:nvSpPr>
        <p:spPr>
          <a:xfrm>
            <a:off x="8995410" y="3418941"/>
            <a:ext cx="2708910" cy="192938"/>
          </a:xfrm>
          <a:prstGeom prst="rect">
            <a:avLst/>
          </a:prstGeom>
          <a:noFill/>
        </p:spPr>
        <p:txBody>
          <a:bodyPr wrap="square" lIns="50000" tIns="20000" rIns="50000" bIns="20000" anchor="ctr">
            <a:spAutoFit/>
          </a:bodyPr>
          <a:lstStyle/>
          <a:p>
            <a:pPr algn="ctr">
              <a:lnSpc>
                <a:spcPct val="110000"/>
              </a:lnSpc>
            </a:pPr>
            <a:r>
              <a:rPr sz="1200" b="0" i="0">
                <a:solidFill>
                  <a:srgbClr val="0F172A"/>
                </a:solidFill>
                <a:latin typeface="Calibri"/>
              </a:rPr>
              <a:t>Realtime dashboard</a:t>
            </a:r>
          </a:p>
        </p:txBody>
      </p:sp>
      <p:sp>
        <p:nvSpPr>
          <p:cNvPr id="38" name="TextBox 37"/>
          <p:cNvSpPr txBox="1"/>
          <p:nvPr/>
        </p:nvSpPr>
        <p:spPr>
          <a:xfrm>
            <a:off x="457200" y="3794760"/>
            <a:ext cx="11247120" cy="274320"/>
          </a:xfrm>
          <a:prstGeom prst="rect">
            <a:avLst/>
          </a:prstGeom>
          <a:noFill/>
        </p:spPr>
        <p:txBody>
          <a:bodyPr wrap="square" lIns="50000" tIns="20000" rIns="50000" bIns="20000" anchor="t">
            <a:spAutoFit/>
          </a:bodyPr>
          <a:lstStyle/>
          <a:p>
            <a:pPr algn="l">
              <a:lnSpc>
                <a:spcPct val="120000"/>
              </a:lnSpc>
            </a:pPr>
            <a:r>
              <a:rPr sz="1200" b="1" i="0">
                <a:solidFill>
                  <a:srgbClr val="14B8A6"/>
                </a:solidFill>
                <a:latin typeface="Calibri"/>
              </a:rPr>
              <a:t>KỸ THUẬT ÁP DỤNG  ·  Vì sao chọn các kỹ thuật này?</a:t>
            </a:r>
          </a:p>
        </p:txBody>
      </p:sp>
      <p:sp>
        <p:nvSpPr>
          <p:cNvPr id="39" name="Rectangle 38"/>
          <p:cNvSpPr/>
          <p:nvPr/>
        </p:nvSpPr>
        <p:spPr>
          <a:xfrm>
            <a:off x="457200" y="411480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57200" y="4114800"/>
            <a:ext cx="3627120"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 y="422452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14B8A6"/>
                </a:solidFill>
                <a:latin typeface="Calibri"/>
              </a:rPr>
              <a:t>Classical CV (không YOLO)</a:t>
            </a:r>
          </a:p>
        </p:txBody>
      </p:sp>
      <p:sp>
        <p:nvSpPr>
          <p:cNvPr id="42" name="TextBox 41"/>
          <p:cNvSpPr txBox="1"/>
          <p:nvPr/>
        </p:nvSpPr>
        <p:spPr>
          <a:xfrm>
            <a:off x="640080" y="453542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Thử YOLO fail vì Unity primitive ≠ COCO. HSV + contour: deterministic, 100% bãi trống.</a:t>
            </a:r>
          </a:p>
        </p:txBody>
      </p:sp>
      <p:sp>
        <p:nvSpPr>
          <p:cNvPr id="43" name="Rectangle 42"/>
          <p:cNvSpPr/>
          <p:nvPr/>
        </p:nvSpPr>
        <p:spPr>
          <a:xfrm>
            <a:off x="4267200" y="411480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267200" y="4114800"/>
            <a:ext cx="3627120"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50080" y="422452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14B8A6"/>
                </a:solidFill>
                <a:latin typeface="Calibri"/>
              </a:rPr>
              <a:t>Morphology CLOSE+DILATE</a:t>
            </a:r>
          </a:p>
        </p:txBody>
      </p:sp>
      <p:sp>
        <p:nvSpPr>
          <p:cNvPr id="46" name="TextBox 45"/>
          <p:cNvSpPr txBox="1"/>
          <p:nvPr/>
        </p:nvSpPr>
        <p:spPr>
          <a:xfrm>
            <a:off x="4450080" y="453542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Anti-alias làm viền slot hở. CLOSE kernel 3×3 + DILATE 1 iter giúp contour khép kín.</a:t>
            </a:r>
          </a:p>
        </p:txBody>
      </p:sp>
      <p:sp>
        <p:nvSpPr>
          <p:cNvPr id="47" name="Rectangle 46"/>
          <p:cNvSpPr/>
          <p:nvPr/>
        </p:nvSpPr>
        <p:spPr>
          <a:xfrm>
            <a:off x="8077200" y="411480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077200" y="4114800"/>
            <a:ext cx="3627120"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260080" y="422452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14B8A6"/>
                </a:solidFill>
                <a:latin typeface="Calibri"/>
              </a:rPr>
              <a:t>findContours RETR_CCOMP</a:t>
            </a:r>
          </a:p>
        </p:txBody>
      </p:sp>
      <p:sp>
        <p:nvSpPr>
          <p:cNvPr id="50" name="TextBox 49"/>
          <p:cNvSpPr txBox="1"/>
          <p:nvPr/>
        </p:nvSpPr>
        <p:spPr>
          <a:xfrm>
            <a:off x="8260080" y="453542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Tìm 'lỗ' bên trong grid cam (mỗi ô = 1 lỗ). CCOMP cho 2-level hierarchy outer+holes — đúng nhất.</a:t>
            </a:r>
          </a:p>
        </p:txBody>
      </p:sp>
      <p:sp>
        <p:nvSpPr>
          <p:cNvPr id="51" name="Rectangle 50"/>
          <p:cNvSpPr/>
          <p:nvPr/>
        </p:nvSpPr>
        <p:spPr>
          <a:xfrm>
            <a:off x="457200" y="530352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457200" y="5303520"/>
            <a:ext cx="3627120"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0080" y="541324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14B8A6"/>
                </a:solidFill>
                <a:latin typeface="Calibri"/>
              </a:rPr>
              <a:t>Status HSV Patch</a:t>
            </a:r>
          </a:p>
        </p:txBody>
      </p:sp>
      <p:sp>
        <p:nvSpPr>
          <p:cNvPr id="54" name="TextBox 53"/>
          <p:cNvSpPr txBox="1"/>
          <p:nvPr/>
        </p:nvSpPr>
        <p:spPr>
          <a:xfrm>
            <a:off x="640080" y="572414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Sample HSV trung tâm 35% ô → phân loại màu. Xe có thể che viền nhưng tâm thường visible.</a:t>
            </a:r>
          </a:p>
        </p:txBody>
      </p:sp>
      <p:sp>
        <p:nvSpPr>
          <p:cNvPr id="55" name="Rectangle 54"/>
          <p:cNvSpPr/>
          <p:nvPr/>
        </p:nvSpPr>
        <p:spPr>
          <a:xfrm>
            <a:off x="4267200" y="530352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267200" y="5303520"/>
            <a:ext cx="3627120"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450080" y="541324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14B8A6"/>
                </a:solidFill>
                <a:latin typeface="Calibri"/>
              </a:rPr>
              <a:t>Row Reconstruction</a:t>
            </a:r>
          </a:p>
        </p:txBody>
      </p:sp>
      <p:sp>
        <p:nvSpPr>
          <p:cNvPr id="58" name="TextBox 57"/>
          <p:cNvSpPr txBox="1"/>
          <p:nvPr/>
        </p:nvSpPr>
        <p:spPr>
          <a:xfrm>
            <a:off x="4450080" y="572414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Xe to che viền giữa 2 ô → mất 2 ô. Cluster theo Y, interpolate slot bị che.</a:t>
            </a:r>
          </a:p>
        </p:txBody>
      </p:sp>
      <p:sp>
        <p:nvSpPr>
          <p:cNvPr id="59" name="Rectangle 58"/>
          <p:cNvSpPr/>
          <p:nvPr/>
        </p:nvSpPr>
        <p:spPr>
          <a:xfrm>
            <a:off x="8077200" y="5303520"/>
            <a:ext cx="3627120" cy="1097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077200" y="5303520"/>
            <a:ext cx="3627120"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60080" y="5413248"/>
            <a:ext cx="3352800" cy="292608"/>
          </a:xfrm>
          <a:prstGeom prst="rect">
            <a:avLst/>
          </a:prstGeom>
          <a:noFill/>
        </p:spPr>
        <p:txBody>
          <a:bodyPr wrap="square" lIns="50000" tIns="20000" rIns="50000" bIns="20000" anchor="t">
            <a:spAutoFit/>
          </a:bodyPr>
          <a:lstStyle/>
          <a:p>
            <a:pPr algn="l">
              <a:lnSpc>
                <a:spcPct val="120000"/>
              </a:lnSpc>
            </a:pPr>
            <a:r>
              <a:rPr sz="1300" b="1" i="0">
                <a:solidFill>
                  <a:srgbClr val="14B8A6"/>
                </a:solidFill>
                <a:latin typeface="Calibri"/>
              </a:rPr>
              <a:t>Best-Grid Cache</a:t>
            </a:r>
          </a:p>
        </p:txBody>
      </p:sp>
      <p:sp>
        <p:nvSpPr>
          <p:cNvPr id="62" name="TextBox 61"/>
          <p:cNvSpPr txBox="1"/>
          <p:nvPr/>
        </p:nvSpPr>
        <p:spPr>
          <a:xfrm>
            <a:off x="8260080" y="5724144"/>
            <a:ext cx="3352800" cy="621792"/>
          </a:xfrm>
          <a:prstGeom prst="rect">
            <a:avLst/>
          </a:prstGeom>
          <a:noFill/>
        </p:spPr>
        <p:txBody>
          <a:bodyPr wrap="square" lIns="50000" tIns="20000" rIns="50000" bIns="20000" anchor="t">
            <a:spAutoFit/>
          </a:bodyPr>
          <a:lstStyle/>
          <a:p>
            <a:pPr algn="l">
              <a:lnSpc>
                <a:spcPct val="130000"/>
              </a:lnSpc>
            </a:pPr>
            <a:r>
              <a:rPr sz="1100" b="0" i="0">
                <a:solidFill>
                  <a:srgbClr val="334155"/>
                </a:solidFill>
                <a:latin typeface="Calibri"/>
              </a:rPr>
              <a:t>Memo grid lớn nhất từng detect. Frame kém → fallback cache. Stability 86-93% bãi đầy.</a:t>
            </a:r>
          </a:p>
        </p:txBody>
      </p:sp>
      <p:sp>
        <p:nvSpPr>
          <p:cNvPr id="63" name="TextBox 62"/>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64" name="TextBox 63"/>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12 / 23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0B981"/>
                </a:solidFill>
                <a:latin typeface="Calibri"/>
              </a:rPr>
              <a:t>12</a:t>
            </a:r>
            <a:r>
              <a:rPr sz="1100">
                <a:solidFill>
                  <a:srgbClr val="64748B"/>
                </a:solidFill>
                <a:latin typeface="Calibri"/>
              </a:rPr>
              <a:t>   KẾT QUẢ THỰC NGHIỆM</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AI hoạt động trên dữ liệu thật</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194560"/>
            <a:ext cx="4937760" cy="8686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194560"/>
            <a:ext cx="109728" cy="86868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286000"/>
            <a:ext cx="2286000" cy="365760"/>
          </a:xfrm>
          <a:prstGeom prst="rect">
            <a:avLst/>
          </a:prstGeom>
          <a:noFill/>
        </p:spPr>
        <p:txBody>
          <a:bodyPr wrap="square" lIns="50000" tIns="20000" rIns="50000" bIns="20000" anchor="t">
            <a:spAutoFit/>
          </a:bodyPr>
          <a:lstStyle/>
          <a:p>
            <a:pPr algn="l">
              <a:lnSpc>
                <a:spcPct val="120000"/>
              </a:lnSpc>
            </a:pPr>
            <a:r>
              <a:rPr sz="1600" b="1" i="0">
                <a:solidFill>
                  <a:srgbClr val="1E40AF"/>
                </a:solidFill>
                <a:latin typeface="Calibri"/>
              </a:rPr>
              <a:t>Plate OCR</a:t>
            </a:r>
          </a:p>
        </p:txBody>
      </p:sp>
      <p:sp>
        <p:nvSpPr>
          <p:cNvPr id="9" name="TextBox 8"/>
          <p:cNvSpPr txBox="1"/>
          <p:nvPr/>
        </p:nvSpPr>
        <p:spPr>
          <a:xfrm>
            <a:off x="640080" y="2651760"/>
            <a:ext cx="2286000" cy="457200"/>
          </a:xfrm>
          <a:prstGeom prst="rect">
            <a:avLst/>
          </a:prstGeom>
          <a:noFill/>
        </p:spPr>
        <p:txBody>
          <a:bodyPr wrap="square" lIns="50000" tIns="20000" rIns="50000" bIns="20000" anchor="t">
            <a:spAutoFit/>
          </a:bodyPr>
          <a:lstStyle/>
          <a:p>
            <a:pPr algn="l">
              <a:lnSpc>
                <a:spcPct val="120000"/>
              </a:lnSpc>
            </a:pPr>
            <a:r>
              <a:rPr sz="1100" b="0" i="1">
                <a:solidFill>
                  <a:srgbClr val="64748B"/>
                </a:solidFill>
                <a:latin typeface="Calibri"/>
              </a:rPr>
              <a:t>Test 500 ảnh biển VN</a:t>
            </a:r>
          </a:p>
        </p:txBody>
      </p:sp>
      <p:sp>
        <p:nvSpPr>
          <p:cNvPr id="10" name="TextBox 9"/>
          <p:cNvSpPr txBox="1"/>
          <p:nvPr/>
        </p:nvSpPr>
        <p:spPr>
          <a:xfrm>
            <a:off x="3200400" y="2240280"/>
            <a:ext cx="1828800" cy="548640"/>
          </a:xfrm>
          <a:prstGeom prst="rect">
            <a:avLst/>
          </a:prstGeom>
          <a:noFill/>
        </p:spPr>
        <p:txBody>
          <a:bodyPr wrap="square" lIns="50000" tIns="20000" rIns="50000" bIns="20000" anchor="ctr">
            <a:spAutoFit/>
          </a:bodyPr>
          <a:lstStyle/>
          <a:p>
            <a:pPr algn="l">
              <a:lnSpc>
                <a:spcPct val="120000"/>
              </a:lnSpc>
            </a:pPr>
            <a:r>
              <a:rPr sz="3200" b="1" i="0">
                <a:solidFill>
                  <a:srgbClr val="1E40AF"/>
                </a:solidFill>
                <a:latin typeface="Calibri"/>
              </a:rPr>
              <a:t>94.5%</a:t>
            </a:r>
          </a:p>
        </p:txBody>
      </p:sp>
      <p:sp>
        <p:nvSpPr>
          <p:cNvPr id="11" name="TextBox 10"/>
          <p:cNvSpPr txBox="1"/>
          <p:nvPr/>
        </p:nvSpPr>
        <p:spPr>
          <a:xfrm>
            <a:off x="3200400" y="2788920"/>
            <a:ext cx="1828800" cy="320040"/>
          </a:xfrm>
          <a:prstGeom prst="rect">
            <a:avLst/>
          </a:prstGeom>
          <a:noFill/>
        </p:spPr>
        <p:txBody>
          <a:bodyPr wrap="square" lIns="50000" tIns="20000" rIns="50000" bIns="20000" anchor="t">
            <a:spAutoFit/>
          </a:bodyPr>
          <a:lstStyle/>
          <a:p>
            <a:pPr algn="l">
              <a:lnSpc>
                <a:spcPct val="120000"/>
              </a:lnSpc>
            </a:pPr>
            <a:r>
              <a:rPr sz="1100" b="0" i="1">
                <a:solidFill>
                  <a:srgbClr val="334155"/>
                </a:solidFill>
                <a:latin typeface="Calibri"/>
              </a:rPr>
              <a:t>End-to-end accuracy</a:t>
            </a:r>
          </a:p>
        </p:txBody>
      </p:sp>
      <p:sp>
        <p:nvSpPr>
          <p:cNvPr id="12" name="Rectangle 11"/>
          <p:cNvSpPr/>
          <p:nvPr/>
        </p:nvSpPr>
        <p:spPr>
          <a:xfrm>
            <a:off x="457200" y="3154680"/>
            <a:ext cx="4937760" cy="8686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3154680"/>
            <a:ext cx="109728" cy="86868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3246120"/>
            <a:ext cx="2286000" cy="365760"/>
          </a:xfrm>
          <a:prstGeom prst="rect">
            <a:avLst/>
          </a:prstGeom>
          <a:noFill/>
        </p:spPr>
        <p:txBody>
          <a:bodyPr wrap="square" lIns="50000" tIns="20000" rIns="50000" bIns="20000" anchor="t">
            <a:spAutoFit/>
          </a:bodyPr>
          <a:lstStyle/>
          <a:p>
            <a:pPr algn="l">
              <a:lnSpc>
                <a:spcPct val="120000"/>
              </a:lnSpc>
            </a:pPr>
            <a:r>
              <a:rPr sz="1600" b="1" i="0">
                <a:solidFill>
                  <a:srgbClr val="F97316"/>
                </a:solidFill>
                <a:latin typeface="Calibri"/>
              </a:rPr>
              <a:t>Banknote</a:t>
            </a:r>
          </a:p>
        </p:txBody>
      </p:sp>
      <p:sp>
        <p:nvSpPr>
          <p:cNvPr id="15" name="TextBox 14"/>
          <p:cNvSpPr txBox="1"/>
          <p:nvPr/>
        </p:nvSpPr>
        <p:spPr>
          <a:xfrm>
            <a:off x="640080" y="3611880"/>
            <a:ext cx="2286000" cy="457200"/>
          </a:xfrm>
          <a:prstGeom prst="rect">
            <a:avLst/>
          </a:prstGeom>
          <a:noFill/>
        </p:spPr>
        <p:txBody>
          <a:bodyPr wrap="square" lIns="50000" tIns="20000" rIns="50000" bIns="20000" anchor="t">
            <a:spAutoFit/>
          </a:bodyPr>
          <a:lstStyle/>
          <a:p>
            <a:pPr algn="l">
              <a:lnSpc>
                <a:spcPct val="120000"/>
              </a:lnSpc>
            </a:pPr>
            <a:r>
              <a:rPr sz="1100" b="0" i="1">
                <a:solidFill>
                  <a:srgbClr val="64748B"/>
                </a:solidFill>
                <a:latin typeface="Calibri"/>
              </a:rPr>
              <a:t>Test 1500 ảnh holdout</a:t>
            </a:r>
          </a:p>
        </p:txBody>
      </p:sp>
      <p:sp>
        <p:nvSpPr>
          <p:cNvPr id="16" name="TextBox 15"/>
          <p:cNvSpPr txBox="1"/>
          <p:nvPr/>
        </p:nvSpPr>
        <p:spPr>
          <a:xfrm>
            <a:off x="3200400" y="3200400"/>
            <a:ext cx="1828800" cy="548640"/>
          </a:xfrm>
          <a:prstGeom prst="rect">
            <a:avLst/>
          </a:prstGeom>
          <a:noFill/>
        </p:spPr>
        <p:txBody>
          <a:bodyPr wrap="square" lIns="50000" tIns="20000" rIns="50000" bIns="20000" anchor="ctr">
            <a:spAutoFit/>
          </a:bodyPr>
          <a:lstStyle/>
          <a:p>
            <a:pPr algn="l">
              <a:lnSpc>
                <a:spcPct val="120000"/>
              </a:lnSpc>
            </a:pPr>
            <a:r>
              <a:rPr sz="3200" b="1" i="0">
                <a:solidFill>
                  <a:srgbClr val="F97316"/>
                </a:solidFill>
                <a:latin typeface="Calibri"/>
              </a:rPr>
              <a:t>98.22%</a:t>
            </a:r>
          </a:p>
        </p:txBody>
      </p:sp>
      <p:sp>
        <p:nvSpPr>
          <p:cNvPr id="17" name="TextBox 16"/>
          <p:cNvSpPr txBox="1"/>
          <p:nvPr/>
        </p:nvSpPr>
        <p:spPr>
          <a:xfrm>
            <a:off x="3200400" y="3749040"/>
            <a:ext cx="1828800" cy="320040"/>
          </a:xfrm>
          <a:prstGeom prst="rect">
            <a:avLst/>
          </a:prstGeom>
          <a:noFill/>
        </p:spPr>
        <p:txBody>
          <a:bodyPr wrap="square" lIns="50000" tIns="20000" rIns="50000" bIns="20000" anchor="t">
            <a:spAutoFit/>
          </a:bodyPr>
          <a:lstStyle/>
          <a:p>
            <a:pPr algn="l">
              <a:lnSpc>
                <a:spcPct val="120000"/>
              </a:lnSpc>
            </a:pPr>
            <a:r>
              <a:rPr sz="1100" b="0" i="1">
                <a:solidFill>
                  <a:srgbClr val="334155"/>
                </a:solidFill>
                <a:latin typeface="Calibri"/>
              </a:rPr>
              <a:t>9 mệnh giá VN</a:t>
            </a:r>
          </a:p>
        </p:txBody>
      </p:sp>
      <p:sp>
        <p:nvSpPr>
          <p:cNvPr id="18" name="Rectangle 17"/>
          <p:cNvSpPr/>
          <p:nvPr/>
        </p:nvSpPr>
        <p:spPr>
          <a:xfrm>
            <a:off x="457200" y="4114800"/>
            <a:ext cx="4937760" cy="8686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4114800"/>
            <a:ext cx="109728" cy="86868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4206240"/>
            <a:ext cx="2286000" cy="365760"/>
          </a:xfrm>
          <a:prstGeom prst="rect">
            <a:avLst/>
          </a:prstGeom>
          <a:noFill/>
        </p:spPr>
        <p:txBody>
          <a:bodyPr wrap="square" lIns="50000" tIns="20000" rIns="50000" bIns="20000" anchor="t">
            <a:spAutoFit/>
          </a:bodyPr>
          <a:lstStyle/>
          <a:p>
            <a:pPr algn="l">
              <a:lnSpc>
                <a:spcPct val="120000"/>
              </a:lnSpc>
            </a:pPr>
            <a:r>
              <a:rPr sz="1600" b="1" i="0">
                <a:solidFill>
                  <a:srgbClr val="14B8A6"/>
                </a:solidFill>
                <a:latin typeface="Calibri"/>
              </a:rPr>
              <a:t>Slot Detection</a:t>
            </a:r>
          </a:p>
        </p:txBody>
      </p:sp>
      <p:sp>
        <p:nvSpPr>
          <p:cNvPr id="21" name="TextBox 20"/>
          <p:cNvSpPr txBox="1"/>
          <p:nvPr/>
        </p:nvSpPr>
        <p:spPr>
          <a:xfrm>
            <a:off x="640080" y="4572000"/>
            <a:ext cx="2286000" cy="457200"/>
          </a:xfrm>
          <a:prstGeom prst="rect">
            <a:avLst/>
          </a:prstGeom>
          <a:noFill/>
        </p:spPr>
        <p:txBody>
          <a:bodyPr wrap="square" lIns="50000" tIns="20000" rIns="50000" bIns="20000" anchor="t">
            <a:spAutoFit/>
          </a:bodyPr>
          <a:lstStyle/>
          <a:p>
            <a:pPr algn="l">
              <a:lnSpc>
                <a:spcPct val="120000"/>
              </a:lnSpc>
            </a:pPr>
            <a:r>
              <a:rPr sz="1100" b="0" i="1">
                <a:solidFill>
                  <a:srgbClr val="64748B"/>
                </a:solidFill>
                <a:latin typeface="Calibri"/>
              </a:rPr>
              <a:t>Test Unity scenes</a:t>
            </a:r>
          </a:p>
        </p:txBody>
      </p:sp>
      <p:sp>
        <p:nvSpPr>
          <p:cNvPr id="22" name="TextBox 21"/>
          <p:cNvSpPr txBox="1"/>
          <p:nvPr/>
        </p:nvSpPr>
        <p:spPr>
          <a:xfrm>
            <a:off x="3200400" y="4160520"/>
            <a:ext cx="1828800" cy="548640"/>
          </a:xfrm>
          <a:prstGeom prst="rect">
            <a:avLst/>
          </a:prstGeom>
          <a:noFill/>
        </p:spPr>
        <p:txBody>
          <a:bodyPr wrap="square" lIns="50000" tIns="20000" rIns="50000" bIns="20000" anchor="ctr">
            <a:spAutoFit/>
          </a:bodyPr>
          <a:lstStyle/>
          <a:p>
            <a:pPr algn="l">
              <a:lnSpc>
                <a:spcPct val="120000"/>
              </a:lnSpc>
            </a:pPr>
            <a:r>
              <a:rPr sz="3200" b="1" i="0">
                <a:solidFill>
                  <a:srgbClr val="14B8A6"/>
                </a:solidFill>
                <a:latin typeface="Calibri"/>
              </a:rPr>
              <a:t>86-100%</a:t>
            </a:r>
          </a:p>
        </p:txBody>
      </p:sp>
      <p:sp>
        <p:nvSpPr>
          <p:cNvPr id="23" name="TextBox 22"/>
          <p:cNvSpPr txBox="1"/>
          <p:nvPr/>
        </p:nvSpPr>
        <p:spPr>
          <a:xfrm>
            <a:off x="3200400" y="4709160"/>
            <a:ext cx="1828800" cy="320040"/>
          </a:xfrm>
          <a:prstGeom prst="rect">
            <a:avLst/>
          </a:prstGeom>
          <a:noFill/>
        </p:spPr>
        <p:txBody>
          <a:bodyPr wrap="square" lIns="50000" tIns="20000" rIns="50000" bIns="20000" anchor="t">
            <a:spAutoFit/>
          </a:bodyPr>
          <a:lstStyle/>
          <a:p>
            <a:pPr algn="l">
              <a:lnSpc>
                <a:spcPct val="120000"/>
              </a:lnSpc>
            </a:pPr>
            <a:r>
              <a:rPr sz="1100" b="0" i="1">
                <a:solidFill>
                  <a:srgbClr val="334155"/>
                </a:solidFill>
                <a:latin typeface="Calibri"/>
              </a:rPr>
              <a:t>Theo occupancy</a:t>
            </a:r>
          </a:p>
        </p:txBody>
      </p:sp>
      <p:sp>
        <p:nvSpPr>
          <p:cNvPr id="24" name="Rectangle 23"/>
          <p:cNvSpPr/>
          <p:nvPr/>
        </p:nvSpPr>
        <p:spPr>
          <a:xfrm>
            <a:off x="457200" y="5074920"/>
            <a:ext cx="4937760" cy="8686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5074920"/>
            <a:ext cx="109728" cy="86868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5166360"/>
            <a:ext cx="2286000" cy="365760"/>
          </a:xfrm>
          <a:prstGeom prst="rect">
            <a:avLst/>
          </a:prstGeom>
          <a:noFill/>
        </p:spPr>
        <p:txBody>
          <a:bodyPr wrap="square" lIns="50000" tIns="20000" rIns="50000" bIns="20000" anchor="t">
            <a:spAutoFit/>
          </a:bodyPr>
          <a:lstStyle/>
          <a:p>
            <a:pPr algn="l">
              <a:lnSpc>
                <a:spcPct val="120000"/>
              </a:lnSpc>
            </a:pPr>
            <a:r>
              <a:rPr sz="1600" b="1" i="0">
                <a:solidFill>
                  <a:srgbClr val="8B5CF6"/>
                </a:solidFill>
                <a:latin typeface="Calibri"/>
              </a:rPr>
              <a:t>Chatbot</a:t>
            </a:r>
          </a:p>
        </p:txBody>
      </p:sp>
      <p:sp>
        <p:nvSpPr>
          <p:cNvPr id="27" name="TextBox 26"/>
          <p:cNvSpPr txBox="1"/>
          <p:nvPr/>
        </p:nvSpPr>
        <p:spPr>
          <a:xfrm>
            <a:off x="640080" y="5532120"/>
            <a:ext cx="2286000" cy="457200"/>
          </a:xfrm>
          <a:prstGeom prst="rect">
            <a:avLst/>
          </a:prstGeom>
          <a:noFill/>
        </p:spPr>
        <p:txBody>
          <a:bodyPr wrap="square" lIns="50000" tIns="20000" rIns="50000" bIns="20000" anchor="t">
            <a:spAutoFit/>
          </a:bodyPr>
          <a:lstStyle/>
          <a:p>
            <a:pPr algn="l">
              <a:lnSpc>
                <a:spcPct val="120000"/>
              </a:lnSpc>
            </a:pPr>
            <a:r>
              <a:rPr sz="1100" b="0" i="1">
                <a:solidFill>
                  <a:srgbClr val="64748B"/>
                </a:solidFill>
                <a:latin typeface="Calibri"/>
              </a:rPr>
              <a:t>16 intents × 50 câu</a:t>
            </a:r>
          </a:p>
        </p:txBody>
      </p:sp>
      <p:sp>
        <p:nvSpPr>
          <p:cNvPr id="28" name="TextBox 27"/>
          <p:cNvSpPr txBox="1"/>
          <p:nvPr/>
        </p:nvSpPr>
        <p:spPr>
          <a:xfrm>
            <a:off x="3200400" y="5120640"/>
            <a:ext cx="1828800" cy="548640"/>
          </a:xfrm>
          <a:prstGeom prst="rect">
            <a:avLst/>
          </a:prstGeom>
          <a:noFill/>
        </p:spPr>
        <p:txBody>
          <a:bodyPr wrap="square" lIns="50000" tIns="20000" rIns="50000" bIns="20000" anchor="ctr">
            <a:spAutoFit/>
          </a:bodyPr>
          <a:lstStyle/>
          <a:p>
            <a:pPr algn="l">
              <a:lnSpc>
                <a:spcPct val="120000"/>
              </a:lnSpc>
            </a:pPr>
            <a:r>
              <a:rPr sz="3200" b="1" i="0">
                <a:solidFill>
                  <a:srgbClr val="8B5CF6"/>
                </a:solidFill>
                <a:latin typeface="Calibri"/>
              </a:rPr>
              <a:t>&gt;93%</a:t>
            </a:r>
          </a:p>
        </p:txBody>
      </p:sp>
      <p:sp>
        <p:nvSpPr>
          <p:cNvPr id="29" name="TextBox 28"/>
          <p:cNvSpPr txBox="1"/>
          <p:nvPr/>
        </p:nvSpPr>
        <p:spPr>
          <a:xfrm>
            <a:off x="3200400" y="5669280"/>
            <a:ext cx="1828800" cy="320040"/>
          </a:xfrm>
          <a:prstGeom prst="rect">
            <a:avLst/>
          </a:prstGeom>
          <a:noFill/>
        </p:spPr>
        <p:txBody>
          <a:bodyPr wrap="square" lIns="50000" tIns="20000" rIns="50000" bIns="20000" anchor="t">
            <a:spAutoFit/>
          </a:bodyPr>
          <a:lstStyle/>
          <a:p>
            <a:pPr algn="l">
              <a:lnSpc>
                <a:spcPct val="120000"/>
              </a:lnSpc>
            </a:pPr>
            <a:r>
              <a:rPr sz="1100" b="0" i="1">
                <a:solidFill>
                  <a:srgbClr val="334155"/>
                </a:solidFill>
                <a:latin typeface="Calibri"/>
              </a:rPr>
              <a:t>Intent accuracy</a:t>
            </a:r>
          </a:p>
        </p:txBody>
      </p:sp>
      <p:sp>
        <p:nvSpPr>
          <p:cNvPr id="30" name="TextBox 29"/>
          <p:cNvSpPr txBox="1"/>
          <p:nvPr/>
        </p:nvSpPr>
        <p:spPr>
          <a:xfrm>
            <a:off x="6858000" y="2194560"/>
            <a:ext cx="4846320" cy="320040"/>
          </a:xfrm>
          <a:prstGeom prst="rect">
            <a:avLst/>
          </a:prstGeom>
          <a:noFill/>
        </p:spPr>
        <p:txBody>
          <a:bodyPr wrap="square" lIns="50000" tIns="20000" rIns="50000" bIns="20000" anchor="t">
            <a:spAutoFit/>
          </a:bodyPr>
          <a:lstStyle/>
          <a:p>
            <a:pPr algn="ctr">
              <a:lnSpc>
                <a:spcPct val="120000"/>
              </a:lnSpc>
            </a:pPr>
            <a:r>
              <a:rPr sz="1200" b="1" i="0">
                <a:solidFill>
                  <a:srgbClr val="F97316"/>
                </a:solidFill>
                <a:latin typeface="Calibri"/>
              </a:rPr>
              <a:t>CONFUSION MATRIX BANKNOTE</a:t>
            </a:r>
          </a:p>
        </p:txBody>
      </p:sp>
      <p:pic>
        <p:nvPicPr>
          <p:cNvPr id="31" name="Picture 30" descr="09-banknote-confusion-matrix.png"/>
          <p:cNvPicPr>
            <a:picLocks noChangeAspect="1"/>
          </p:cNvPicPr>
          <p:nvPr/>
        </p:nvPicPr>
        <p:blipFill>
          <a:blip r:embed="rId4"/>
          <a:stretch>
            <a:fillRect/>
          </a:stretch>
        </p:blipFill>
        <p:spPr>
          <a:xfrm>
            <a:off x="6858000" y="2560320"/>
            <a:ext cx="4846320" cy="3769360"/>
          </a:xfrm>
          <a:prstGeom prst="rect">
            <a:avLst/>
          </a:prstGeom>
        </p:spPr>
      </p:pic>
      <p:sp>
        <p:nvSpPr>
          <p:cNvPr id="32" name="Rectangle 31"/>
          <p:cNvSpPr/>
          <p:nvPr/>
        </p:nvSpPr>
        <p:spPr>
          <a:xfrm>
            <a:off x="457200" y="5989320"/>
            <a:ext cx="11247120" cy="365760"/>
          </a:xfrm>
          <a:prstGeom prst="rect">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 y="5989320"/>
            <a:ext cx="11247120" cy="365760"/>
          </a:xfrm>
          <a:prstGeom prst="rect">
            <a:avLst/>
          </a:prstGeom>
          <a:noFill/>
        </p:spPr>
        <p:txBody>
          <a:bodyPr wrap="square" lIns="50000" tIns="20000" rIns="50000" bIns="20000" anchor="ctr">
            <a:spAutoFit/>
          </a:bodyPr>
          <a:lstStyle/>
          <a:p>
            <a:pPr algn="ctr">
              <a:lnSpc>
                <a:spcPct val="120000"/>
              </a:lnSpc>
            </a:pPr>
            <a:r>
              <a:rPr sz="1200" b="1" i="0">
                <a:solidFill>
                  <a:srgbClr val="10B981"/>
                </a:solidFill>
                <a:latin typeface="Calibri"/>
              </a:rPr>
              <a:t>Train/Val/Test 70/15/15  ·  Holdout test set  ·  Cross-validation  ·  So sánh với baseline</a:t>
            </a:r>
          </a:p>
        </p:txBody>
      </p:sp>
      <p:sp>
        <p:nvSpPr>
          <p:cNvPr id="34" name="TextBox 33"/>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35" name="TextBox 34"/>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13 / 23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4B8A6"/>
                </a:solidFill>
                <a:latin typeface="Calibri"/>
              </a:rPr>
              <a:t>13</a:t>
            </a:r>
            <a:r>
              <a:rPr sz="1100">
                <a:solidFill>
                  <a:srgbClr val="64748B"/>
                </a:solidFill>
                <a:latin typeface="Calibri"/>
              </a:rPr>
              <a:t>   IOT HARDWARE</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4 ESP32 Edge Devices  +  BOM ~26.5 triệu (chi phí thực tế)</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194560"/>
            <a:ext cx="3520440" cy="16916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194560"/>
            <a:ext cx="3520440" cy="4572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258568"/>
            <a:ext cx="3246120" cy="365760"/>
          </a:xfrm>
          <a:prstGeom prst="rect">
            <a:avLst/>
          </a:prstGeom>
          <a:noFill/>
        </p:spPr>
        <p:txBody>
          <a:bodyPr wrap="square" lIns="50000" tIns="20000" rIns="50000" bIns="20000" anchor="ctr">
            <a:spAutoFit/>
          </a:bodyPr>
          <a:lstStyle/>
          <a:p>
            <a:pPr algn="l">
              <a:lnSpc>
                <a:spcPct val="120000"/>
              </a:lnSpc>
            </a:pPr>
            <a:r>
              <a:rPr sz="1400" b="1" i="0">
                <a:solidFill>
                  <a:srgbClr val="FFFFFF"/>
                </a:solidFill>
                <a:latin typeface="Consolas"/>
              </a:rPr>
              <a:t>GATE-IN-01</a:t>
            </a:r>
          </a:p>
        </p:txBody>
      </p:sp>
      <p:sp>
        <p:nvSpPr>
          <p:cNvPr id="9" name="TextBox 8"/>
          <p:cNvSpPr txBox="1"/>
          <p:nvPr/>
        </p:nvSpPr>
        <p:spPr>
          <a:xfrm>
            <a:off x="685800" y="2788920"/>
            <a:ext cx="3154680" cy="365760"/>
          </a:xfrm>
          <a:prstGeom prst="rect">
            <a:avLst/>
          </a:prstGeom>
          <a:noFill/>
        </p:spPr>
        <p:txBody>
          <a:bodyPr wrap="square" lIns="50000" tIns="20000" rIns="50000" bIns="20000" anchor="t">
            <a:spAutoFit/>
          </a:bodyPr>
          <a:lstStyle/>
          <a:p>
            <a:pPr algn="l">
              <a:lnSpc>
                <a:spcPct val="120000"/>
              </a:lnSpc>
            </a:pPr>
            <a:r>
              <a:rPr sz="1800" b="1" i="0">
                <a:solidFill>
                  <a:srgbClr val="0F172A"/>
                </a:solidFill>
                <a:latin typeface="Calibri"/>
              </a:rPr>
              <a:t>Cổng vào</a:t>
            </a:r>
          </a:p>
        </p:txBody>
      </p:sp>
      <p:sp>
        <p:nvSpPr>
          <p:cNvPr id="10" name="TextBox 9"/>
          <p:cNvSpPr txBox="1"/>
          <p:nvPr/>
        </p:nvSpPr>
        <p:spPr>
          <a:xfrm>
            <a:off x="685800" y="3200400"/>
            <a:ext cx="3154680" cy="640080"/>
          </a:xfrm>
          <a:prstGeom prst="rect">
            <a:avLst/>
          </a:prstGeom>
          <a:noFill/>
        </p:spPr>
        <p:txBody>
          <a:bodyPr wrap="square" lIns="50000" tIns="20000" rIns="50000" bIns="20000" anchor="t">
            <a:spAutoFit/>
          </a:bodyPr>
          <a:lstStyle/>
          <a:p>
            <a:pPr algn="l">
              <a:lnSpc>
                <a:spcPct val="140000"/>
              </a:lnSpc>
            </a:pPr>
            <a:r>
              <a:rPr sz="1300" b="0" i="0">
                <a:solidFill>
                  <a:srgbClr val="334155"/>
                </a:solidFill>
                <a:latin typeface="Calibri"/>
              </a:rPr>
              <a:t>Camera 4K + Servo + LED</a:t>
            </a:r>
          </a:p>
        </p:txBody>
      </p:sp>
      <p:sp>
        <p:nvSpPr>
          <p:cNvPr id="11" name="Rectangle 10"/>
          <p:cNvSpPr/>
          <p:nvPr/>
        </p:nvSpPr>
        <p:spPr>
          <a:xfrm>
            <a:off x="4114800" y="2194560"/>
            <a:ext cx="3520440" cy="16916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114800" y="2194560"/>
            <a:ext cx="35204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97680" y="2258568"/>
            <a:ext cx="3246120" cy="365760"/>
          </a:xfrm>
          <a:prstGeom prst="rect">
            <a:avLst/>
          </a:prstGeom>
          <a:noFill/>
        </p:spPr>
        <p:txBody>
          <a:bodyPr wrap="square" lIns="50000" tIns="20000" rIns="50000" bIns="20000" anchor="ctr">
            <a:spAutoFit/>
          </a:bodyPr>
          <a:lstStyle/>
          <a:p>
            <a:pPr algn="l">
              <a:lnSpc>
                <a:spcPct val="120000"/>
              </a:lnSpc>
            </a:pPr>
            <a:r>
              <a:rPr sz="1400" b="1" i="0">
                <a:solidFill>
                  <a:srgbClr val="FFFFFF"/>
                </a:solidFill>
                <a:latin typeface="Consolas"/>
              </a:rPr>
              <a:t>GATE-OUT-01</a:t>
            </a:r>
          </a:p>
        </p:txBody>
      </p:sp>
      <p:sp>
        <p:nvSpPr>
          <p:cNvPr id="14" name="TextBox 13"/>
          <p:cNvSpPr txBox="1"/>
          <p:nvPr/>
        </p:nvSpPr>
        <p:spPr>
          <a:xfrm>
            <a:off x="4343400" y="2788920"/>
            <a:ext cx="3154680" cy="365760"/>
          </a:xfrm>
          <a:prstGeom prst="rect">
            <a:avLst/>
          </a:prstGeom>
          <a:noFill/>
        </p:spPr>
        <p:txBody>
          <a:bodyPr wrap="square" lIns="50000" tIns="20000" rIns="50000" bIns="20000" anchor="t">
            <a:spAutoFit/>
          </a:bodyPr>
          <a:lstStyle/>
          <a:p>
            <a:pPr algn="l">
              <a:lnSpc>
                <a:spcPct val="120000"/>
              </a:lnSpc>
            </a:pPr>
            <a:r>
              <a:rPr sz="1800" b="1" i="0">
                <a:solidFill>
                  <a:srgbClr val="0F172A"/>
                </a:solidFill>
                <a:latin typeface="Calibri"/>
              </a:rPr>
              <a:t>Cổng ra</a:t>
            </a:r>
          </a:p>
        </p:txBody>
      </p:sp>
      <p:sp>
        <p:nvSpPr>
          <p:cNvPr id="15" name="TextBox 14"/>
          <p:cNvSpPr txBox="1"/>
          <p:nvPr/>
        </p:nvSpPr>
        <p:spPr>
          <a:xfrm>
            <a:off x="4343400" y="3200400"/>
            <a:ext cx="3154680" cy="640080"/>
          </a:xfrm>
          <a:prstGeom prst="rect">
            <a:avLst/>
          </a:prstGeom>
          <a:noFill/>
        </p:spPr>
        <p:txBody>
          <a:bodyPr wrap="square" lIns="50000" tIns="20000" rIns="50000" bIns="20000" anchor="t">
            <a:spAutoFit/>
          </a:bodyPr>
          <a:lstStyle/>
          <a:p>
            <a:pPr algn="l">
              <a:lnSpc>
                <a:spcPct val="140000"/>
              </a:lnSpc>
            </a:pPr>
            <a:r>
              <a:rPr sz="1300" b="0" i="0">
                <a:solidFill>
                  <a:srgbClr val="334155"/>
                </a:solidFill>
                <a:latin typeface="Calibri"/>
              </a:rPr>
              <a:t>Camera 4K + LED status</a:t>
            </a:r>
          </a:p>
        </p:txBody>
      </p:sp>
      <p:sp>
        <p:nvSpPr>
          <p:cNvPr id="16" name="Rectangle 15"/>
          <p:cNvSpPr/>
          <p:nvPr/>
        </p:nvSpPr>
        <p:spPr>
          <a:xfrm>
            <a:off x="457200" y="4023360"/>
            <a:ext cx="3520440" cy="16916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4023360"/>
            <a:ext cx="3520440" cy="4572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087368"/>
            <a:ext cx="3246120" cy="365760"/>
          </a:xfrm>
          <a:prstGeom prst="rect">
            <a:avLst/>
          </a:prstGeom>
          <a:noFill/>
        </p:spPr>
        <p:txBody>
          <a:bodyPr wrap="square" lIns="50000" tIns="20000" rIns="50000" bIns="20000" anchor="ctr">
            <a:spAutoFit/>
          </a:bodyPr>
          <a:lstStyle/>
          <a:p>
            <a:pPr algn="l">
              <a:lnSpc>
                <a:spcPct val="120000"/>
              </a:lnSpc>
            </a:pPr>
            <a:r>
              <a:rPr sz="1400" b="1" i="0">
                <a:solidFill>
                  <a:srgbClr val="FFFFFF"/>
                </a:solidFill>
                <a:latin typeface="Consolas"/>
              </a:rPr>
              <a:t>VERIFY-SLOT-01</a:t>
            </a:r>
          </a:p>
        </p:txBody>
      </p:sp>
      <p:sp>
        <p:nvSpPr>
          <p:cNvPr id="19" name="TextBox 18"/>
          <p:cNvSpPr txBox="1"/>
          <p:nvPr/>
        </p:nvSpPr>
        <p:spPr>
          <a:xfrm>
            <a:off x="685800" y="4617720"/>
            <a:ext cx="3154680" cy="365760"/>
          </a:xfrm>
          <a:prstGeom prst="rect">
            <a:avLst/>
          </a:prstGeom>
          <a:noFill/>
        </p:spPr>
        <p:txBody>
          <a:bodyPr wrap="square" lIns="50000" tIns="20000" rIns="50000" bIns="20000" anchor="t">
            <a:spAutoFit/>
          </a:bodyPr>
          <a:lstStyle/>
          <a:p>
            <a:pPr algn="l">
              <a:lnSpc>
                <a:spcPct val="120000"/>
              </a:lnSpc>
            </a:pPr>
            <a:r>
              <a:rPr sz="1800" b="1" i="0">
                <a:solidFill>
                  <a:srgbClr val="0F172A"/>
                </a:solidFill>
                <a:latin typeface="Calibri"/>
              </a:rPr>
              <a:t>Verify ô đỗ</a:t>
            </a:r>
          </a:p>
        </p:txBody>
      </p:sp>
      <p:sp>
        <p:nvSpPr>
          <p:cNvPr id="20" name="TextBox 19"/>
          <p:cNvSpPr txBox="1"/>
          <p:nvPr/>
        </p:nvSpPr>
        <p:spPr>
          <a:xfrm>
            <a:off x="685800" y="5029200"/>
            <a:ext cx="3154680" cy="640080"/>
          </a:xfrm>
          <a:prstGeom prst="rect">
            <a:avLst/>
          </a:prstGeom>
          <a:noFill/>
        </p:spPr>
        <p:txBody>
          <a:bodyPr wrap="square" lIns="50000" tIns="20000" rIns="50000" bIns="20000" anchor="t">
            <a:spAutoFit/>
          </a:bodyPr>
          <a:lstStyle/>
          <a:p>
            <a:pPr algn="l">
              <a:lnSpc>
                <a:spcPct val="140000"/>
              </a:lnSpc>
            </a:pPr>
            <a:r>
              <a:rPr sz="1300" b="0" i="0">
                <a:solidFill>
                  <a:srgbClr val="334155"/>
                </a:solidFill>
                <a:latin typeface="Calibri"/>
              </a:rPr>
              <a:t>Camera 2MP overview</a:t>
            </a:r>
          </a:p>
        </p:txBody>
      </p:sp>
      <p:sp>
        <p:nvSpPr>
          <p:cNvPr id="21" name="Rectangle 20"/>
          <p:cNvSpPr/>
          <p:nvPr/>
        </p:nvSpPr>
        <p:spPr>
          <a:xfrm>
            <a:off x="4114800" y="4023360"/>
            <a:ext cx="3520440" cy="16916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114800" y="4023360"/>
            <a:ext cx="3520440" cy="4572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97680" y="4087368"/>
            <a:ext cx="3246120" cy="365760"/>
          </a:xfrm>
          <a:prstGeom prst="rect">
            <a:avLst/>
          </a:prstGeom>
          <a:noFill/>
        </p:spPr>
        <p:txBody>
          <a:bodyPr wrap="square" lIns="50000" tIns="20000" rIns="50000" bIns="20000" anchor="ctr">
            <a:spAutoFit/>
          </a:bodyPr>
          <a:lstStyle/>
          <a:p>
            <a:pPr algn="l">
              <a:lnSpc>
                <a:spcPct val="120000"/>
              </a:lnSpc>
            </a:pPr>
            <a:r>
              <a:rPr sz="1400" b="1" i="0">
                <a:solidFill>
                  <a:srgbClr val="FFFFFF"/>
                </a:solidFill>
                <a:latin typeface="Consolas"/>
              </a:rPr>
              <a:t>CASH-PAY-01</a:t>
            </a:r>
          </a:p>
        </p:txBody>
      </p:sp>
      <p:sp>
        <p:nvSpPr>
          <p:cNvPr id="24" name="TextBox 23"/>
          <p:cNvSpPr txBox="1"/>
          <p:nvPr/>
        </p:nvSpPr>
        <p:spPr>
          <a:xfrm>
            <a:off x="4343400" y="4617720"/>
            <a:ext cx="3154680" cy="365760"/>
          </a:xfrm>
          <a:prstGeom prst="rect">
            <a:avLst/>
          </a:prstGeom>
          <a:noFill/>
        </p:spPr>
        <p:txBody>
          <a:bodyPr wrap="square" lIns="50000" tIns="20000" rIns="50000" bIns="20000" anchor="t">
            <a:spAutoFit/>
          </a:bodyPr>
          <a:lstStyle/>
          <a:p>
            <a:pPr algn="l">
              <a:lnSpc>
                <a:spcPct val="120000"/>
              </a:lnSpc>
            </a:pPr>
            <a:r>
              <a:rPr sz="1800" b="1" i="0">
                <a:solidFill>
                  <a:srgbClr val="0F172A"/>
                </a:solidFill>
                <a:latin typeface="Calibri"/>
              </a:rPr>
              <a:t>Thanh toán cash</a:t>
            </a:r>
          </a:p>
        </p:txBody>
      </p:sp>
      <p:sp>
        <p:nvSpPr>
          <p:cNvPr id="25" name="TextBox 24"/>
          <p:cNvSpPr txBox="1"/>
          <p:nvPr/>
        </p:nvSpPr>
        <p:spPr>
          <a:xfrm>
            <a:off x="4343400" y="5029200"/>
            <a:ext cx="3154680" cy="640080"/>
          </a:xfrm>
          <a:prstGeom prst="rect">
            <a:avLst/>
          </a:prstGeom>
          <a:noFill/>
        </p:spPr>
        <p:txBody>
          <a:bodyPr wrap="square" lIns="50000" tIns="20000" rIns="50000" bIns="20000" anchor="t">
            <a:spAutoFit/>
          </a:bodyPr>
          <a:lstStyle/>
          <a:p>
            <a:pPr algn="l">
              <a:lnSpc>
                <a:spcPct val="140000"/>
              </a:lnSpc>
            </a:pPr>
            <a:r>
              <a:rPr sz="1300" b="0" i="0">
                <a:solidFill>
                  <a:srgbClr val="334155"/>
                </a:solidFill>
                <a:latin typeface="Calibri"/>
              </a:rPr>
              <a:t>Cash scanner + LED + Buzzer</a:t>
            </a:r>
          </a:p>
        </p:txBody>
      </p:sp>
      <p:sp>
        <p:nvSpPr>
          <p:cNvPr id="26" name="TextBox 25"/>
          <p:cNvSpPr txBox="1"/>
          <p:nvPr/>
        </p:nvSpPr>
        <p:spPr>
          <a:xfrm>
            <a:off x="7955279" y="2194560"/>
            <a:ext cx="3931920" cy="320040"/>
          </a:xfrm>
          <a:prstGeom prst="rect">
            <a:avLst/>
          </a:prstGeom>
          <a:noFill/>
        </p:spPr>
        <p:txBody>
          <a:bodyPr wrap="square" lIns="50000" tIns="20000" rIns="50000" bIns="20000" anchor="t">
            <a:spAutoFit/>
          </a:bodyPr>
          <a:lstStyle/>
          <a:p>
            <a:pPr algn="l">
              <a:lnSpc>
                <a:spcPct val="120000"/>
              </a:lnSpc>
            </a:pPr>
            <a:r>
              <a:rPr sz="1200" b="1" i="0">
                <a:solidFill>
                  <a:srgbClr val="F97316"/>
                </a:solidFill>
                <a:latin typeface="Calibri"/>
              </a:rPr>
              <a:t>BOM PHẦN CỨNG</a:t>
            </a:r>
          </a:p>
        </p:txBody>
      </p:sp>
      <p:sp>
        <p:nvSpPr>
          <p:cNvPr id="27" name="Rectangle 26"/>
          <p:cNvSpPr/>
          <p:nvPr/>
        </p:nvSpPr>
        <p:spPr>
          <a:xfrm>
            <a:off x="7955279" y="2606040"/>
            <a:ext cx="3931920" cy="38404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92439" y="2660904"/>
            <a:ext cx="2651760" cy="292608"/>
          </a:xfrm>
          <a:prstGeom prst="rect">
            <a:avLst/>
          </a:prstGeom>
          <a:noFill/>
        </p:spPr>
        <p:txBody>
          <a:bodyPr wrap="square" lIns="50000" tIns="20000" rIns="50000" bIns="20000" anchor="ctr">
            <a:spAutoFit/>
          </a:bodyPr>
          <a:lstStyle/>
          <a:p>
            <a:pPr algn="l">
              <a:lnSpc>
                <a:spcPct val="120000"/>
              </a:lnSpc>
            </a:pPr>
            <a:r>
              <a:rPr sz="1200" b="0" i="0">
                <a:solidFill>
                  <a:srgbClr val="0F172A"/>
                </a:solidFill>
                <a:latin typeface="Calibri"/>
              </a:rPr>
              <a:t>Cameras (2× IP 4K + 3× dome 2MP)</a:t>
            </a:r>
          </a:p>
        </p:txBody>
      </p:sp>
      <p:sp>
        <p:nvSpPr>
          <p:cNvPr id="29" name="TextBox 28"/>
          <p:cNvSpPr txBox="1"/>
          <p:nvPr/>
        </p:nvSpPr>
        <p:spPr>
          <a:xfrm>
            <a:off x="10744199" y="2660904"/>
            <a:ext cx="1005840" cy="292608"/>
          </a:xfrm>
          <a:prstGeom prst="rect">
            <a:avLst/>
          </a:prstGeom>
          <a:noFill/>
        </p:spPr>
        <p:txBody>
          <a:bodyPr wrap="square" lIns="50000" tIns="20000" rIns="50000" bIns="20000" anchor="ctr">
            <a:spAutoFit/>
          </a:bodyPr>
          <a:lstStyle/>
          <a:p>
            <a:pPr algn="r">
              <a:lnSpc>
                <a:spcPct val="120000"/>
              </a:lnSpc>
            </a:pPr>
            <a:r>
              <a:rPr sz="1300" b="1" i="0">
                <a:solidFill>
                  <a:srgbClr val="F97316"/>
                </a:solidFill>
                <a:latin typeface="Calibri"/>
              </a:rPr>
              <a:t>9.0tr</a:t>
            </a:r>
          </a:p>
        </p:txBody>
      </p:sp>
      <p:sp>
        <p:nvSpPr>
          <p:cNvPr id="30" name="Rectangle 29"/>
          <p:cNvSpPr/>
          <p:nvPr/>
        </p:nvSpPr>
        <p:spPr>
          <a:xfrm>
            <a:off x="7955279" y="3026664"/>
            <a:ext cx="3931920" cy="384048"/>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92439" y="3081528"/>
            <a:ext cx="2651760" cy="292608"/>
          </a:xfrm>
          <a:prstGeom prst="rect">
            <a:avLst/>
          </a:prstGeom>
          <a:noFill/>
        </p:spPr>
        <p:txBody>
          <a:bodyPr wrap="square" lIns="50000" tIns="20000" rIns="50000" bIns="20000" anchor="ctr">
            <a:spAutoFit/>
          </a:bodyPr>
          <a:lstStyle/>
          <a:p>
            <a:pPr algn="l">
              <a:lnSpc>
                <a:spcPct val="120000"/>
              </a:lnSpc>
            </a:pPr>
            <a:r>
              <a:rPr sz="1200" b="0" i="0">
                <a:solidFill>
                  <a:srgbClr val="0F172A"/>
                </a:solidFill>
                <a:latin typeface="Calibri"/>
              </a:rPr>
              <a:t>ESP32 × 4 + Servo + sensors</a:t>
            </a:r>
          </a:p>
        </p:txBody>
      </p:sp>
      <p:sp>
        <p:nvSpPr>
          <p:cNvPr id="32" name="TextBox 31"/>
          <p:cNvSpPr txBox="1"/>
          <p:nvPr/>
        </p:nvSpPr>
        <p:spPr>
          <a:xfrm>
            <a:off x="10744199" y="3081528"/>
            <a:ext cx="1005840" cy="292608"/>
          </a:xfrm>
          <a:prstGeom prst="rect">
            <a:avLst/>
          </a:prstGeom>
          <a:noFill/>
        </p:spPr>
        <p:txBody>
          <a:bodyPr wrap="square" lIns="50000" tIns="20000" rIns="50000" bIns="20000" anchor="ctr">
            <a:spAutoFit/>
          </a:bodyPr>
          <a:lstStyle/>
          <a:p>
            <a:pPr algn="r">
              <a:lnSpc>
                <a:spcPct val="120000"/>
              </a:lnSpc>
            </a:pPr>
            <a:r>
              <a:rPr sz="1300" b="1" i="0">
                <a:solidFill>
                  <a:srgbClr val="F97316"/>
                </a:solidFill>
                <a:latin typeface="Calibri"/>
              </a:rPr>
              <a:t>1.5tr</a:t>
            </a:r>
          </a:p>
        </p:txBody>
      </p:sp>
      <p:sp>
        <p:nvSpPr>
          <p:cNvPr id="33" name="Rectangle 32"/>
          <p:cNvSpPr/>
          <p:nvPr/>
        </p:nvSpPr>
        <p:spPr>
          <a:xfrm>
            <a:off x="7955279" y="3447288"/>
            <a:ext cx="3931920" cy="38404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92439" y="3502152"/>
            <a:ext cx="2651760" cy="292608"/>
          </a:xfrm>
          <a:prstGeom prst="rect">
            <a:avLst/>
          </a:prstGeom>
          <a:noFill/>
        </p:spPr>
        <p:txBody>
          <a:bodyPr wrap="square" lIns="50000" tIns="20000" rIns="50000" bIns="20000" anchor="ctr">
            <a:spAutoFit/>
          </a:bodyPr>
          <a:lstStyle/>
          <a:p>
            <a:pPr algn="l">
              <a:lnSpc>
                <a:spcPct val="120000"/>
              </a:lnSpc>
            </a:pPr>
            <a:r>
              <a:rPr sz="1200" b="0" i="0">
                <a:solidFill>
                  <a:srgbClr val="0F172A"/>
                </a:solidFill>
                <a:latin typeface="Calibri"/>
              </a:rPr>
              <a:t>LED status (per device)</a:t>
            </a:r>
          </a:p>
        </p:txBody>
      </p:sp>
      <p:sp>
        <p:nvSpPr>
          <p:cNvPr id="35" name="TextBox 34"/>
          <p:cNvSpPr txBox="1"/>
          <p:nvPr/>
        </p:nvSpPr>
        <p:spPr>
          <a:xfrm>
            <a:off x="10744199" y="3502152"/>
            <a:ext cx="1005840" cy="292608"/>
          </a:xfrm>
          <a:prstGeom prst="rect">
            <a:avLst/>
          </a:prstGeom>
          <a:noFill/>
        </p:spPr>
        <p:txBody>
          <a:bodyPr wrap="square" lIns="50000" tIns="20000" rIns="50000" bIns="20000" anchor="ctr">
            <a:spAutoFit/>
          </a:bodyPr>
          <a:lstStyle/>
          <a:p>
            <a:pPr algn="r">
              <a:lnSpc>
                <a:spcPct val="120000"/>
              </a:lnSpc>
            </a:pPr>
            <a:r>
              <a:rPr sz="1300" b="1" i="0">
                <a:solidFill>
                  <a:srgbClr val="F97316"/>
                </a:solidFill>
                <a:latin typeface="Calibri"/>
              </a:rPr>
              <a:t>0.5tr</a:t>
            </a:r>
          </a:p>
        </p:txBody>
      </p:sp>
      <p:sp>
        <p:nvSpPr>
          <p:cNvPr id="36" name="Rectangle 35"/>
          <p:cNvSpPr/>
          <p:nvPr/>
        </p:nvSpPr>
        <p:spPr>
          <a:xfrm>
            <a:off x="7955279" y="3867912"/>
            <a:ext cx="3931920" cy="384048"/>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092439" y="3922776"/>
            <a:ext cx="2651760" cy="292608"/>
          </a:xfrm>
          <a:prstGeom prst="rect">
            <a:avLst/>
          </a:prstGeom>
          <a:noFill/>
        </p:spPr>
        <p:txBody>
          <a:bodyPr wrap="square" lIns="50000" tIns="20000" rIns="50000" bIns="20000" anchor="ctr">
            <a:spAutoFit/>
          </a:bodyPr>
          <a:lstStyle/>
          <a:p>
            <a:pPr algn="l">
              <a:lnSpc>
                <a:spcPct val="120000"/>
              </a:lnSpc>
            </a:pPr>
            <a:r>
              <a:rPr sz="1200" b="0" i="0">
                <a:solidFill>
                  <a:srgbClr val="0F172A"/>
                </a:solidFill>
                <a:latin typeface="Calibri"/>
              </a:rPr>
              <a:t>NVR 4ch + Switch PoE 8-port</a:t>
            </a:r>
          </a:p>
        </p:txBody>
      </p:sp>
      <p:sp>
        <p:nvSpPr>
          <p:cNvPr id="38" name="TextBox 37"/>
          <p:cNvSpPr txBox="1"/>
          <p:nvPr/>
        </p:nvSpPr>
        <p:spPr>
          <a:xfrm>
            <a:off x="10744199" y="3922776"/>
            <a:ext cx="1005840" cy="292608"/>
          </a:xfrm>
          <a:prstGeom prst="rect">
            <a:avLst/>
          </a:prstGeom>
          <a:noFill/>
        </p:spPr>
        <p:txBody>
          <a:bodyPr wrap="square" lIns="50000" tIns="20000" rIns="50000" bIns="20000" anchor="ctr">
            <a:spAutoFit/>
          </a:bodyPr>
          <a:lstStyle/>
          <a:p>
            <a:pPr algn="r">
              <a:lnSpc>
                <a:spcPct val="120000"/>
              </a:lnSpc>
            </a:pPr>
            <a:r>
              <a:rPr sz="1300" b="1" i="0">
                <a:solidFill>
                  <a:srgbClr val="F97316"/>
                </a:solidFill>
                <a:latin typeface="Calibri"/>
              </a:rPr>
              <a:t>4.5tr</a:t>
            </a:r>
          </a:p>
        </p:txBody>
      </p:sp>
      <p:sp>
        <p:nvSpPr>
          <p:cNvPr id="39" name="Rectangle 38"/>
          <p:cNvSpPr/>
          <p:nvPr/>
        </p:nvSpPr>
        <p:spPr>
          <a:xfrm>
            <a:off x="7955279" y="4288536"/>
            <a:ext cx="3931920" cy="38404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092439" y="4343400"/>
            <a:ext cx="2651760" cy="292608"/>
          </a:xfrm>
          <a:prstGeom prst="rect">
            <a:avLst/>
          </a:prstGeom>
          <a:noFill/>
        </p:spPr>
        <p:txBody>
          <a:bodyPr wrap="square" lIns="50000" tIns="20000" rIns="50000" bIns="20000" anchor="ctr">
            <a:spAutoFit/>
          </a:bodyPr>
          <a:lstStyle/>
          <a:p>
            <a:pPr algn="l">
              <a:lnSpc>
                <a:spcPct val="120000"/>
              </a:lnSpc>
            </a:pPr>
            <a:r>
              <a:rPr sz="1200" b="0" i="0">
                <a:solidFill>
                  <a:srgbClr val="0F172A"/>
                </a:solidFill>
                <a:latin typeface="Calibri"/>
              </a:rPr>
              <a:t>Mini-PC N100/i5 (used) + Coral USB</a:t>
            </a:r>
          </a:p>
        </p:txBody>
      </p:sp>
      <p:sp>
        <p:nvSpPr>
          <p:cNvPr id="41" name="TextBox 40"/>
          <p:cNvSpPr txBox="1"/>
          <p:nvPr/>
        </p:nvSpPr>
        <p:spPr>
          <a:xfrm>
            <a:off x="10744199" y="4343400"/>
            <a:ext cx="1005840" cy="292608"/>
          </a:xfrm>
          <a:prstGeom prst="rect">
            <a:avLst/>
          </a:prstGeom>
          <a:noFill/>
        </p:spPr>
        <p:txBody>
          <a:bodyPr wrap="square" lIns="50000" tIns="20000" rIns="50000" bIns="20000" anchor="ctr">
            <a:spAutoFit/>
          </a:bodyPr>
          <a:lstStyle/>
          <a:p>
            <a:pPr algn="r">
              <a:lnSpc>
                <a:spcPct val="120000"/>
              </a:lnSpc>
            </a:pPr>
            <a:r>
              <a:rPr sz="1300" b="1" i="0">
                <a:solidFill>
                  <a:srgbClr val="F97316"/>
                </a:solidFill>
                <a:latin typeface="Calibri"/>
              </a:rPr>
              <a:t>8.0tr</a:t>
            </a:r>
          </a:p>
        </p:txBody>
      </p:sp>
      <p:sp>
        <p:nvSpPr>
          <p:cNvPr id="42" name="Rectangle 41"/>
          <p:cNvSpPr/>
          <p:nvPr/>
        </p:nvSpPr>
        <p:spPr>
          <a:xfrm>
            <a:off x="7955279" y="4709160"/>
            <a:ext cx="3931920" cy="384048"/>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092439" y="4764024"/>
            <a:ext cx="2651760" cy="292608"/>
          </a:xfrm>
          <a:prstGeom prst="rect">
            <a:avLst/>
          </a:prstGeom>
          <a:noFill/>
        </p:spPr>
        <p:txBody>
          <a:bodyPr wrap="square" lIns="50000" tIns="20000" rIns="50000" bIns="20000" anchor="ctr">
            <a:spAutoFit/>
          </a:bodyPr>
          <a:lstStyle/>
          <a:p>
            <a:pPr algn="l">
              <a:lnSpc>
                <a:spcPct val="120000"/>
              </a:lnSpc>
            </a:pPr>
            <a:r>
              <a:rPr sz="1200" b="0" i="0">
                <a:solidFill>
                  <a:srgbClr val="0F172A"/>
                </a:solidFill>
                <a:latin typeface="Calibri"/>
              </a:rPr>
              <a:t>Phụ kiện (tủ, dây, khung)</a:t>
            </a:r>
          </a:p>
        </p:txBody>
      </p:sp>
      <p:sp>
        <p:nvSpPr>
          <p:cNvPr id="44" name="TextBox 43"/>
          <p:cNvSpPr txBox="1"/>
          <p:nvPr/>
        </p:nvSpPr>
        <p:spPr>
          <a:xfrm>
            <a:off x="10744199" y="4764024"/>
            <a:ext cx="1005840" cy="292608"/>
          </a:xfrm>
          <a:prstGeom prst="rect">
            <a:avLst/>
          </a:prstGeom>
          <a:noFill/>
        </p:spPr>
        <p:txBody>
          <a:bodyPr wrap="square" lIns="50000" tIns="20000" rIns="50000" bIns="20000" anchor="ctr">
            <a:spAutoFit/>
          </a:bodyPr>
          <a:lstStyle/>
          <a:p>
            <a:pPr algn="r">
              <a:lnSpc>
                <a:spcPct val="120000"/>
              </a:lnSpc>
            </a:pPr>
            <a:r>
              <a:rPr sz="1300" b="1" i="0">
                <a:solidFill>
                  <a:srgbClr val="F97316"/>
                </a:solidFill>
                <a:latin typeface="Calibri"/>
              </a:rPr>
              <a:t>3.0tr</a:t>
            </a:r>
          </a:p>
        </p:txBody>
      </p:sp>
      <p:sp>
        <p:nvSpPr>
          <p:cNvPr id="45" name="Rectangle 44"/>
          <p:cNvSpPr/>
          <p:nvPr/>
        </p:nvSpPr>
        <p:spPr>
          <a:xfrm>
            <a:off x="7955279" y="5175504"/>
            <a:ext cx="3931920" cy="502920"/>
          </a:xfrm>
          <a:prstGeom prst="rect">
            <a:avLst/>
          </a:prstGeom>
          <a:solidFill>
            <a:srgbClr val="172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092439" y="5175504"/>
            <a:ext cx="1828800" cy="502920"/>
          </a:xfrm>
          <a:prstGeom prst="rect">
            <a:avLst/>
          </a:prstGeom>
          <a:noFill/>
        </p:spPr>
        <p:txBody>
          <a:bodyPr wrap="square" lIns="50000" tIns="20000" rIns="50000" bIns="20000" anchor="ctr">
            <a:spAutoFit/>
          </a:bodyPr>
          <a:lstStyle/>
          <a:p>
            <a:pPr algn="l">
              <a:lnSpc>
                <a:spcPct val="120000"/>
              </a:lnSpc>
            </a:pPr>
            <a:r>
              <a:rPr sz="1400" b="1" i="0">
                <a:solidFill>
                  <a:srgbClr val="F97316"/>
                </a:solidFill>
                <a:latin typeface="Calibri"/>
              </a:rPr>
              <a:t>TỔNG</a:t>
            </a:r>
          </a:p>
        </p:txBody>
      </p:sp>
      <p:sp>
        <p:nvSpPr>
          <p:cNvPr id="47" name="TextBox 46"/>
          <p:cNvSpPr txBox="1"/>
          <p:nvPr/>
        </p:nvSpPr>
        <p:spPr>
          <a:xfrm>
            <a:off x="9966959" y="5175504"/>
            <a:ext cx="1828800" cy="502920"/>
          </a:xfrm>
          <a:prstGeom prst="rect">
            <a:avLst/>
          </a:prstGeom>
          <a:noFill/>
        </p:spPr>
        <p:txBody>
          <a:bodyPr wrap="square" lIns="50000" tIns="20000" rIns="50000" bIns="20000" anchor="ctr">
            <a:spAutoFit/>
          </a:bodyPr>
          <a:lstStyle/>
          <a:p>
            <a:pPr algn="r">
              <a:lnSpc>
                <a:spcPct val="120000"/>
              </a:lnSpc>
            </a:pPr>
            <a:r>
              <a:rPr sz="2200" b="1" i="0">
                <a:solidFill>
                  <a:srgbClr val="FFFFFF"/>
                </a:solidFill>
                <a:latin typeface="Calibri"/>
              </a:rPr>
              <a:t>~26.5tr</a:t>
            </a:r>
          </a:p>
        </p:txBody>
      </p:sp>
      <p:sp>
        <p:nvSpPr>
          <p:cNvPr id="48" name="TextBox 47"/>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49" name="TextBox 48"/>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14 / 23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4B8A6"/>
                </a:solidFill>
                <a:latin typeface="Calibri"/>
              </a:rPr>
              <a:t>14</a:t>
            </a:r>
            <a:r>
              <a:rPr sz="1100">
                <a:solidFill>
                  <a:srgbClr val="64748B"/>
                </a:solidFill>
                <a:latin typeface="Calibri"/>
              </a:rPr>
              <a:t>   IOT GIAO TIẾP</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Cách thức ESP32 giao tiếp với hệ thống</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194560"/>
            <a:ext cx="11247120" cy="10058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194560"/>
            <a:ext cx="731520" cy="100584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468880"/>
            <a:ext cx="731520" cy="457200"/>
          </a:xfrm>
          <a:prstGeom prst="rect">
            <a:avLst/>
          </a:prstGeom>
          <a:noFill/>
        </p:spPr>
        <p:txBody>
          <a:bodyPr wrap="square" lIns="50000" tIns="20000" rIns="50000" bIns="20000" anchor="ctr">
            <a:spAutoFit/>
          </a:bodyPr>
          <a:lstStyle/>
          <a:p>
            <a:pPr algn="ctr">
              <a:lnSpc>
                <a:spcPct val="120000"/>
              </a:lnSpc>
            </a:pPr>
            <a:r>
              <a:rPr sz="2800" b="1" i="0">
                <a:solidFill>
                  <a:srgbClr val="FFFFFF"/>
                </a:solidFill>
                <a:latin typeface="Calibri"/>
              </a:rPr>
              <a:t>01</a:t>
            </a:r>
          </a:p>
        </p:txBody>
      </p:sp>
      <p:sp>
        <p:nvSpPr>
          <p:cNvPr id="9" name="TextBox 8"/>
          <p:cNvSpPr txBox="1"/>
          <p:nvPr/>
        </p:nvSpPr>
        <p:spPr>
          <a:xfrm>
            <a:off x="1417320" y="2304288"/>
            <a:ext cx="10058400" cy="365760"/>
          </a:xfrm>
          <a:prstGeom prst="rect">
            <a:avLst/>
          </a:prstGeom>
          <a:noFill/>
        </p:spPr>
        <p:txBody>
          <a:bodyPr wrap="square" lIns="50000" tIns="20000" rIns="50000" bIns="20000" anchor="t">
            <a:spAutoFit/>
          </a:bodyPr>
          <a:lstStyle/>
          <a:p>
            <a:pPr algn="l">
              <a:lnSpc>
                <a:spcPct val="120000"/>
              </a:lnSpc>
            </a:pPr>
            <a:r>
              <a:rPr sz="1600" b="1" i="0">
                <a:solidFill>
                  <a:srgbClr val="1E40AF"/>
                </a:solidFill>
                <a:latin typeface="Calibri"/>
              </a:rPr>
              <a:t>KHI XE ĐẾN CỔNG VÀO</a:t>
            </a:r>
          </a:p>
        </p:txBody>
      </p:sp>
      <p:sp>
        <p:nvSpPr>
          <p:cNvPr id="10" name="TextBox 9"/>
          <p:cNvSpPr txBox="1"/>
          <p:nvPr/>
        </p:nvSpPr>
        <p:spPr>
          <a:xfrm>
            <a:off x="1417320" y="2697480"/>
            <a:ext cx="10058400" cy="411480"/>
          </a:xfrm>
          <a:prstGeom prst="rect">
            <a:avLst/>
          </a:prstGeom>
          <a:noFill/>
        </p:spPr>
        <p:txBody>
          <a:bodyPr wrap="square" lIns="50000" tIns="20000" rIns="50000" bIns="20000" anchor="t">
            <a:spAutoFit/>
          </a:bodyPr>
          <a:lstStyle/>
          <a:p>
            <a:pPr algn="l">
              <a:lnSpc>
                <a:spcPct val="140000"/>
              </a:lnSpc>
            </a:pPr>
            <a:r>
              <a:rPr sz="1400" b="0" i="0">
                <a:solidFill>
                  <a:srgbClr val="0F172A"/>
                </a:solidFill>
                <a:latin typeface="Calibri"/>
              </a:rPr>
              <a:t>Cảm biến phát hiện xe → camera ESP32 chụp ảnh biển → AI đọc text → đối chiếu booking → mở barrier</a:t>
            </a:r>
          </a:p>
        </p:txBody>
      </p:sp>
      <p:sp>
        <p:nvSpPr>
          <p:cNvPr id="11" name="Rectangle 10"/>
          <p:cNvSpPr/>
          <p:nvPr/>
        </p:nvSpPr>
        <p:spPr>
          <a:xfrm>
            <a:off x="457200" y="3337560"/>
            <a:ext cx="11247120" cy="10058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3337560"/>
            <a:ext cx="731520"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3611880"/>
            <a:ext cx="731520" cy="457200"/>
          </a:xfrm>
          <a:prstGeom prst="rect">
            <a:avLst/>
          </a:prstGeom>
          <a:noFill/>
        </p:spPr>
        <p:txBody>
          <a:bodyPr wrap="square" lIns="50000" tIns="20000" rIns="50000" bIns="20000" anchor="ctr">
            <a:spAutoFit/>
          </a:bodyPr>
          <a:lstStyle/>
          <a:p>
            <a:pPr algn="ctr">
              <a:lnSpc>
                <a:spcPct val="120000"/>
              </a:lnSpc>
            </a:pPr>
            <a:r>
              <a:rPr sz="2800" b="1" i="0">
                <a:solidFill>
                  <a:srgbClr val="FFFFFF"/>
                </a:solidFill>
                <a:latin typeface="Calibri"/>
              </a:rPr>
              <a:t>02</a:t>
            </a:r>
          </a:p>
        </p:txBody>
      </p:sp>
      <p:sp>
        <p:nvSpPr>
          <p:cNvPr id="14" name="TextBox 13"/>
          <p:cNvSpPr txBox="1"/>
          <p:nvPr/>
        </p:nvSpPr>
        <p:spPr>
          <a:xfrm>
            <a:off x="1417320" y="3447288"/>
            <a:ext cx="10058400" cy="365760"/>
          </a:xfrm>
          <a:prstGeom prst="rect">
            <a:avLst/>
          </a:prstGeom>
          <a:noFill/>
        </p:spPr>
        <p:txBody>
          <a:bodyPr wrap="square" lIns="50000" tIns="20000" rIns="50000" bIns="20000" anchor="t">
            <a:spAutoFit/>
          </a:bodyPr>
          <a:lstStyle/>
          <a:p>
            <a:pPr algn="l">
              <a:lnSpc>
                <a:spcPct val="120000"/>
              </a:lnSpc>
            </a:pPr>
            <a:r>
              <a:rPr sz="1600" b="1" i="0">
                <a:solidFill>
                  <a:srgbClr val="10B981"/>
                </a:solidFill>
                <a:latin typeface="Calibri"/>
              </a:rPr>
              <a:t>KHI XE ĐỖ VÀO Ô</a:t>
            </a:r>
          </a:p>
        </p:txBody>
      </p:sp>
      <p:sp>
        <p:nvSpPr>
          <p:cNvPr id="15" name="TextBox 14"/>
          <p:cNvSpPr txBox="1"/>
          <p:nvPr/>
        </p:nvSpPr>
        <p:spPr>
          <a:xfrm>
            <a:off x="1417320" y="3840480"/>
            <a:ext cx="10058400" cy="411480"/>
          </a:xfrm>
          <a:prstGeom prst="rect">
            <a:avLst/>
          </a:prstGeom>
          <a:noFill/>
        </p:spPr>
        <p:txBody>
          <a:bodyPr wrap="square" lIns="50000" tIns="20000" rIns="50000" bIns="20000" anchor="t">
            <a:spAutoFit/>
          </a:bodyPr>
          <a:lstStyle/>
          <a:p>
            <a:pPr algn="l">
              <a:lnSpc>
                <a:spcPct val="140000"/>
              </a:lnSpc>
            </a:pPr>
            <a:r>
              <a:rPr sz="1400" b="0" i="0">
                <a:solidFill>
                  <a:srgbClr val="0F172A"/>
                </a:solidFill>
                <a:latin typeface="Calibri"/>
              </a:rPr>
              <a:t>Camera tầng V1 chụp định kỳ → AI nhận diện slot có xe → ESP32 đổi LED xanh sang đỏ → cập nhật dashboard</a:t>
            </a:r>
          </a:p>
        </p:txBody>
      </p:sp>
      <p:sp>
        <p:nvSpPr>
          <p:cNvPr id="16" name="Rectangle 15"/>
          <p:cNvSpPr/>
          <p:nvPr/>
        </p:nvSpPr>
        <p:spPr>
          <a:xfrm>
            <a:off x="457200" y="4480560"/>
            <a:ext cx="11247120" cy="10058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4480560"/>
            <a:ext cx="731520" cy="100584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4754880"/>
            <a:ext cx="731520" cy="457200"/>
          </a:xfrm>
          <a:prstGeom prst="rect">
            <a:avLst/>
          </a:prstGeom>
          <a:noFill/>
        </p:spPr>
        <p:txBody>
          <a:bodyPr wrap="square" lIns="50000" tIns="20000" rIns="50000" bIns="20000" anchor="ctr">
            <a:spAutoFit/>
          </a:bodyPr>
          <a:lstStyle/>
          <a:p>
            <a:pPr algn="ctr">
              <a:lnSpc>
                <a:spcPct val="120000"/>
              </a:lnSpc>
            </a:pPr>
            <a:r>
              <a:rPr sz="2800" b="1" i="0">
                <a:solidFill>
                  <a:srgbClr val="FFFFFF"/>
                </a:solidFill>
                <a:latin typeface="Calibri"/>
              </a:rPr>
              <a:t>03</a:t>
            </a:r>
          </a:p>
        </p:txBody>
      </p:sp>
      <p:sp>
        <p:nvSpPr>
          <p:cNvPr id="19" name="TextBox 18"/>
          <p:cNvSpPr txBox="1"/>
          <p:nvPr/>
        </p:nvSpPr>
        <p:spPr>
          <a:xfrm>
            <a:off x="1417320" y="4590288"/>
            <a:ext cx="10058400" cy="365760"/>
          </a:xfrm>
          <a:prstGeom prst="rect">
            <a:avLst/>
          </a:prstGeom>
          <a:noFill/>
        </p:spPr>
        <p:txBody>
          <a:bodyPr wrap="square" lIns="50000" tIns="20000" rIns="50000" bIns="20000" anchor="t">
            <a:spAutoFit/>
          </a:bodyPr>
          <a:lstStyle/>
          <a:p>
            <a:pPr algn="l">
              <a:lnSpc>
                <a:spcPct val="120000"/>
              </a:lnSpc>
            </a:pPr>
            <a:r>
              <a:rPr sz="1600" b="1" i="0">
                <a:solidFill>
                  <a:srgbClr val="F97316"/>
                </a:solidFill>
                <a:latin typeface="Calibri"/>
              </a:rPr>
              <a:t>KHI XE RA + THANH TOÁN</a:t>
            </a:r>
          </a:p>
        </p:txBody>
      </p:sp>
      <p:sp>
        <p:nvSpPr>
          <p:cNvPr id="20" name="TextBox 19"/>
          <p:cNvSpPr txBox="1"/>
          <p:nvPr/>
        </p:nvSpPr>
        <p:spPr>
          <a:xfrm>
            <a:off x="1417320" y="4983480"/>
            <a:ext cx="10058400" cy="411480"/>
          </a:xfrm>
          <a:prstGeom prst="rect">
            <a:avLst/>
          </a:prstGeom>
          <a:noFill/>
        </p:spPr>
        <p:txBody>
          <a:bodyPr wrap="square" lIns="50000" tIns="20000" rIns="50000" bIns="20000" anchor="t">
            <a:spAutoFit/>
          </a:bodyPr>
          <a:lstStyle/>
          <a:p>
            <a:pPr algn="l">
              <a:lnSpc>
                <a:spcPct val="140000"/>
              </a:lnSpc>
            </a:pPr>
            <a:r>
              <a:rPr sz="1400" b="0" i="0">
                <a:solidFill>
                  <a:srgbClr val="0F172A"/>
                </a:solidFill>
                <a:latin typeface="Calibri"/>
              </a:rPr>
              <a:t>Cash scanner ESP32 chụp tờ tiền → AI phân loại 9 mệnh giá → cộng tổng phí → mở barrier ra → email biên lai</a:t>
            </a:r>
          </a:p>
        </p:txBody>
      </p:sp>
      <p:sp>
        <p:nvSpPr>
          <p:cNvPr id="21" name="Rectangle 20"/>
          <p:cNvSpPr/>
          <p:nvPr/>
        </p:nvSpPr>
        <p:spPr>
          <a:xfrm>
            <a:off x="457200" y="5486400"/>
            <a:ext cx="5486400" cy="777240"/>
          </a:xfrm>
          <a:prstGeom prst="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5486400"/>
            <a:ext cx="91440" cy="77724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5559552"/>
            <a:ext cx="5212080" cy="274320"/>
          </a:xfrm>
          <a:prstGeom prst="rect">
            <a:avLst/>
          </a:prstGeom>
          <a:noFill/>
        </p:spPr>
        <p:txBody>
          <a:bodyPr wrap="square" lIns="50000" tIns="20000" rIns="50000" bIns="20000" anchor="t">
            <a:spAutoFit/>
          </a:bodyPr>
          <a:lstStyle/>
          <a:p>
            <a:pPr algn="l">
              <a:lnSpc>
                <a:spcPct val="120000"/>
              </a:lnSpc>
            </a:pPr>
            <a:r>
              <a:rPr sz="1100" b="1" i="0">
                <a:solidFill>
                  <a:srgbClr val="8B5CF6"/>
                </a:solidFill>
                <a:latin typeface="Calibri"/>
              </a:rPr>
              <a:t>XÁC THỰC THIẾT BỊ</a:t>
            </a:r>
          </a:p>
        </p:txBody>
      </p:sp>
      <p:sp>
        <p:nvSpPr>
          <p:cNvPr id="24" name="TextBox 23"/>
          <p:cNvSpPr txBox="1"/>
          <p:nvPr/>
        </p:nvSpPr>
        <p:spPr>
          <a:xfrm>
            <a:off x="640080" y="5806440"/>
            <a:ext cx="5212080" cy="411480"/>
          </a:xfrm>
          <a:prstGeom prst="rect">
            <a:avLst/>
          </a:prstGeom>
          <a:noFill/>
        </p:spPr>
        <p:txBody>
          <a:bodyPr wrap="square" lIns="50000" tIns="20000" rIns="50000" bIns="20000" anchor="t">
            <a:spAutoFit/>
          </a:bodyPr>
          <a:lstStyle/>
          <a:p>
            <a:pPr algn="l">
              <a:lnSpc>
                <a:spcPct val="130000"/>
              </a:lnSpc>
            </a:pPr>
            <a:r>
              <a:rPr sz="1300" b="0" i="0">
                <a:solidFill>
                  <a:srgbClr val="0F172A"/>
                </a:solidFill>
                <a:latin typeface="Calibri"/>
              </a:rPr>
              <a:t>Mỗi ESP32 có khóa định danh duy nhất. Backend nhận diện đúng thiết bị · giả mạo bị từ chối.</a:t>
            </a:r>
          </a:p>
        </p:txBody>
      </p:sp>
      <p:sp>
        <p:nvSpPr>
          <p:cNvPr id="25" name="Rectangle 24"/>
          <p:cNvSpPr/>
          <p:nvPr/>
        </p:nvSpPr>
        <p:spPr>
          <a:xfrm>
            <a:off x="6217920" y="5486400"/>
            <a:ext cx="5486400" cy="777240"/>
          </a:xfrm>
          <a:prstGeom prst="rect">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17920" y="5486400"/>
            <a:ext cx="91440"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0" y="5559552"/>
            <a:ext cx="5212080" cy="274320"/>
          </a:xfrm>
          <a:prstGeom prst="rect">
            <a:avLst/>
          </a:prstGeom>
          <a:noFill/>
        </p:spPr>
        <p:txBody>
          <a:bodyPr wrap="square" lIns="50000" tIns="20000" rIns="50000" bIns="20000" anchor="t">
            <a:spAutoFit/>
          </a:bodyPr>
          <a:lstStyle/>
          <a:p>
            <a:pPr algn="l">
              <a:lnSpc>
                <a:spcPct val="120000"/>
              </a:lnSpc>
            </a:pPr>
            <a:r>
              <a:rPr sz="1100" b="1" i="0">
                <a:solidFill>
                  <a:srgbClr val="10B981"/>
                </a:solidFill>
                <a:latin typeface="Calibri"/>
              </a:rPr>
              <a:t>GIÁM SÁT SỨC KHỎE (HEARTBEAT)</a:t>
            </a:r>
          </a:p>
        </p:txBody>
      </p:sp>
      <p:sp>
        <p:nvSpPr>
          <p:cNvPr id="28" name="TextBox 27"/>
          <p:cNvSpPr txBox="1"/>
          <p:nvPr/>
        </p:nvSpPr>
        <p:spPr>
          <a:xfrm>
            <a:off x="6400800" y="5806440"/>
            <a:ext cx="5212080" cy="411480"/>
          </a:xfrm>
          <a:prstGeom prst="rect">
            <a:avLst/>
          </a:prstGeom>
          <a:noFill/>
        </p:spPr>
        <p:txBody>
          <a:bodyPr wrap="square" lIns="50000" tIns="20000" rIns="50000" bIns="20000" anchor="t">
            <a:spAutoFit/>
          </a:bodyPr>
          <a:lstStyle/>
          <a:p>
            <a:pPr algn="l">
              <a:lnSpc>
                <a:spcPct val="130000"/>
              </a:lnSpc>
            </a:pPr>
            <a:r>
              <a:rPr sz="1300" b="0" i="0">
                <a:solidFill>
                  <a:srgbClr val="0F172A"/>
                </a:solidFill>
                <a:latin typeface="Calibri"/>
              </a:rPr>
              <a:t>Báo cáo trạng thái mỗi 30s. Mất tín hiệu &gt; 90s → cảnh báo offline · bảo vệ manual override.</a:t>
            </a:r>
          </a:p>
        </p:txBody>
      </p:sp>
      <p:sp>
        <p:nvSpPr>
          <p:cNvPr id="29" name="TextBox 28"/>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30" name="TextBox 29"/>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15 / 23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0B981"/>
                </a:solidFill>
                <a:latin typeface="Calibri"/>
              </a:rPr>
              <a:t>15</a:t>
            </a:r>
            <a:r>
              <a:rPr sz="1100">
                <a:solidFill>
                  <a:srgbClr val="64748B"/>
                </a:solidFill>
                <a:latin typeface="Calibri"/>
              </a:rPr>
              <a:t>   DIGITAL TWIN</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Unity Digital Twin  ·  Triển khai và Mở rộng đa bãi</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2103120"/>
            <a:ext cx="11247120" cy="320040"/>
          </a:xfrm>
          <a:prstGeom prst="rect">
            <a:avLst/>
          </a:prstGeom>
          <a:noFill/>
        </p:spPr>
        <p:txBody>
          <a:bodyPr wrap="square" lIns="50000" tIns="20000" rIns="50000" bIns="20000" anchor="t">
            <a:spAutoFit/>
          </a:bodyPr>
          <a:lstStyle/>
          <a:p>
            <a:pPr algn="l">
              <a:lnSpc>
                <a:spcPct val="120000"/>
              </a:lnSpc>
            </a:pPr>
            <a:r>
              <a:rPr sz="1200" b="1" i="0">
                <a:solidFill>
                  <a:srgbClr val="10B981"/>
                </a:solidFill>
                <a:latin typeface="Calibri"/>
              </a:rPr>
              <a:t>3 CHẾ ĐỘ TRIỂN KHAI</a:t>
            </a:r>
          </a:p>
        </p:txBody>
      </p:sp>
      <p:sp>
        <p:nvSpPr>
          <p:cNvPr id="7" name="Rectangle 6"/>
          <p:cNvSpPr/>
          <p:nvPr/>
        </p:nvSpPr>
        <p:spPr>
          <a:xfrm>
            <a:off x="472287" y="2468880"/>
            <a:ext cx="3657600" cy="15087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72287" y="2468880"/>
            <a:ext cx="777240" cy="150876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2287" y="2926080"/>
            <a:ext cx="777240" cy="457200"/>
          </a:xfrm>
          <a:prstGeom prst="rect">
            <a:avLst/>
          </a:prstGeom>
          <a:noFill/>
        </p:spPr>
        <p:txBody>
          <a:bodyPr wrap="square" lIns="50000" tIns="20000" rIns="50000" bIns="20000" anchor="ctr">
            <a:spAutoFit/>
          </a:bodyPr>
          <a:lstStyle/>
          <a:p>
            <a:pPr algn="ctr">
              <a:lnSpc>
                <a:spcPct val="120000"/>
              </a:lnSpc>
            </a:pPr>
            <a:r>
              <a:rPr sz="2000" b="1" i="0">
                <a:solidFill>
                  <a:srgbClr val="FFFFFF"/>
                </a:solidFill>
                <a:latin typeface="Calibri"/>
              </a:rPr>
              <a:t>DEV</a:t>
            </a:r>
          </a:p>
        </p:txBody>
      </p:sp>
      <p:sp>
        <p:nvSpPr>
          <p:cNvPr id="10" name="TextBox 9"/>
          <p:cNvSpPr txBox="1"/>
          <p:nvPr/>
        </p:nvSpPr>
        <p:spPr>
          <a:xfrm>
            <a:off x="1386687" y="2651760"/>
            <a:ext cx="2606040" cy="365760"/>
          </a:xfrm>
          <a:prstGeom prst="rect">
            <a:avLst/>
          </a:prstGeom>
          <a:noFill/>
        </p:spPr>
        <p:txBody>
          <a:bodyPr wrap="square" lIns="50000" tIns="20000" rIns="50000" bIns="20000" anchor="t">
            <a:spAutoFit/>
          </a:bodyPr>
          <a:lstStyle/>
          <a:p>
            <a:pPr algn="l">
              <a:lnSpc>
                <a:spcPct val="120000"/>
              </a:lnSpc>
            </a:pPr>
            <a:r>
              <a:rPr sz="1600" b="1" i="0">
                <a:solidFill>
                  <a:srgbClr val="0F172A"/>
                </a:solidFill>
                <a:latin typeface="Calibri"/>
              </a:rPr>
              <a:t>Editor Play Mode</a:t>
            </a:r>
          </a:p>
        </p:txBody>
      </p:sp>
      <p:sp>
        <p:nvSpPr>
          <p:cNvPr id="11" name="TextBox 10"/>
          <p:cNvSpPr txBox="1"/>
          <p:nvPr/>
        </p:nvSpPr>
        <p:spPr>
          <a:xfrm>
            <a:off x="1386687" y="3063240"/>
            <a:ext cx="2606040" cy="822960"/>
          </a:xfrm>
          <a:prstGeom prst="rect">
            <a:avLst/>
          </a:prstGeom>
          <a:noFill/>
        </p:spPr>
        <p:txBody>
          <a:bodyPr wrap="square" lIns="50000" tIns="20000" rIns="50000" bIns="20000" anchor="t">
            <a:spAutoFit/>
          </a:bodyPr>
          <a:lstStyle/>
          <a:p>
            <a:pPr algn="l">
              <a:lnSpc>
                <a:spcPct val="140000"/>
              </a:lnSpc>
            </a:pPr>
            <a:r>
              <a:rPr sz="1200" b="0" i="0">
                <a:solidFill>
                  <a:srgbClr val="334155"/>
                </a:solidFill>
                <a:latin typeface="Calibri"/>
              </a:rPr>
              <a:t>Hot-reload C# · debug realtime · dev iteration</a:t>
            </a:r>
          </a:p>
        </p:txBody>
      </p:sp>
      <p:sp>
        <p:nvSpPr>
          <p:cNvPr id="12" name="Rectangle 11"/>
          <p:cNvSpPr/>
          <p:nvPr/>
        </p:nvSpPr>
        <p:spPr>
          <a:xfrm>
            <a:off x="4267047" y="2468880"/>
            <a:ext cx="3657600" cy="15087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67047" y="2468880"/>
            <a:ext cx="777240" cy="15087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67047" y="2926080"/>
            <a:ext cx="777240" cy="457200"/>
          </a:xfrm>
          <a:prstGeom prst="rect">
            <a:avLst/>
          </a:prstGeom>
          <a:noFill/>
        </p:spPr>
        <p:txBody>
          <a:bodyPr wrap="square" lIns="50000" tIns="20000" rIns="50000" bIns="20000" anchor="ctr">
            <a:spAutoFit/>
          </a:bodyPr>
          <a:lstStyle/>
          <a:p>
            <a:pPr algn="ctr">
              <a:lnSpc>
                <a:spcPct val="120000"/>
              </a:lnSpc>
            </a:pPr>
            <a:r>
              <a:rPr sz="2000" b="1" i="0">
                <a:solidFill>
                  <a:srgbClr val="FFFFFF"/>
                </a:solidFill>
                <a:latin typeface="Calibri"/>
              </a:rPr>
              <a:t>EXE</a:t>
            </a:r>
          </a:p>
        </p:txBody>
      </p:sp>
      <p:sp>
        <p:nvSpPr>
          <p:cNvPr id="15" name="TextBox 14"/>
          <p:cNvSpPr txBox="1"/>
          <p:nvPr/>
        </p:nvSpPr>
        <p:spPr>
          <a:xfrm>
            <a:off x="5181447" y="2651760"/>
            <a:ext cx="2606040" cy="365760"/>
          </a:xfrm>
          <a:prstGeom prst="rect">
            <a:avLst/>
          </a:prstGeom>
          <a:noFill/>
        </p:spPr>
        <p:txBody>
          <a:bodyPr wrap="square" lIns="50000" tIns="20000" rIns="50000" bIns="20000" anchor="t">
            <a:spAutoFit/>
          </a:bodyPr>
          <a:lstStyle/>
          <a:p>
            <a:pPr algn="l">
              <a:lnSpc>
                <a:spcPct val="120000"/>
              </a:lnSpc>
            </a:pPr>
            <a:r>
              <a:rPr sz="1600" b="1" i="0">
                <a:solidFill>
                  <a:srgbClr val="0F172A"/>
                </a:solidFill>
                <a:latin typeface="Calibri"/>
              </a:rPr>
              <a:t>Standalone Build</a:t>
            </a:r>
          </a:p>
        </p:txBody>
      </p:sp>
      <p:sp>
        <p:nvSpPr>
          <p:cNvPr id="16" name="TextBox 15"/>
          <p:cNvSpPr txBox="1"/>
          <p:nvPr/>
        </p:nvSpPr>
        <p:spPr>
          <a:xfrm>
            <a:off x="5181447" y="3063240"/>
            <a:ext cx="2606040" cy="822960"/>
          </a:xfrm>
          <a:prstGeom prst="rect">
            <a:avLst/>
          </a:prstGeom>
          <a:noFill/>
        </p:spPr>
        <p:txBody>
          <a:bodyPr wrap="square" lIns="50000" tIns="20000" rIns="50000" bIns="20000" anchor="t">
            <a:spAutoFit/>
          </a:bodyPr>
          <a:lstStyle/>
          <a:p>
            <a:pPr algn="l">
              <a:lnSpc>
                <a:spcPct val="140000"/>
              </a:lnSpc>
            </a:pPr>
            <a:r>
              <a:rPr sz="1200" b="0" i="0">
                <a:solidFill>
                  <a:srgbClr val="334155"/>
                </a:solidFill>
                <a:latin typeface="Calibri"/>
              </a:rPr>
              <a:t>.exe Windows / .app Mac · không cần Unity install</a:t>
            </a:r>
          </a:p>
        </p:txBody>
      </p:sp>
      <p:sp>
        <p:nvSpPr>
          <p:cNvPr id="17" name="Rectangle 16"/>
          <p:cNvSpPr/>
          <p:nvPr/>
        </p:nvSpPr>
        <p:spPr>
          <a:xfrm>
            <a:off x="8061807" y="2468880"/>
            <a:ext cx="3657600" cy="15087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61807" y="2468880"/>
            <a:ext cx="777240" cy="150876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61807" y="2926080"/>
            <a:ext cx="777240" cy="457200"/>
          </a:xfrm>
          <a:prstGeom prst="rect">
            <a:avLst/>
          </a:prstGeom>
          <a:noFill/>
        </p:spPr>
        <p:txBody>
          <a:bodyPr wrap="square" lIns="50000" tIns="20000" rIns="50000" bIns="20000" anchor="ctr">
            <a:spAutoFit/>
          </a:bodyPr>
          <a:lstStyle/>
          <a:p>
            <a:pPr algn="ctr">
              <a:lnSpc>
                <a:spcPct val="120000"/>
              </a:lnSpc>
            </a:pPr>
            <a:r>
              <a:rPr sz="2000" b="1" i="0">
                <a:solidFill>
                  <a:srgbClr val="FFFFFF"/>
                </a:solidFill>
                <a:latin typeface="Calibri"/>
              </a:rPr>
              <a:t>CI</a:t>
            </a:r>
          </a:p>
        </p:txBody>
      </p:sp>
      <p:sp>
        <p:nvSpPr>
          <p:cNvPr id="20" name="TextBox 19"/>
          <p:cNvSpPr txBox="1"/>
          <p:nvPr/>
        </p:nvSpPr>
        <p:spPr>
          <a:xfrm>
            <a:off x="8976207" y="2651760"/>
            <a:ext cx="2606040" cy="365760"/>
          </a:xfrm>
          <a:prstGeom prst="rect">
            <a:avLst/>
          </a:prstGeom>
          <a:noFill/>
        </p:spPr>
        <p:txBody>
          <a:bodyPr wrap="square" lIns="50000" tIns="20000" rIns="50000" bIns="20000" anchor="t">
            <a:spAutoFit/>
          </a:bodyPr>
          <a:lstStyle/>
          <a:p>
            <a:pPr algn="l">
              <a:lnSpc>
                <a:spcPct val="120000"/>
              </a:lnSpc>
            </a:pPr>
            <a:r>
              <a:rPr sz="1600" b="1" i="0">
                <a:solidFill>
                  <a:srgbClr val="0F172A"/>
                </a:solidFill>
                <a:latin typeface="Calibri"/>
              </a:rPr>
              <a:t>Headless Mode</a:t>
            </a:r>
          </a:p>
        </p:txBody>
      </p:sp>
      <p:sp>
        <p:nvSpPr>
          <p:cNvPr id="21" name="TextBox 20"/>
          <p:cNvSpPr txBox="1"/>
          <p:nvPr/>
        </p:nvSpPr>
        <p:spPr>
          <a:xfrm>
            <a:off x="8976207" y="3063240"/>
            <a:ext cx="2606040" cy="822960"/>
          </a:xfrm>
          <a:prstGeom prst="rect">
            <a:avLst/>
          </a:prstGeom>
          <a:noFill/>
        </p:spPr>
        <p:txBody>
          <a:bodyPr wrap="square" lIns="50000" tIns="20000" rIns="50000" bIns="20000" anchor="t">
            <a:spAutoFit/>
          </a:bodyPr>
          <a:lstStyle/>
          <a:p>
            <a:pPr algn="l">
              <a:lnSpc>
                <a:spcPct val="140000"/>
              </a:lnSpc>
            </a:pPr>
            <a:r>
              <a:rPr sz="1200" b="0" i="0">
                <a:solidFill>
                  <a:srgbClr val="334155"/>
                </a:solidFill>
                <a:latin typeface="Calibri"/>
              </a:rPr>
              <a:t>-batchmode -nographics · GitHub Actions E2E nightly</a:t>
            </a:r>
          </a:p>
        </p:txBody>
      </p:sp>
      <p:sp>
        <p:nvSpPr>
          <p:cNvPr id="22" name="TextBox 21"/>
          <p:cNvSpPr txBox="1"/>
          <p:nvPr/>
        </p:nvSpPr>
        <p:spPr>
          <a:xfrm>
            <a:off x="457200" y="4297680"/>
            <a:ext cx="11247120" cy="320040"/>
          </a:xfrm>
          <a:prstGeom prst="rect">
            <a:avLst/>
          </a:prstGeom>
          <a:noFill/>
        </p:spPr>
        <p:txBody>
          <a:bodyPr wrap="square" lIns="50000" tIns="20000" rIns="50000" bIns="20000" anchor="t">
            <a:spAutoFit/>
          </a:bodyPr>
          <a:lstStyle/>
          <a:p>
            <a:pPr algn="l">
              <a:lnSpc>
                <a:spcPct val="120000"/>
              </a:lnSpc>
            </a:pPr>
            <a:r>
              <a:rPr sz="1200" b="1" i="0">
                <a:solidFill>
                  <a:srgbClr val="10B981"/>
                </a:solidFill>
                <a:latin typeface="Calibri"/>
              </a:rPr>
              <a:t>MULTI-LOT FLEXIBILITY  ·  4 MÔ HÌNH BÃI ĐÃ HỖ TRỢ</a:t>
            </a:r>
          </a:p>
        </p:txBody>
      </p:sp>
      <p:sp>
        <p:nvSpPr>
          <p:cNvPr id="23" name="Rectangle 22"/>
          <p:cNvSpPr/>
          <p:nvPr/>
        </p:nvSpPr>
        <p:spPr>
          <a:xfrm>
            <a:off x="513435" y="4663440"/>
            <a:ext cx="2743200" cy="15087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13435" y="4663440"/>
            <a:ext cx="2743200" cy="36576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3435" y="4718304"/>
            <a:ext cx="2743200" cy="274320"/>
          </a:xfrm>
          <a:prstGeom prst="rect">
            <a:avLst/>
          </a:prstGeom>
          <a:noFill/>
        </p:spPr>
        <p:txBody>
          <a:bodyPr wrap="square" lIns="50000" tIns="20000" rIns="50000" bIns="20000" anchor="t">
            <a:spAutoFit/>
          </a:bodyPr>
          <a:lstStyle/>
          <a:p>
            <a:pPr algn="ctr">
              <a:lnSpc>
                <a:spcPct val="120000"/>
              </a:lnSpc>
            </a:pPr>
            <a:r>
              <a:rPr sz="1400" b="1" i="0">
                <a:solidFill>
                  <a:srgbClr val="FFFFFF"/>
                </a:solidFill>
                <a:latin typeface="Calibri"/>
              </a:rPr>
              <a:t>M1</a:t>
            </a:r>
          </a:p>
        </p:txBody>
      </p:sp>
      <p:sp>
        <p:nvSpPr>
          <p:cNvPr id="26" name="TextBox 25"/>
          <p:cNvSpPr txBox="1"/>
          <p:nvPr/>
        </p:nvSpPr>
        <p:spPr>
          <a:xfrm>
            <a:off x="650595" y="5120640"/>
            <a:ext cx="2468880" cy="365760"/>
          </a:xfrm>
          <a:prstGeom prst="rect">
            <a:avLst/>
          </a:prstGeom>
          <a:noFill/>
        </p:spPr>
        <p:txBody>
          <a:bodyPr wrap="square" lIns="50000" tIns="20000" rIns="50000" bIns="20000" anchor="t">
            <a:spAutoFit/>
          </a:bodyPr>
          <a:lstStyle/>
          <a:p>
            <a:pPr algn="l">
              <a:lnSpc>
                <a:spcPct val="120000"/>
              </a:lnSpc>
            </a:pPr>
            <a:r>
              <a:rPr sz="1400" b="1" i="0">
                <a:solidFill>
                  <a:srgbClr val="0F172A"/>
                </a:solidFill>
                <a:latin typeface="Calibri"/>
              </a:rPr>
              <a:t>Linear single-floor</a:t>
            </a:r>
          </a:p>
        </p:txBody>
      </p:sp>
      <p:sp>
        <p:nvSpPr>
          <p:cNvPr id="27" name="TextBox 26"/>
          <p:cNvSpPr txBox="1"/>
          <p:nvPr/>
        </p:nvSpPr>
        <p:spPr>
          <a:xfrm>
            <a:off x="650595" y="5532120"/>
            <a:ext cx="2468880" cy="274320"/>
          </a:xfrm>
          <a:prstGeom prst="rect">
            <a:avLst/>
          </a:prstGeom>
          <a:noFill/>
        </p:spPr>
        <p:txBody>
          <a:bodyPr wrap="square" lIns="50000" tIns="20000" rIns="50000" bIns="20000" anchor="t">
            <a:spAutoFit/>
          </a:bodyPr>
          <a:lstStyle/>
          <a:p>
            <a:pPr algn="l">
              <a:lnSpc>
                <a:spcPct val="120000"/>
              </a:lnSpc>
            </a:pPr>
            <a:r>
              <a:rPr sz="1200" b="0" i="1">
                <a:solidFill>
                  <a:srgbClr val="1E40AF"/>
                </a:solidFill>
                <a:latin typeface="Calibri"/>
              </a:rPr>
              <a:t>30-50 chỗ</a:t>
            </a:r>
          </a:p>
        </p:txBody>
      </p:sp>
      <p:sp>
        <p:nvSpPr>
          <p:cNvPr id="28" name="TextBox 27"/>
          <p:cNvSpPr txBox="1"/>
          <p:nvPr/>
        </p:nvSpPr>
        <p:spPr>
          <a:xfrm>
            <a:off x="650595" y="5806440"/>
            <a:ext cx="2468880" cy="320040"/>
          </a:xfrm>
          <a:prstGeom prst="rect">
            <a:avLst/>
          </a:prstGeom>
          <a:noFill/>
        </p:spPr>
        <p:txBody>
          <a:bodyPr wrap="square" lIns="50000" tIns="20000" rIns="50000" bIns="20000" anchor="t">
            <a:spAutoFit/>
          </a:bodyPr>
          <a:lstStyle/>
          <a:p>
            <a:pPr algn="l">
              <a:lnSpc>
                <a:spcPct val="120000"/>
              </a:lnSpc>
            </a:pPr>
            <a:r>
              <a:rPr sz="1100" b="0" i="0">
                <a:solidFill>
                  <a:srgbClr val="64748B"/>
                </a:solidFill>
                <a:latin typeface="Calibri"/>
              </a:rPr>
              <a:t>Bãi nhỏ, gần cửa</a:t>
            </a:r>
          </a:p>
        </p:txBody>
      </p:sp>
      <p:sp>
        <p:nvSpPr>
          <p:cNvPr id="29" name="Rectangle 28"/>
          <p:cNvSpPr/>
          <p:nvPr/>
        </p:nvSpPr>
        <p:spPr>
          <a:xfrm>
            <a:off x="3320643" y="4663440"/>
            <a:ext cx="2743200" cy="15087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320643" y="4663440"/>
            <a:ext cx="2743200" cy="36576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320643" y="4718304"/>
            <a:ext cx="2743200" cy="274320"/>
          </a:xfrm>
          <a:prstGeom prst="rect">
            <a:avLst/>
          </a:prstGeom>
          <a:noFill/>
        </p:spPr>
        <p:txBody>
          <a:bodyPr wrap="square" lIns="50000" tIns="20000" rIns="50000" bIns="20000" anchor="t">
            <a:spAutoFit/>
          </a:bodyPr>
          <a:lstStyle/>
          <a:p>
            <a:pPr algn="ctr">
              <a:lnSpc>
                <a:spcPct val="120000"/>
              </a:lnSpc>
            </a:pPr>
            <a:r>
              <a:rPr sz="1400" b="1" i="0">
                <a:solidFill>
                  <a:srgbClr val="FFFFFF"/>
                </a:solidFill>
                <a:latin typeface="Calibri"/>
              </a:rPr>
              <a:t>M2</a:t>
            </a:r>
          </a:p>
        </p:txBody>
      </p:sp>
      <p:sp>
        <p:nvSpPr>
          <p:cNvPr id="32" name="TextBox 31"/>
          <p:cNvSpPr txBox="1"/>
          <p:nvPr/>
        </p:nvSpPr>
        <p:spPr>
          <a:xfrm>
            <a:off x="3457803" y="5120640"/>
            <a:ext cx="2468880" cy="365760"/>
          </a:xfrm>
          <a:prstGeom prst="rect">
            <a:avLst/>
          </a:prstGeom>
          <a:noFill/>
        </p:spPr>
        <p:txBody>
          <a:bodyPr wrap="square" lIns="50000" tIns="20000" rIns="50000" bIns="20000" anchor="t">
            <a:spAutoFit/>
          </a:bodyPr>
          <a:lstStyle/>
          <a:p>
            <a:pPr algn="l">
              <a:lnSpc>
                <a:spcPct val="120000"/>
              </a:lnSpc>
            </a:pPr>
            <a:r>
              <a:rPr sz="1400" b="1" i="0">
                <a:solidFill>
                  <a:srgbClr val="0F172A"/>
                </a:solidFill>
                <a:latin typeface="Calibri"/>
              </a:rPr>
              <a:t>Block grid + zones</a:t>
            </a:r>
          </a:p>
        </p:txBody>
      </p:sp>
      <p:sp>
        <p:nvSpPr>
          <p:cNvPr id="33" name="TextBox 32"/>
          <p:cNvSpPr txBox="1"/>
          <p:nvPr/>
        </p:nvSpPr>
        <p:spPr>
          <a:xfrm>
            <a:off x="3457803" y="5532120"/>
            <a:ext cx="2468880" cy="274320"/>
          </a:xfrm>
          <a:prstGeom prst="rect">
            <a:avLst/>
          </a:prstGeom>
          <a:noFill/>
        </p:spPr>
        <p:txBody>
          <a:bodyPr wrap="square" lIns="50000" tIns="20000" rIns="50000" bIns="20000" anchor="t">
            <a:spAutoFit/>
          </a:bodyPr>
          <a:lstStyle/>
          <a:p>
            <a:pPr algn="l">
              <a:lnSpc>
                <a:spcPct val="120000"/>
              </a:lnSpc>
            </a:pPr>
            <a:r>
              <a:rPr sz="1200" b="0" i="1">
                <a:solidFill>
                  <a:srgbClr val="8B5CF6"/>
                </a:solidFill>
                <a:latin typeface="Calibri"/>
              </a:rPr>
              <a:t>100-200 chỗ</a:t>
            </a:r>
          </a:p>
        </p:txBody>
      </p:sp>
      <p:sp>
        <p:nvSpPr>
          <p:cNvPr id="34" name="TextBox 33"/>
          <p:cNvSpPr txBox="1"/>
          <p:nvPr/>
        </p:nvSpPr>
        <p:spPr>
          <a:xfrm>
            <a:off x="3457803" y="5806440"/>
            <a:ext cx="2468880" cy="320040"/>
          </a:xfrm>
          <a:prstGeom prst="rect">
            <a:avLst/>
          </a:prstGeom>
          <a:noFill/>
        </p:spPr>
        <p:txBody>
          <a:bodyPr wrap="square" lIns="50000" tIns="20000" rIns="50000" bIns="20000" anchor="t">
            <a:spAutoFit/>
          </a:bodyPr>
          <a:lstStyle/>
          <a:p>
            <a:pPr algn="l">
              <a:lnSpc>
                <a:spcPct val="120000"/>
              </a:lnSpc>
            </a:pPr>
            <a:r>
              <a:rPr sz="1100" b="0" i="0">
                <a:solidFill>
                  <a:srgbClr val="64748B"/>
                </a:solidFill>
                <a:latin typeface="Calibri"/>
              </a:rPr>
              <a:t>TTTM lớn</a:t>
            </a:r>
          </a:p>
        </p:txBody>
      </p:sp>
      <p:sp>
        <p:nvSpPr>
          <p:cNvPr id="35" name="Rectangle 34"/>
          <p:cNvSpPr/>
          <p:nvPr/>
        </p:nvSpPr>
        <p:spPr>
          <a:xfrm>
            <a:off x="6127851" y="4663440"/>
            <a:ext cx="2743200" cy="15087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127851" y="4663440"/>
            <a:ext cx="2743200" cy="3657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27851" y="4718304"/>
            <a:ext cx="2743200" cy="274320"/>
          </a:xfrm>
          <a:prstGeom prst="rect">
            <a:avLst/>
          </a:prstGeom>
          <a:noFill/>
        </p:spPr>
        <p:txBody>
          <a:bodyPr wrap="square" lIns="50000" tIns="20000" rIns="50000" bIns="20000" anchor="t">
            <a:spAutoFit/>
          </a:bodyPr>
          <a:lstStyle/>
          <a:p>
            <a:pPr algn="ctr">
              <a:lnSpc>
                <a:spcPct val="120000"/>
              </a:lnSpc>
            </a:pPr>
            <a:r>
              <a:rPr sz="1400" b="1" i="0">
                <a:solidFill>
                  <a:srgbClr val="FFFFFF"/>
                </a:solidFill>
                <a:latin typeface="Calibri"/>
              </a:rPr>
              <a:t>M3</a:t>
            </a:r>
          </a:p>
        </p:txBody>
      </p:sp>
      <p:sp>
        <p:nvSpPr>
          <p:cNvPr id="38" name="TextBox 37"/>
          <p:cNvSpPr txBox="1"/>
          <p:nvPr/>
        </p:nvSpPr>
        <p:spPr>
          <a:xfrm>
            <a:off x="6265011" y="5120640"/>
            <a:ext cx="2468880" cy="365760"/>
          </a:xfrm>
          <a:prstGeom prst="rect">
            <a:avLst/>
          </a:prstGeom>
          <a:noFill/>
        </p:spPr>
        <p:txBody>
          <a:bodyPr wrap="square" lIns="50000" tIns="20000" rIns="50000" bIns="20000" anchor="t">
            <a:spAutoFit/>
          </a:bodyPr>
          <a:lstStyle/>
          <a:p>
            <a:pPr algn="l">
              <a:lnSpc>
                <a:spcPct val="120000"/>
              </a:lnSpc>
            </a:pPr>
            <a:r>
              <a:rPr sz="1400" b="1" i="0">
                <a:solidFill>
                  <a:srgbClr val="0F172A"/>
                </a:solidFill>
                <a:latin typeface="Calibri"/>
              </a:rPr>
              <a:t>Multi-floor stacked</a:t>
            </a:r>
          </a:p>
        </p:txBody>
      </p:sp>
      <p:sp>
        <p:nvSpPr>
          <p:cNvPr id="39" name="TextBox 38"/>
          <p:cNvSpPr txBox="1"/>
          <p:nvPr/>
        </p:nvSpPr>
        <p:spPr>
          <a:xfrm>
            <a:off x="6265011" y="5532120"/>
            <a:ext cx="2468880" cy="274320"/>
          </a:xfrm>
          <a:prstGeom prst="rect">
            <a:avLst/>
          </a:prstGeom>
          <a:noFill/>
        </p:spPr>
        <p:txBody>
          <a:bodyPr wrap="square" lIns="50000" tIns="20000" rIns="50000" bIns="20000" anchor="t">
            <a:spAutoFit/>
          </a:bodyPr>
          <a:lstStyle/>
          <a:p>
            <a:pPr algn="l">
              <a:lnSpc>
                <a:spcPct val="120000"/>
              </a:lnSpc>
            </a:pPr>
            <a:r>
              <a:rPr sz="1200" b="0" i="1">
                <a:solidFill>
                  <a:srgbClr val="F97316"/>
                </a:solidFill>
                <a:latin typeface="Calibri"/>
              </a:rPr>
              <a:t>3-5 tầng</a:t>
            </a:r>
          </a:p>
        </p:txBody>
      </p:sp>
      <p:sp>
        <p:nvSpPr>
          <p:cNvPr id="40" name="TextBox 39"/>
          <p:cNvSpPr txBox="1"/>
          <p:nvPr/>
        </p:nvSpPr>
        <p:spPr>
          <a:xfrm>
            <a:off x="6265011" y="5806440"/>
            <a:ext cx="2468880" cy="320040"/>
          </a:xfrm>
          <a:prstGeom prst="rect">
            <a:avLst/>
          </a:prstGeom>
          <a:noFill/>
        </p:spPr>
        <p:txBody>
          <a:bodyPr wrap="square" lIns="50000" tIns="20000" rIns="50000" bIns="20000" anchor="t">
            <a:spAutoFit/>
          </a:bodyPr>
          <a:lstStyle/>
          <a:p>
            <a:pPr algn="l">
              <a:lnSpc>
                <a:spcPct val="120000"/>
              </a:lnSpc>
            </a:pPr>
            <a:r>
              <a:rPr sz="1100" b="0" i="0">
                <a:solidFill>
                  <a:srgbClr val="64748B"/>
                </a:solidFill>
                <a:latin typeface="Calibri"/>
              </a:rPr>
              <a:t>Tòa văn phòng</a:t>
            </a:r>
          </a:p>
        </p:txBody>
      </p:sp>
      <p:sp>
        <p:nvSpPr>
          <p:cNvPr id="41" name="Rectangle 40"/>
          <p:cNvSpPr/>
          <p:nvPr/>
        </p:nvSpPr>
        <p:spPr>
          <a:xfrm>
            <a:off x="8935059" y="4663440"/>
            <a:ext cx="2743200" cy="15087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935059" y="4663440"/>
            <a:ext cx="2743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935059" y="4718304"/>
            <a:ext cx="2743200" cy="274320"/>
          </a:xfrm>
          <a:prstGeom prst="rect">
            <a:avLst/>
          </a:prstGeom>
          <a:noFill/>
        </p:spPr>
        <p:txBody>
          <a:bodyPr wrap="square" lIns="50000" tIns="20000" rIns="50000" bIns="20000" anchor="t">
            <a:spAutoFit/>
          </a:bodyPr>
          <a:lstStyle/>
          <a:p>
            <a:pPr algn="ctr">
              <a:lnSpc>
                <a:spcPct val="120000"/>
              </a:lnSpc>
            </a:pPr>
            <a:r>
              <a:rPr sz="1400" b="1" i="0">
                <a:solidFill>
                  <a:srgbClr val="FFFFFF"/>
                </a:solidFill>
                <a:latin typeface="Calibri"/>
              </a:rPr>
              <a:t>M4</a:t>
            </a:r>
          </a:p>
        </p:txBody>
      </p:sp>
      <p:sp>
        <p:nvSpPr>
          <p:cNvPr id="44" name="TextBox 43"/>
          <p:cNvSpPr txBox="1"/>
          <p:nvPr/>
        </p:nvSpPr>
        <p:spPr>
          <a:xfrm>
            <a:off x="9072219" y="5120640"/>
            <a:ext cx="2468880" cy="365760"/>
          </a:xfrm>
          <a:prstGeom prst="rect">
            <a:avLst/>
          </a:prstGeom>
          <a:noFill/>
        </p:spPr>
        <p:txBody>
          <a:bodyPr wrap="square" lIns="50000" tIns="20000" rIns="50000" bIns="20000" anchor="t">
            <a:spAutoFit/>
          </a:bodyPr>
          <a:lstStyle/>
          <a:p>
            <a:pPr algn="l">
              <a:lnSpc>
                <a:spcPct val="120000"/>
              </a:lnSpc>
            </a:pPr>
            <a:r>
              <a:rPr sz="1400" b="1" i="0">
                <a:solidFill>
                  <a:srgbClr val="0F172A"/>
                </a:solidFill>
                <a:latin typeface="Calibri"/>
              </a:rPr>
              <a:t>Mixed (xe+EV+motor)</a:t>
            </a:r>
          </a:p>
        </p:txBody>
      </p:sp>
      <p:sp>
        <p:nvSpPr>
          <p:cNvPr id="45" name="TextBox 44"/>
          <p:cNvSpPr txBox="1"/>
          <p:nvPr/>
        </p:nvSpPr>
        <p:spPr>
          <a:xfrm>
            <a:off x="9072219" y="5532120"/>
            <a:ext cx="2468880" cy="274320"/>
          </a:xfrm>
          <a:prstGeom prst="rect">
            <a:avLst/>
          </a:prstGeom>
          <a:noFill/>
        </p:spPr>
        <p:txBody>
          <a:bodyPr wrap="square" lIns="50000" tIns="20000" rIns="50000" bIns="20000" anchor="t">
            <a:spAutoFit/>
          </a:bodyPr>
          <a:lstStyle/>
          <a:p>
            <a:pPr algn="l">
              <a:lnSpc>
                <a:spcPct val="120000"/>
              </a:lnSpc>
            </a:pPr>
            <a:r>
              <a:rPr sz="1200" b="0" i="1">
                <a:solidFill>
                  <a:srgbClr val="10B981"/>
                </a:solidFill>
                <a:latin typeface="Calibri"/>
              </a:rPr>
              <a:t>Mọi loại xe</a:t>
            </a:r>
          </a:p>
        </p:txBody>
      </p:sp>
      <p:sp>
        <p:nvSpPr>
          <p:cNvPr id="46" name="TextBox 45"/>
          <p:cNvSpPr txBox="1"/>
          <p:nvPr/>
        </p:nvSpPr>
        <p:spPr>
          <a:xfrm>
            <a:off x="9072219" y="5806440"/>
            <a:ext cx="2468880" cy="320040"/>
          </a:xfrm>
          <a:prstGeom prst="rect">
            <a:avLst/>
          </a:prstGeom>
          <a:noFill/>
        </p:spPr>
        <p:txBody>
          <a:bodyPr wrap="square" lIns="50000" tIns="20000" rIns="50000" bIns="20000" anchor="t">
            <a:spAutoFit/>
          </a:bodyPr>
          <a:lstStyle/>
          <a:p>
            <a:pPr algn="l">
              <a:lnSpc>
                <a:spcPct val="120000"/>
              </a:lnSpc>
            </a:pPr>
            <a:r>
              <a:rPr sz="1100" b="0" i="0">
                <a:solidFill>
                  <a:srgbClr val="64748B"/>
                </a:solidFill>
                <a:latin typeface="Calibri"/>
              </a:rPr>
              <a:t>Bãi tổng hợp</a:t>
            </a:r>
          </a:p>
        </p:txBody>
      </p:sp>
      <p:sp>
        <p:nvSpPr>
          <p:cNvPr id="47" name="TextBox 46"/>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48" name="TextBox 47"/>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16 / 23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E40AF"/>
                </a:solidFill>
                <a:latin typeface="Calibri"/>
              </a:rPr>
              <a:t>16</a:t>
            </a:r>
            <a:r>
              <a:rPr sz="1100">
                <a:solidFill>
                  <a:srgbClr val="64748B"/>
                </a:solidFill>
                <a:latin typeface="Calibri"/>
              </a:rPr>
              <a:t>   KHÓ KHĂN &amp; BÀI HỌC</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Failures cũng là kinh nghiệm</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72287" y="2194560"/>
            <a:ext cx="3657600" cy="1325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2287" y="2194560"/>
            <a:ext cx="3657600" cy="36576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5167" y="2240280"/>
            <a:ext cx="3383280" cy="274320"/>
          </a:xfrm>
          <a:prstGeom prst="rect">
            <a:avLst/>
          </a:prstGeom>
          <a:noFill/>
        </p:spPr>
        <p:txBody>
          <a:bodyPr wrap="square" lIns="50000" tIns="20000" rIns="50000" bIns="20000" anchor="t">
            <a:spAutoFit/>
          </a:bodyPr>
          <a:lstStyle/>
          <a:p>
            <a:pPr algn="l">
              <a:lnSpc>
                <a:spcPct val="120000"/>
              </a:lnSpc>
            </a:pPr>
            <a:r>
              <a:rPr sz="1300" b="1" i="0">
                <a:solidFill>
                  <a:srgbClr val="FFFFFF"/>
                </a:solidFill>
                <a:latin typeface="Calibri"/>
              </a:rPr>
              <a:t>YOLO fail trên slot</a:t>
            </a:r>
          </a:p>
        </p:txBody>
      </p:sp>
      <p:sp>
        <p:nvSpPr>
          <p:cNvPr id="9" name="TextBox 8"/>
          <p:cNvSpPr txBox="1"/>
          <p:nvPr/>
        </p:nvSpPr>
        <p:spPr>
          <a:xfrm>
            <a:off x="655167" y="2651760"/>
            <a:ext cx="3383280" cy="365760"/>
          </a:xfrm>
          <a:prstGeom prst="rect">
            <a:avLst/>
          </a:prstGeom>
          <a:noFill/>
        </p:spPr>
        <p:txBody>
          <a:bodyPr wrap="square" lIns="50000" tIns="20000" rIns="50000" bIns="20000" anchor="t">
            <a:spAutoFit/>
          </a:bodyPr>
          <a:lstStyle/>
          <a:p>
            <a:pPr algn="l">
              <a:lnSpc>
                <a:spcPct val="120000"/>
              </a:lnSpc>
            </a:pPr>
            <a:r>
              <a:rPr sz="1100" b="0" i="1">
                <a:solidFill>
                  <a:srgbClr val="64748B"/>
                </a:solidFill>
                <a:latin typeface="Calibri"/>
              </a:rPr>
              <a:t>Nguyên nhân: Unity primitive ≠ COCO</a:t>
            </a:r>
          </a:p>
        </p:txBody>
      </p:sp>
      <p:sp>
        <p:nvSpPr>
          <p:cNvPr id="10" name="TextBox 9"/>
          <p:cNvSpPr txBox="1"/>
          <p:nvPr/>
        </p:nvSpPr>
        <p:spPr>
          <a:xfrm>
            <a:off x="655167" y="3063240"/>
            <a:ext cx="3383280" cy="411480"/>
          </a:xfrm>
          <a:prstGeom prst="rect">
            <a:avLst/>
          </a:prstGeom>
          <a:noFill/>
        </p:spPr>
        <p:txBody>
          <a:bodyPr wrap="square" lIns="50000" tIns="20000" rIns="50000" bIns="20000" anchor="t">
            <a:spAutoFit/>
          </a:bodyPr>
          <a:lstStyle/>
          <a:p>
            <a:pPr algn="l">
              <a:lnSpc>
                <a:spcPct val="130000"/>
              </a:lnSpc>
            </a:pPr>
            <a:r>
              <a:rPr sz="1200" b="1" i="0">
                <a:solidFill>
                  <a:srgbClr val="10B981"/>
                </a:solidFill>
                <a:latin typeface="Calibri"/>
              </a:rPr>
              <a:t>→ Fallback OpenCV HSV</a:t>
            </a:r>
          </a:p>
        </p:txBody>
      </p:sp>
      <p:sp>
        <p:nvSpPr>
          <p:cNvPr id="11" name="Rectangle 10"/>
          <p:cNvSpPr/>
          <p:nvPr/>
        </p:nvSpPr>
        <p:spPr>
          <a:xfrm>
            <a:off x="4267047" y="2194560"/>
            <a:ext cx="3657600" cy="1325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67047" y="2194560"/>
            <a:ext cx="3657600" cy="3657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49927" y="2240280"/>
            <a:ext cx="3383280" cy="274320"/>
          </a:xfrm>
          <a:prstGeom prst="rect">
            <a:avLst/>
          </a:prstGeom>
          <a:noFill/>
        </p:spPr>
        <p:txBody>
          <a:bodyPr wrap="square" lIns="50000" tIns="20000" rIns="50000" bIns="20000" anchor="t">
            <a:spAutoFit/>
          </a:bodyPr>
          <a:lstStyle/>
          <a:p>
            <a:pPr algn="l">
              <a:lnSpc>
                <a:spcPct val="120000"/>
              </a:lnSpc>
            </a:pPr>
            <a:r>
              <a:rPr sz="1300" b="1" i="0">
                <a:solidFill>
                  <a:srgbClr val="FFFFFF"/>
                </a:solidFill>
                <a:latin typeface="Calibri"/>
              </a:rPr>
              <a:t>Banknote accuracy thấp</a:t>
            </a:r>
          </a:p>
        </p:txBody>
      </p:sp>
      <p:sp>
        <p:nvSpPr>
          <p:cNvPr id="14" name="TextBox 13"/>
          <p:cNvSpPr txBox="1"/>
          <p:nvPr/>
        </p:nvSpPr>
        <p:spPr>
          <a:xfrm>
            <a:off x="4449927" y="2651760"/>
            <a:ext cx="3383280" cy="365760"/>
          </a:xfrm>
          <a:prstGeom prst="rect">
            <a:avLst/>
          </a:prstGeom>
          <a:noFill/>
        </p:spPr>
        <p:txBody>
          <a:bodyPr wrap="square" lIns="50000" tIns="20000" rIns="50000" bIns="20000" anchor="t">
            <a:spAutoFit/>
          </a:bodyPr>
          <a:lstStyle/>
          <a:p>
            <a:pPr algn="l">
              <a:lnSpc>
                <a:spcPct val="120000"/>
              </a:lnSpc>
            </a:pPr>
            <a:r>
              <a:rPr sz="1100" b="0" i="1">
                <a:solidFill>
                  <a:srgbClr val="64748B"/>
                </a:solidFill>
                <a:latin typeface="Calibri"/>
              </a:rPr>
              <a:t>Nguyên nhân: Backbone yếu, không reject</a:t>
            </a:r>
          </a:p>
        </p:txBody>
      </p:sp>
      <p:sp>
        <p:nvSpPr>
          <p:cNvPr id="15" name="TextBox 14"/>
          <p:cNvSpPr txBox="1"/>
          <p:nvPr/>
        </p:nvSpPr>
        <p:spPr>
          <a:xfrm>
            <a:off x="4449927" y="3063240"/>
            <a:ext cx="3383280" cy="411480"/>
          </a:xfrm>
          <a:prstGeom prst="rect">
            <a:avLst/>
          </a:prstGeom>
          <a:noFill/>
        </p:spPr>
        <p:txBody>
          <a:bodyPr wrap="square" lIns="50000" tIns="20000" rIns="50000" bIns="20000" anchor="t">
            <a:spAutoFit/>
          </a:bodyPr>
          <a:lstStyle/>
          <a:p>
            <a:pPr algn="l">
              <a:lnSpc>
                <a:spcPct val="130000"/>
              </a:lnSpc>
            </a:pPr>
            <a:r>
              <a:rPr sz="1200" b="1" i="0">
                <a:solidFill>
                  <a:srgbClr val="10B981"/>
                </a:solidFill>
                <a:latin typeface="Calibri"/>
              </a:rPr>
              <a:t>→ EfficientNetV2-S + TTA + Reject</a:t>
            </a:r>
          </a:p>
        </p:txBody>
      </p:sp>
      <p:sp>
        <p:nvSpPr>
          <p:cNvPr id="16" name="Rectangle 15"/>
          <p:cNvSpPr/>
          <p:nvPr/>
        </p:nvSpPr>
        <p:spPr>
          <a:xfrm>
            <a:off x="8061807" y="2194560"/>
            <a:ext cx="3657600" cy="1325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61807" y="2194560"/>
            <a:ext cx="3657600" cy="36576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44687" y="2240280"/>
            <a:ext cx="3383280" cy="274320"/>
          </a:xfrm>
          <a:prstGeom prst="rect">
            <a:avLst/>
          </a:prstGeom>
          <a:noFill/>
        </p:spPr>
        <p:txBody>
          <a:bodyPr wrap="square" lIns="50000" tIns="20000" rIns="50000" bIns="20000" anchor="t">
            <a:spAutoFit/>
          </a:bodyPr>
          <a:lstStyle/>
          <a:p>
            <a:pPr algn="l">
              <a:lnSpc>
                <a:spcPct val="120000"/>
              </a:lnSpc>
            </a:pPr>
            <a:r>
              <a:rPr sz="1300" b="1" i="0">
                <a:solidFill>
                  <a:srgbClr val="FFFFFF"/>
                </a:solidFill>
                <a:latin typeface="Calibri"/>
              </a:rPr>
              <a:t>GTX 1650 4GB OOM</a:t>
            </a:r>
          </a:p>
        </p:txBody>
      </p:sp>
      <p:sp>
        <p:nvSpPr>
          <p:cNvPr id="19" name="TextBox 18"/>
          <p:cNvSpPr txBox="1"/>
          <p:nvPr/>
        </p:nvSpPr>
        <p:spPr>
          <a:xfrm>
            <a:off x="8244687" y="2651760"/>
            <a:ext cx="3383280" cy="365760"/>
          </a:xfrm>
          <a:prstGeom prst="rect">
            <a:avLst/>
          </a:prstGeom>
          <a:noFill/>
        </p:spPr>
        <p:txBody>
          <a:bodyPr wrap="square" lIns="50000" tIns="20000" rIns="50000" bIns="20000" anchor="t">
            <a:spAutoFit/>
          </a:bodyPr>
          <a:lstStyle/>
          <a:p>
            <a:pPr algn="l">
              <a:lnSpc>
                <a:spcPct val="120000"/>
              </a:lnSpc>
            </a:pPr>
            <a:r>
              <a:rPr sz="1100" b="0" i="1">
                <a:solidFill>
                  <a:srgbClr val="64748B"/>
                </a:solidFill>
                <a:latin typeface="Calibri"/>
              </a:rPr>
              <a:t>Nguyên nhân: fp32 + batch lớn</a:t>
            </a:r>
          </a:p>
        </p:txBody>
      </p:sp>
      <p:sp>
        <p:nvSpPr>
          <p:cNvPr id="20" name="TextBox 19"/>
          <p:cNvSpPr txBox="1"/>
          <p:nvPr/>
        </p:nvSpPr>
        <p:spPr>
          <a:xfrm>
            <a:off x="8244687" y="3063240"/>
            <a:ext cx="3383280" cy="411480"/>
          </a:xfrm>
          <a:prstGeom prst="rect">
            <a:avLst/>
          </a:prstGeom>
          <a:noFill/>
        </p:spPr>
        <p:txBody>
          <a:bodyPr wrap="square" lIns="50000" tIns="20000" rIns="50000" bIns="20000" anchor="t">
            <a:spAutoFit/>
          </a:bodyPr>
          <a:lstStyle/>
          <a:p>
            <a:pPr algn="l">
              <a:lnSpc>
                <a:spcPct val="130000"/>
              </a:lnSpc>
            </a:pPr>
            <a:r>
              <a:rPr sz="1200" b="1" i="0">
                <a:solidFill>
                  <a:srgbClr val="10B981"/>
                </a:solidFill>
                <a:latin typeface="Calibri"/>
              </a:rPr>
              <a:t>→ Mixed precision fp16 + batch 12</a:t>
            </a:r>
          </a:p>
        </p:txBody>
      </p:sp>
      <p:sp>
        <p:nvSpPr>
          <p:cNvPr id="21" name="Rectangle 20"/>
          <p:cNvSpPr/>
          <p:nvPr/>
        </p:nvSpPr>
        <p:spPr>
          <a:xfrm>
            <a:off x="472287" y="3657600"/>
            <a:ext cx="3657600" cy="1325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72287" y="3657600"/>
            <a:ext cx="3657600" cy="36576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5167" y="3703320"/>
            <a:ext cx="3383280" cy="274320"/>
          </a:xfrm>
          <a:prstGeom prst="rect">
            <a:avLst/>
          </a:prstGeom>
          <a:noFill/>
        </p:spPr>
        <p:txBody>
          <a:bodyPr wrap="square" lIns="50000" tIns="20000" rIns="50000" bIns="20000" anchor="t">
            <a:spAutoFit/>
          </a:bodyPr>
          <a:lstStyle/>
          <a:p>
            <a:pPr algn="l">
              <a:lnSpc>
                <a:spcPct val="120000"/>
              </a:lnSpc>
            </a:pPr>
            <a:r>
              <a:rPr sz="1300" b="1" i="0">
                <a:solidFill>
                  <a:srgbClr val="FFFFFF"/>
                </a:solidFill>
                <a:latin typeface="Calibri"/>
              </a:rPr>
              <a:t>EasyOCR cold-start 20s</a:t>
            </a:r>
          </a:p>
        </p:txBody>
      </p:sp>
      <p:sp>
        <p:nvSpPr>
          <p:cNvPr id="24" name="TextBox 23"/>
          <p:cNvSpPr txBox="1"/>
          <p:nvPr/>
        </p:nvSpPr>
        <p:spPr>
          <a:xfrm>
            <a:off x="655167" y="4114800"/>
            <a:ext cx="3383280" cy="365760"/>
          </a:xfrm>
          <a:prstGeom prst="rect">
            <a:avLst/>
          </a:prstGeom>
          <a:noFill/>
        </p:spPr>
        <p:txBody>
          <a:bodyPr wrap="square" lIns="50000" tIns="20000" rIns="50000" bIns="20000" anchor="t">
            <a:spAutoFit/>
          </a:bodyPr>
          <a:lstStyle/>
          <a:p>
            <a:pPr algn="l">
              <a:lnSpc>
                <a:spcPct val="120000"/>
              </a:lnSpc>
            </a:pPr>
            <a:r>
              <a:rPr sz="1100" b="0" i="1">
                <a:solidFill>
                  <a:srgbClr val="64748B"/>
                </a:solidFill>
                <a:latin typeface="Calibri"/>
              </a:rPr>
              <a:t>Nguyên nhân: Lazy load model</a:t>
            </a:r>
          </a:p>
        </p:txBody>
      </p:sp>
      <p:sp>
        <p:nvSpPr>
          <p:cNvPr id="25" name="TextBox 24"/>
          <p:cNvSpPr txBox="1"/>
          <p:nvPr/>
        </p:nvSpPr>
        <p:spPr>
          <a:xfrm>
            <a:off x="655167" y="4526280"/>
            <a:ext cx="3383280" cy="411480"/>
          </a:xfrm>
          <a:prstGeom prst="rect">
            <a:avLst/>
          </a:prstGeom>
          <a:noFill/>
        </p:spPr>
        <p:txBody>
          <a:bodyPr wrap="square" lIns="50000" tIns="20000" rIns="50000" bIns="20000" anchor="t">
            <a:spAutoFit/>
          </a:bodyPr>
          <a:lstStyle/>
          <a:p>
            <a:pPr algn="l">
              <a:lnSpc>
                <a:spcPct val="130000"/>
              </a:lnSpc>
            </a:pPr>
            <a:r>
              <a:rPr sz="1200" b="1" i="0">
                <a:solidFill>
                  <a:srgbClr val="10B981"/>
                </a:solidFill>
                <a:latin typeface="Calibri"/>
              </a:rPr>
              <a:t>→ Pre-warm trong lifespan()</a:t>
            </a:r>
          </a:p>
        </p:txBody>
      </p:sp>
      <p:sp>
        <p:nvSpPr>
          <p:cNvPr id="26" name="Rectangle 25"/>
          <p:cNvSpPr/>
          <p:nvPr/>
        </p:nvSpPr>
        <p:spPr>
          <a:xfrm>
            <a:off x="4267047" y="3657600"/>
            <a:ext cx="3657600" cy="1325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267047" y="3657600"/>
            <a:ext cx="36576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49927" y="3703320"/>
            <a:ext cx="3383280" cy="274320"/>
          </a:xfrm>
          <a:prstGeom prst="rect">
            <a:avLst/>
          </a:prstGeom>
          <a:noFill/>
        </p:spPr>
        <p:txBody>
          <a:bodyPr wrap="square" lIns="50000" tIns="20000" rIns="50000" bIns="20000" anchor="t">
            <a:spAutoFit/>
          </a:bodyPr>
          <a:lstStyle/>
          <a:p>
            <a:pPr algn="l">
              <a:lnSpc>
                <a:spcPct val="120000"/>
              </a:lnSpc>
            </a:pPr>
            <a:r>
              <a:rPr sz="1300" b="1" i="0">
                <a:solidFill>
                  <a:srgbClr val="FFFFFF"/>
                </a:solidFill>
                <a:latin typeface="Calibri"/>
              </a:rPr>
              <a:t>Gemini quota limit</a:t>
            </a:r>
          </a:p>
        </p:txBody>
      </p:sp>
      <p:sp>
        <p:nvSpPr>
          <p:cNvPr id="29" name="TextBox 28"/>
          <p:cNvSpPr txBox="1"/>
          <p:nvPr/>
        </p:nvSpPr>
        <p:spPr>
          <a:xfrm>
            <a:off x="4449927" y="4114800"/>
            <a:ext cx="3383280" cy="365760"/>
          </a:xfrm>
          <a:prstGeom prst="rect">
            <a:avLst/>
          </a:prstGeom>
          <a:noFill/>
        </p:spPr>
        <p:txBody>
          <a:bodyPr wrap="square" lIns="50000" tIns="20000" rIns="50000" bIns="20000" anchor="t">
            <a:spAutoFit/>
          </a:bodyPr>
          <a:lstStyle/>
          <a:p>
            <a:pPr algn="l">
              <a:lnSpc>
                <a:spcPct val="120000"/>
              </a:lnSpc>
            </a:pPr>
            <a:r>
              <a:rPr sz="1100" b="0" i="1">
                <a:solidFill>
                  <a:srgbClr val="64748B"/>
                </a:solidFill>
                <a:latin typeface="Calibri"/>
              </a:rPr>
              <a:t>Nguyên nhân: Free tier 1500/day</a:t>
            </a:r>
          </a:p>
        </p:txBody>
      </p:sp>
      <p:sp>
        <p:nvSpPr>
          <p:cNvPr id="30" name="TextBox 29"/>
          <p:cNvSpPr txBox="1"/>
          <p:nvPr/>
        </p:nvSpPr>
        <p:spPr>
          <a:xfrm>
            <a:off x="4449927" y="4526280"/>
            <a:ext cx="3383280" cy="411480"/>
          </a:xfrm>
          <a:prstGeom prst="rect">
            <a:avLst/>
          </a:prstGeom>
          <a:noFill/>
        </p:spPr>
        <p:txBody>
          <a:bodyPr wrap="square" lIns="50000" tIns="20000" rIns="50000" bIns="20000" anchor="t">
            <a:spAutoFit/>
          </a:bodyPr>
          <a:lstStyle/>
          <a:p>
            <a:pPr algn="l">
              <a:lnSpc>
                <a:spcPct val="130000"/>
              </a:lnSpc>
            </a:pPr>
            <a:r>
              <a:rPr sz="1200" b="1" i="0">
                <a:solidFill>
                  <a:srgbClr val="10B981"/>
                </a:solidFill>
                <a:latin typeface="Calibri"/>
              </a:rPr>
              <a:t>→ Dual backend SDK + proxy</a:t>
            </a:r>
          </a:p>
        </p:txBody>
      </p:sp>
      <p:sp>
        <p:nvSpPr>
          <p:cNvPr id="31" name="Rectangle 30"/>
          <p:cNvSpPr/>
          <p:nvPr/>
        </p:nvSpPr>
        <p:spPr>
          <a:xfrm>
            <a:off x="8061807" y="3657600"/>
            <a:ext cx="3657600" cy="1325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061807" y="3657600"/>
            <a:ext cx="3657600" cy="36576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44687" y="3703320"/>
            <a:ext cx="3383280" cy="274320"/>
          </a:xfrm>
          <a:prstGeom prst="rect">
            <a:avLst/>
          </a:prstGeom>
          <a:noFill/>
        </p:spPr>
        <p:txBody>
          <a:bodyPr wrap="square" lIns="50000" tIns="20000" rIns="50000" bIns="20000" anchor="t">
            <a:spAutoFit/>
          </a:bodyPr>
          <a:lstStyle/>
          <a:p>
            <a:pPr algn="l">
              <a:lnSpc>
                <a:spcPct val="120000"/>
              </a:lnSpc>
            </a:pPr>
            <a:r>
              <a:rPr sz="1300" b="1" i="0">
                <a:solidFill>
                  <a:srgbClr val="FFFFFF"/>
                </a:solidFill>
                <a:latin typeface="Calibri"/>
              </a:rPr>
              <a:t>Class imbalance 200k</a:t>
            </a:r>
          </a:p>
        </p:txBody>
      </p:sp>
      <p:sp>
        <p:nvSpPr>
          <p:cNvPr id="34" name="TextBox 33"/>
          <p:cNvSpPr txBox="1"/>
          <p:nvPr/>
        </p:nvSpPr>
        <p:spPr>
          <a:xfrm>
            <a:off x="8244687" y="4114800"/>
            <a:ext cx="3383280" cy="365760"/>
          </a:xfrm>
          <a:prstGeom prst="rect">
            <a:avLst/>
          </a:prstGeom>
          <a:noFill/>
        </p:spPr>
        <p:txBody>
          <a:bodyPr wrap="square" lIns="50000" tIns="20000" rIns="50000" bIns="20000" anchor="t">
            <a:spAutoFit/>
          </a:bodyPr>
          <a:lstStyle/>
          <a:p>
            <a:pPr algn="l">
              <a:lnSpc>
                <a:spcPct val="120000"/>
              </a:lnSpc>
            </a:pPr>
            <a:r>
              <a:rPr sz="1100" b="0" i="1">
                <a:solidFill>
                  <a:srgbClr val="64748B"/>
                </a:solidFill>
                <a:latin typeface="Calibri"/>
              </a:rPr>
              <a:t>Nguyên nhân: Sampler thiên majority</a:t>
            </a:r>
          </a:p>
        </p:txBody>
      </p:sp>
      <p:sp>
        <p:nvSpPr>
          <p:cNvPr id="35" name="TextBox 34"/>
          <p:cNvSpPr txBox="1"/>
          <p:nvPr/>
        </p:nvSpPr>
        <p:spPr>
          <a:xfrm>
            <a:off x="8244687" y="4526280"/>
            <a:ext cx="3383280" cy="411480"/>
          </a:xfrm>
          <a:prstGeom prst="rect">
            <a:avLst/>
          </a:prstGeom>
          <a:noFill/>
        </p:spPr>
        <p:txBody>
          <a:bodyPr wrap="square" lIns="50000" tIns="20000" rIns="50000" bIns="20000" anchor="t">
            <a:spAutoFit/>
          </a:bodyPr>
          <a:lstStyle/>
          <a:p>
            <a:pPr algn="l">
              <a:lnSpc>
                <a:spcPct val="130000"/>
              </a:lnSpc>
            </a:pPr>
            <a:r>
              <a:rPr sz="1200" b="1" i="0">
                <a:solidFill>
                  <a:srgbClr val="10B981"/>
                </a:solidFill>
                <a:latin typeface="Calibri"/>
              </a:rPr>
              <a:t>→ WeightedSampler + class_weight</a:t>
            </a:r>
          </a:p>
        </p:txBody>
      </p:sp>
      <p:sp>
        <p:nvSpPr>
          <p:cNvPr id="36" name="TextBox 35"/>
          <p:cNvSpPr txBox="1"/>
          <p:nvPr/>
        </p:nvSpPr>
        <p:spPr>
          <a:xfrm>
            <a:off x="457200" y="5943600"/>
            <a:ext cx="11247120" cy="365760"/>
          </a:xfrm>
          <a:prstGeom prst="rect">
            <a:avLst/>
          </a:prstGeom>
          <a:noFill/>
        </p:spPr>
        <p:txBody>
          <a:bodyPr wrap="square" lIns="50000" tIns="20000" rIns="50000" bIns="20000" anchor="t">
            <a:spAutoFit/>
          </a:bodyPr>
          <a:lstStyle/>
          <a:p>
            <a:pPr algn="ctr">
              <a:lnSpc>
                <a:spcPct val="120000"/>
              </a:lnSpc>
            </a:pPr>
            <a:r>
              <a:rPr sz="1400" b="0" i="1">
                <a:solidFill>
                  <a:srgbClr val="64748B"/>
                </a:solidFill>
                <a:latin typeface="Calibri"/>
              </a:rPr>
              <a:t>7 sprints  ·  ~200 commits  ·  refactor 4 god-classes về &lt; 300 dòng</a:t>
            </a:r>
          </a:p>
        </p:txBody>
      </p:sp>
      <p:sp>
        <p:nvSpPr>
          <p:cNvPr id="37" name="TextBox 36"/>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38" name="TextBox 37"/>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17 / 23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E40AF"/>
                </a:solidFill>
                <a:latin typeface="Calibri"/>
              </a:rPr>
              <a:t>17</a:t>
            </a:r>
            <a:r>
              <a:rPr sz="1100">
                <a:solidFill>
                  <a:srgbClr val="64748B"/>
                </a:solidFill>
                <a:latin typeface="Calibri"/>
              </a:rPr>
              <a:t>   PHÂN TÍCH THỰC TẾ</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Hệ thống có thực sự sẵn sàng cho thực tế?</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103120"/>
            <a:ext cx="5532120" cy="18288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103120"/>
            <a:ext cx="553212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157984"/>
            <a:ext cx="5257800" cy="274320"/>
          </a:xfrm>
          <a:prstGeom prst="rect">
            <a:avLst/>
          </a:prstGeom>
          <a:noFill/>
        </p:spPr>
        <p:txBody>
          <a:bodyPr wrap="square" lIns="50000" tIns="20000" rIns="50000" bIns="20000" anchor="t">
            <a:spAutoFit/>
          </a:bodyPr>
          <a:lstStyle/>
          <a:p>
            <a:pPr algn="l">
              <a:lnSpc>
                <a:spcPct val="120000"/>
              </a:lnSpc>
            </a:pPr>
            <a:r>
              <a:rPr sz="1400" b="1" i="0">
                <a:solidFill>
                  <a:srgbClr val="FFFFFF"/>
                </a:solidFill>
                <a:latin typeface="Calibri"/>
              </a:rPr>
              <a:t>ĐIỂM MẠNH</a:t>
            </a:r>
          </a:p>
        </p:txBody>
      </p:sp>
      <p:sp>
        <p:nvSpPr>
          <p:cNvPr id="9" name="TextBox 8"/>
          <p:cNvSpPr txBox="1"/>
          <p:nvPr/>
        </p:nvSpPr>
        <p:spPr>
          <a:xfrm>
            <a:off x="685800" y="2560320"/>
            <a:ext cx="5120640" cy="1325880"/>
          </a:xfrm>
          <a:prstGeom prst="rect">
            <a:avLst/>
          </a:prstGeom>
          <a:noFill/>
        </p:spPr>
        <p:txBody>
          <a:bodyPr wrap="square" lIns="50000" tIns="20000" rIns="50000" bIns="20000" anchor="t">
            <a:spAutoFit/>
          </a:bodyPr>
          <a:lstStyle/>
          <a:p>
            <a:pPr algn="l">
              <a:lnSpc>
                <a:spcPct val="135000"/>
              </a:lnSpc>
            </a:pPr>
            <a:r>
              <a:rPr sz="1100" b="0" i="0">
                <a:solidFill>
                  <a:srgbClr val="0F172A"/>
                </a:solidFill>
                <a:latin typeface="Calibri"/>
              </a:rPr>
              <a:t>• Tự động 100% — không cần bảo vệ thường trực
• AI accuracy cao: plate 94.5%, banknote 98.22%, chatbot &gt;93%
• Open-source full stack — không lock-in vendor
• Pluggable IoT + Unity sim — test E2E mà chưa cần hardware</a:t>
            </a:r>
          </a:p>
        </p:txBody>
      </p:sp>
      <p:sp>
        <p:nvSpPr>
          <p:cNvPr id="10" name="Rectangle 9"/>
          <p:cNvSpPr/>
          <p:nvPr/>
        </p:nvSpPr>
        <p:spPr>
          <a:xfrm>
            <a:off x="6126480" y="2103120"/>
            <a:ext cx="5532120" cy="18288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0" y="2103120"/>
            <a:ext cx="5532120" cy="36576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0" y="2157984"/>
            <a:ext cx="5257800" cy="274320"/>
          </a:xfrm>
          <a:prstGeom prst="rect">
            <a:avLst/>
          </a:prstGeom>
          <a:noFill/>
        </p:spPr>
        <p:txBody>
          <a:bodyPr wrap="square" lIns="50000" tIns="20000" rIns="50000" bIns="20000" anchor="t">
            <a:spAutoFit/>
          </a:bodyPr>
          <a:lstStyle/>
          <a:p>
            <a:pPr algn="l">
              <a:lnSpc>
                <a:spcPct val="120000"/>
              </a:lnSpc>
            </a:pPr>
            <a:r>
              <a:rPr sz="1400" b="1" i="0">
                <a:solidFill>
                  <a:srgbClr val="FFFFFF"/>
                </a:solidFill>
                <a:latin typeface="Calibri"/>
              </a:rPr>
              <a:t>ĐIỂM YẾU</a:t>
            </a:r>
          </a:p>
        </p:txBody>
      </p:sp>
      <p:sp>
        <p:nvSpPr>
          <p:cNvPr id="13" name="TextBox 12"/>
          <p:cNvSpPr txBox="1"/>
          <p:nvPr/>
        </p:nvSpPr>
        <p:spPr>
          <a:xfrm>
            <a:off x="6355080" y="2560320"/>
            <a:ext cx="5120640" cy="1325880"/>
          </a:xfrm>
          <a:prstGeom prst="rect">
            <a:avLst/>
          </a:prstGeom>
          <a:noFill/>
        </p:spPr>
        <p:txBody>
          <a:bodyPr wrap="square" lIns="50000" tIns="20000" rIns="50000" bIns="20000" anchor="t">
            <a:spAutoFit/>
          </a:bodyPr>
          <a:lstStyle/>
          <a:p>
            <a:pPr algn="l">
              <a:lnSpc>
                <a:spcPct val="135000"/>
              </a:lnSpc>
            </a:pPr>
            <a:r>
              <a:rPr sz="1100" b="0" i="0">
                <a:solidFill>
                  <a:srgbClr val="0F172A"/>
                </a:solidFill>
                <a:latin typeface="Calibri"/>
              </a:rPr>
              <a:t>• Chưa pilot trên bãi thực tế với user thật
• AI edge cases: tiền cũ/rách, biển bẩn, đêm tối quá
• Cần internet ổn định — mất net = offline mode chưa hoàn thiện
• Hardware ESP32 chưa deploy thật (chỉ simulator Unity)</a:t>
            </a:r>
          </a:p>
        </p:txBody>
      </p:sp>
      <p:sp>
        <p:nvSpPr>
          <p:cNvPr id="14" name="Rectangle 13"/>
          <p:cNvSpPr/>
          <p:nvPr/>
        </p:nvSpPr>
        <p:spPr>
          <a:xfrm>
            <a:off x="457200" y="4069080"/>
            <a:ext cx="5532120" cy="18288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4069080"/>
            <a:ext cx="5532120" cy="36576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123944"/>
            <a:ext cx="5257800" cy="274320"/>
          </a:xfrm>
          <a:prstGeom prst="rect">
            <a:avLst/>
          </a:prstGeom>
          <a:noFill/>
        </p:spPr>
        <p:txBody>
          <a:bodyPr wrap="square" lIns="50000" tIns="20000" rIns="50000" bIns="20000" anchor="t">
            <a:spAutoFit/>
          </a:bodyPr>
          <a:lstStyle/>
          <a:p>
            <a:pPr algn="l">
              <a:lnSpc>
                <a:spcPct val="120000"/>
              </a:lnSpc>
            </a:pPr>
            <a:r>
              <a:rPr sz="1400" b="1" i="0">
                <a:solidFill>
                  <a:srgbClr val="FFFFFF"/>
                </a:solidFill>
                <a:latin typeface="Calibri"/>
              </a:rPr>
              <a:t>CƠ HỘI</a:t>
            </a:r>
          </a:p>
        </p:txBody>
      </p:sp>
      <p:sp>
        <p:nvSpPr>
          <p:cNvPr id="17" name="TextBox 16"/>
          <p:cNvSpPr txBox="1"/>
          <p:nvPr/>
        </p:nvSpPr>
        <p:spPr>
          <a:xfrm>
            <a:off x="685800" y="4526280"/>
            <a:ext cx="5120640" cy="1325880"/>
          </a:xfrm>
          <a:prstGeom prst="rect">
            <a:avLst/>
          </a:prstGeom>
          <a:noFill/>
        </p:spPr>
        <p:txBody>
          <a:bodyPr wrap="square" lIns="50000" tIns="20000" rIns="50000" bIns="20000" anchor="t">
            <a:spAutoFit/>
          </a:bodyPr>
          <a:lstStyle/>
          <a:p>
            <a:pPr algn="l">
              <a:lnSpc>
                <a:spcPct val="135000"/>
              </a:lnSpc>
            </a:pPr>
            <a:r>
              <a:rPr sz="1100" b="0" i="0">
                <a:solidFill>
                  <a:srgbClr val="0F172A"/>
                </a:solidFill>
                <a:latin typeface="Calibri"/>
              </a:rPr>
              <a:t>• Smart parking VN còn sơ khai — open market
• Văn hóa cash payment VN phù hợp banknote AI
• Cloud + 5G giảm cost edge compute theo thời gian
• Multi-tenant marketplace — nhân rộng bãi pilot</a:t>
            </a:r>
          </a:p>
        </p:txBody>
      </p:sp>
      <p:sp>
        <p:nvSpPr>
          <p:cNvPr id="18" name="Rectangle 17"/>
          <p:cNvSpPr/>
          <p:nvPr/>
        </p:nvSpPr>
        <p:spPr>
          <a:xfrm>
            <a:off x="6126480" y="4069080"/>
            <a:ext cx="5532120" cy="18288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26480" y="4069080"/>
            <a:ext cx="5532120" cy="3657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0" y="4123944"/>
            <a:ext cx="5257800" cy="274320"/>
          </a:xfrm>
          <a:prstGeom prst="rect">
            <a:avLst/>
          </a:prstGeom>
          <a:noFill/>
        </p:spPr>
        <p:txBody>
          <a:bodyPr wrap="square" lIns="50000" tIns="20000" rIns="50000" bIns="20000" anchor="t">
            <a:spAutoFit/>
          </a:bodyPr>
          <a:lstStyle/>
          <a:p>
            <a:pPr algn="l">
              <a:lnSpc>
                <a:spcPct val="120000"/>
              </a:lnSpc>
            </a:pPr>
            <a:r>
              <a:rPr sz="1400" b="1" i="0">
                <a:solidFill>
                  <a:srgbClr val="FFFFFF"/>
                </a:solidFill>
                <a:latin typeface="Calibri"/>
              </a:rPr>
              <a:t>THÁCH THỨC</a:t>
            </a:r>
          </a:p>
        </p:txBody>
      </p:sp>
      <p:sp>
        <p:nvSpPr>
          <p:cNvPr id="21" name="TextBox 20"/>
          <p:cNvSpPr txBox="1"/>
          <p:nvPr/>
        </p:nvSpPr>
        <p:spPr>
          <a:xfrm>
            <a:off x="6355080" y="4526280"/>
            <a:ext cx="5120640" cy="1325880"/>
          </a:xfrm>
          <a:prstGeom prst="rect">
            <a:avLst/>
          </a:prstGeom>
          <a:noFill/>
        </p:spPr>
        <p:txBody>
          <a:bodyPr wrap="square" lIns="50000" tIns="20000" rIns="50000" bIns="20000" anchor="t">
            <a:spAutoFit/>
          </a:bodyPr>
          <a:lstStyle/>
          <a:p>
            <a:pPr algn="l">
              <a:lnSpc>
                <a:spcPct val="135000"/>
              </a:lnSpc>
            </a:pPr>
            <a:r>
              <a:rPr sz="1100" b="0" i="0">
                <a:solidFill>
                  <a:srgbClr val="0F172A"/>
                </a:solidFill>
                <a:latin typeface="Calibri"/>
              </a:rPr>
              <a:t>• Pháp lý: biển số xe là personal data — cần consent
• Cạnh tranh từ Hikvision, Dahua, ParkingDesk
• User adoption — bãi truyền thống khó đổi sang tự động
• Bão táp/ăn cắp camera — hardware reliability</a:t>
            </a:r>
          </a:p>
        </p:txBody>
      </p:sp>
      <p:sp>
        <p:nvSpPr>
          <p:cNvPr id="22" name="Rectangle 21"/>
          <p:cNvSpPr/>
          <p:nvPr/>
        </p:nvSpPr>
        <p:spPr>
          <a:xfrm>
            <a:off x="457200" y="5943600"/>
            <a:ext cx="11247120" cy="457200"/>
          </a:xfrm>
          <a:prstGeom prst="rect">
            <a:avLst/>
          </a:prstGeom>
          <a:solidFill>
            <a:srgbClr val="172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5943600"/>
            <a:ext cx="11247120" cy="457200"/>
          </a:xfrm>
          <a:prstGeom prst="rect">
            <a:avLst/>
          </a:prstGeom>
          <a:noFill/>
        </p:spPr>
        <p:txBody>
          <a:bodyPr wrap="square" lIns="50000" tIns="20000" rIns="50000" bIns="20000" anchor="ctr">
            <a:spAutoFit/>
          </a:bodyPr>
          <a:lstStyle/>
          <a:p>
            <a:pPr algn="ctr">
              <a:lnSpc>
                <a:spcPct val="120000"/>
              </a:lnSpc>
            </a:pPr>
            <a:r>
              <a:rPr sz="1200" b="1" i="0">
                <a:solidFill>
                  <a:srgbClr val="FED7AA"/>
                </a:solidFill>
                <a:latin typeface="Calibri"/>
              </a:rPr>
              <a:t>AI đủ tốt cho production? — Có với manual override fallback  ·  Unity flexibility? — Config JSON regen scene</a:t>
            </a:r>
          </a:p>
        </p:txBody>
      </p:sp>
      <p:sp>
        <p:nvSpPr>
          <p:cNvPr id="24" name="TextBox 23"/>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25" name="TextBox 24"/>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18 / 23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E40AF"/>
                </a:solidFill>
                <a:latin typeface="Calibri"/>
              </a:rPr>
              <a:t>18</a:t>
            </a:r>
            <a:r>
              <a:rPr sz="1100">
                <a:solidFill>
                  <a:srgbClr val="64748B"/>
                </a:solidFill>
                <a:latin typeface="Calibri"/>
              </a:rPr>
              <a:t>   PHÁT TRIỂN &amp; HIỆU QUẢ</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Hướng phát triển  +  Business Case</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90575" y="2194560"/>
            <a:ext cx="3657600" cy="12344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90575" y="2194560"/>
            <a:ext cx="109728" cy="123444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3645255" y="2286000"/>
            <a:ext cx="365760" cy="365760"/>
          </a:xfrm>
          <a:prstGeom prst="ellipse">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45255" y="2286000"/>
            <a:ext cx="365760" cy="365760"/>
          </a:xfrm>
          <a:prstGeom prst="rect">
            <a:avLst/>
          </a:prstGeom>
          <a:noFill/>
        </p:spPr>
        <p:txBody>
          <a:bodyPr wrap="square" lIns="50000" tIns="20000" rIns="50000" bIns="20000" anchor="ctr">
            <a:spAutoFit/>
          </a:bodyPr>
          <a:lstStyle/>
          <a:p>
            <a:pPr algn="ctr">
              <a:lnSpc>
                <a:spcPct val="120000"/>
              </a:lnSpc>
            </a:pPr>
            <a:r>
              <a:rPr sz="1100" b="1" i="0">
                <a:solidFill>
                  <a:srgbClr val="FFFFFF"/>
                </a:solidFill>
                <a:latin typeface="Calibri"/>
              </a:rPr>
              <a:t>01</a:t>
            </a:r>
          </a:p>
        </p:txBody>
      </p:sp>
      <p:sp>
        <p:nvSpPr>
          <p:cNvPr id="10" name="TextBox 9"/>
          <p:cNvSpPr txBox="1"/>
          <p:nvPr/>
        </p:nvSpPr>
        <p:spPr>
          <a:xfrm>
            <a:off x="719175" y="2359152"/>
            <a:ext cx="2880360" cy="411480"/>
          </a:xfrm>
          <a:prstGeom prst="rect">
            <a:avLst/>
          </a:prstGeom>
          <a:noFill/>
        </p:spPr>
        <p:txBody>
          <a:bodyPr wrap="square" lIns="50000" tIns="20000" rIns="50000" bIns="20000" anchor="t">
            <a:spAutoFit/>
          </a:bodyPr>
          <a:lstStyle/>
          <a:p>
            <a:pPr algn="l">
              <a:lnSpc>
                <a:spcPct val="120000"/>
              </a:lnSpc>
            </a:pPr>
            <a:r>
              <a:rPr sz="1500" b="1" i="0">
                <a:solidFill>
                  <a:srgbClr val="1E40AF"/>
                </a:solidFill>
                <a:latin typeface="Calibri"/>
              </a:rPr>
              <a:t>Hoạt động ngoại tuyến</a:t>
            </a:r>
          </a:p>
        </p:txBody>
      </p:sp>
      <p:sp>
        <p:nvSpPr>
          <p:cNvPr id="11" name="TextBox 10"/>
          <p:cNvSpPr txBox="1"/>
          <p:nvPr/>
        </p:nvSpPr>
        <p:spPr>
          <a:xfrm>
            <a:off x="719175" y="2834640"/>
            <a:ext cx="3291840" cy="502920"/>
          </a:xfrm>
          <a:prstGeom prst="rect">
            <a:avLst/>
          </a:prstGeom>
          <a:noFill/>
        </p:spPr>
        <p:txBody>
          <a:bodyPr wrap="square" lIns="50000" tIns="20000" rIns="50000" bIns="20000" anchor="t">
            <a:spAutoFit/>
          </a:bodyPr>
          <a:lstStyle/>
          <a:p>
            <a:pPr algn="l">
              <a:lnSpc>
                <a:spcPct val="135000"/>
              </a:lnSpc>
            </a:pPr>
            <a:r>
              <a:rPr sz="1200" b="0" i="0">
                <a:solidFill>
                  <a:srgbClr val="334155"/>
                </a:solidFill>
                <a:latin typeface="Calibri"/>
              </a:rPr>
              <a:t>Local fallback queue khi mất internet</a:t>
            </a:r>
          </a:p>
        </p:txBody>
      </p:sp>
      <p:sp>
        <p:nvSpPr>
          <p:cNvPr id="12" name="Rectangle 11"/>
          <p:cNvSpPr/>
          <p:nvPr/>
        </p:nvSpPr>
        <p:spPr>
          <a:xfrm>
            <a:off x="4267047" y="2194560"/>
            <a:ext cx="3657600" cy="12344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67047" y="2194560"/>
            <a:ext cx="109728"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421727" y="22860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21727" y="2286000"/>
            <a:ext cx="365760" cy="365760"/>
          </a:xfrm>
          <a:prstGeom prst="rect">
            <a:avLst/>
          </a:prstGeom>
          <a:noFill/>
        </p:spPr>
        <p:txBody>
          <a:bodyPr wrap="square" lIns="50000" tIns="20000" rIns="50000" bIns="20000" anchor="ctr">
            <a:spAutoFit/>
          </a:bodyPr>
          <a:lstStyle/>
          <a:p>
            <a:pPr algn="ctr">
              <a:lnSpc>
                <a:spcPct val="120000"/>
              </a:lnSpc>
            </a:pPr>
            <a:r>
              <a:rPr sz="1100" b="1" i="0">
                <a:solidFill>
                  <a:srgbClr val="FFFFFF"/>
                </a:solidFill>
                <a:latin typeface="Calibri"/>
              </a:rPr>
              <a:t>02</a:t>
            </a:r>
          </a:p>
        </p:txBody>
      </p:sp>
      <p:sp>
        <p:nvSpPr>
          <p:cNvPr id="16" name="TextBox 15"/>
          <p:cNvSpPr txBox="1"/>
          <p:nvPr/>
        </p:nvSpPr>
        <p:spPr>
          <a:xfrm>
            <a:off x="4495647" y="2359152"/>
            <a:ext cx="2880360" cy="411480"/>
          </a:xfrm>
          <a:prstGeom prst="rect">
            <a:avLst/>
          </a:prstGeom>
          <a:noFill/>
        </p:spPr>
        <p:txBody>
          <a:bodyPr wrap="square" lIns="50000" tIns="20000" rIns="50000" bIns="20000" anchor="t">
            <a:spAutoFit/>
          </a:bodyPr>
          <a:lstStyle/>
          <a:p>
            <a:pPr algn="l">
              <a:lnSpc>
                <a:spcPct val="120000"/>
              </a:lnSpc>
            </a:pPr>
            <a:r>
              <a:rPr sz="1500" b="1" i="0">
                <a:solidFill>
                  <a:srgbClr val="10B981"/>
                </a:solidFill>
                <a:latin typeface="Calibri"/>
              </a:rPr>
              <a:t>Cảm biến nâng cao</a:t>
            </a:r>
          </a:p>
        </p:txBody>
      </p:sp>
      <p:sp>
        <p:nvSpPr>
          <p:cNvPr id="17" name="TextBox 16"/>
          <p:cNvSpPr txBox="1"/>
          <p:nvPr/>
        </p:nvSpPr>
        <p:spPr>
          <a:xfrm>
            <a:off x="4495647" y="2834640"/>
            <a:ext cx="3291840" cy="502920"/>
          </a:xfrm>
          <a:prstGeom prst="rect">
            <a:avLst/>
          </a:prstGeom>
          <a:noFill/>
        </p:spPr>
        <p:txBody>
          <a:bodyPr wrap="square" lIns="50000" tIns="20000" rIns="50000" bIns="20000" anchor="t">
            <a:spAutoFit/>
          </a:bodyPr>
          <a:lstStyle/>
          <a:p>
            <a:pPr algn="l">
              <a:lnSpc>
                <a:spcPct val="135000"/>
              </a:lnSpc>
            </a:pPr>
            <a:r>
              <a:rPr sz="1200" b="0" i="0">
                <a:solidFill>
                  <a:srgbClr val="334155"/>
                </a:solidFill>
                <a:latin typeface="Calibri"/>
              </a:rPr>
              <a:t>LiDAR cho slot detection chính xác 100%</a:t>
            </a:r>
          </a:p>
        </p:txBody>
      </p:sp>
      <p:sp>
        <p:nvSpPr>
          <p:cNvPr id="18" name="Rectangle 17"/>
          <p:cNvSpPr/>
          <p:nvPr/>
        </p:nvSpPr>
        <p:spPr>
          <a:xfrm>
            <a:off x="8043519" y="2194560"/>
            <a:ext cx="3657600" cy="12344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43519" y="2194560"/>
            <a:ext cx="109728" cy="123444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1198199" y="2286000"/>
            <a:ext cx="365760" cy="365760"/>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198199" y="2286000"/>
            <a:ext cx="365760" cy="365760"/>
          </a:xfrm>
          <a:prstGeom prst="rect">
            <a:avLst/>
          </a:prstGeom>
          <a:noFill/>
        </p:spPr>
        <p:txBody>
          <a:bodyPr wrap="square" lIns="50000" tIns="20000" rIns="50000" bIns="20000" anchor="ctr">
            <a:spAutoFit/>
          </a:bodyPr>
          <a:lstStyle/>
          <a:p>
            <a:pPr algn="ctr">
              <a:lnSpc>
                <a:spcPct val="120000"/>
              </a:lnSpc>
            </a:pPr>
            <a:r>
              <a:rPr sz="1100" b="1" i="0">
                <a:solidFill>
                  <a:srgbClr val="FFFFFF"/>
                </a:solidFill>
                <a:latin typeface="Calibri"/>
              </a:rPr>
              <a:t>03</a:t>
            </a:r>
          </a:p>
        </p:txBody>
      </p:sp>
      <p:sp>
        <p:nvSpPr>
          <p:cNvPr id="22" name="TextBox 21"/>
          <p:cNvSpPr txBox="1"/>
          <p:nvPr/>
        </p:nvSpPr>
        <p:spPr>
          <a:xfrm>
            <a:off x="8272119" y="2359152"/>
            <a:ext cx="2880360" cy="411480"/>
          </a:xfrm>
          <a:prstGeom prst="rect">
            <a:avLst/>
          </a:prstGeom>
          <a:noFill/>
        </p:spPr>
        <p:txBody>
          <a:bodyPr wrap="square" lIns="50000" tIns="20000" rIns="50000" bIns="20000" anchor="t">
            <a:spAutoFit/>
          </a:bodyPr>
          <a:lstStyle/>
          <a:p>
            <a:pPr algn="l">
              <a:lnSpc>
                <a:spcPct val="120000"/>
              </a:lnSpc>
            </a:pPr>
            <a:r>
              <a:rPr sz="1500" b="1" i="0">
                <a:solidFill>
                  <a:srgbClr val="F97316"/>
                </a:solidFill>
                <a:latin typeface="Calibri"/>
              </a:rPr>
              <a:t>Sạc xe điện EV</a:t>
            </a:r>
          </a:p>
        </p:txBody>
      </p:sp>
      <p:sp>
        <p:nvSpPr>
          <p:cNvPr id="23" name="TextBox 22"/>
          <p:cNvSpPr txBox="1"/>
          <p:nvPr/>
        </p:nvSpPr>
        <p:spPr>
          <a:xfrm>
            <a:off x="8272119" y="2834640"/>
            <a:ext cx="3291840" cy="502920"/>
          </a:xfrm>
          <a:prstGeom prst="rect">
            <a:avLst/>
          </a:prstGeom>
          <a:noFill/>
        </p:spPr>
        <p:txBody>
          <a:bodyPr wrap="square" lIns="50000" tIns="20000" rIns="50000" bIns="20000" anchor="t">
            <a:spAutoFit/>
          </a:bodyPr>
          <a:lstStyle/>
          <a:p>
            <a:pPr algn="l">
              <a:lnSpc>
                <a:spcPct val="135000"/>
              </a:lnSpc>
            </a:pPr>
            <a:r>
              <a:rPr sz="1200" b="0" i="0">
                <a:solidFill>
                  <a:srgbClr val="334155"/>
                </a:solidFill>
                <a:latin typeface="Calibri"/>
              </a:rPr>
              <a:t>Detect xe điện + tính tiền sạc tự động</a:t>
            </a:r>
          </a:p>
        </p:txBody>
      </p:sp>
      <p:sp>
        <p:nvSpPr>
          <p:cNvPr id="24" name="Rectangle 23"/>
          <p:cNvSpPr/>
          <p:nvPr/>
        </p:nvSpPr>
        <p:spPr>
          <a:xfrm>
            <a:off x="490575" y="3547872"/>
            <a:ext cx="3657600" cy="12344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90575" y="3547872"/>
            <a:ext cx="109728" cy="123444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645255" y="3639312"/>
            <a:ext cx="365760" cy="36576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45255" y="3639312"/>
            <a:ext cx="365760" cy="365760"/>
          </a:xfrm>
          <a:prstGeom prst="rect">
            <a:avLst/>
          </a:prstGeom>
          <a:noFill/>
        </p:spPr>
        <p:txBody>
          <a:bodyPr wrap="square" lIns="50000" tIns="20000" rIns="50000" bIns="20000" anchor="ctr">
            <a:spAutoFit/>
          </a:bodyPr>
          <a:lstStyle/>
          <a:p>
            <a:pPr algn="ctr">
              <a:lnSpc>
                <a:spcPct val="120000"/>
              </a:lnSpc>
            </a:pPr>
            <a:r>
              <a:rPr sz="1100" b="1" i="0">
                <a:solidFill>
                  <a:srgbClr val="FFFFFF"/>
                </a:solidFill>
                <a:latin typeface="Calibri"/>
              </a:rPr>
              <a:t>04</a:t>
            </a:r>
          </a:p>
        </p:txBody>
      </p:sp>
      <p:sp>
        <p:nvSpPr>
          <p:cNvPr id="28" name="TextBox 27"/>
          <p:cNvSpPr txBox="1"/>
          <p:nvPr/>
        </p:nvSpPr>
        <p:spPr>
          <a:xfrm>
            <a:off x="719175" y="3712464"/>
            <a:ext cx="2880360" cy="411480"/>
          </a:xfrm>
          <a:prstGeom prst="rect">
            <a:avLst/>
          </a:prstGeom>
          <a:noFill/>
        </p:spPr>
        <p:txBody>
          <a:bodyPr wrap="square" lIns="50000" tIns="20000" rIns="50000" bIns="20000" anchor="t">
            <a:spAutoFit/>
          </a:bodyPr>
          <a:lstStyle/>
          <a:p>
            <a:pPr algn="l">
              <a:lnSpc>
                <a:spcPct val="120000"/>
              </a:lnSpc>
            </a:pPr>
            <a:r>
              <a:rPr sz="1500" b="1" i="0">
                <a:solidFill>
                  <a:srgbClr val="8B5CF6"/>
                </a:solidFill>
                <a:latin typeface="Calibri"/>
              </a:rPr>
              <a:t>Dự đoán thông minh</a:t>
            </a:r>
          </a:p>
        </p:txBody>
      </p:sp>
      <p:sp>
        <p:nvSpPr>
          <p:cNvPr id="29" name="TextBox 28"/>
          <p:cNvSpPr txBox="1"/>
          <p:nvPr/>
        </p:nvSpPr>
        <p:spPr>
          <a:xfrm>
            <a:off x="719175" y="4187952"/>
            <a:ext cx="3291840" cy="502920"/>
          </a:xfrm>
          <a:prstGeom prst="rect">
            <a:avLst/>
          </a:prstGeom>
          <a:noFill/>
        </p:spPr>
        <p:txBody>
          <a:bodyPr wrap="square" lIns="50000" tIns="20000" rIns="50000" bIns="20000" anchor="t">
            <a:spAutoFit/>
          </a:bodyPr>
          <a:lstStyle/>
          <a:p>
            <a:pPr algn="l">
              <a:lnSpc>
                <a:spcPct val="135000"/>
              </a:lnSpc>
            </a:pPr>
            <a:r>
              <a:rPr sz="1200" b="0" i="0">
                <a:solidFill>
                  <a:srgbClr val="334155"/>
                </a:solidFill>
                <a:latin typeface="Calibri"/>
              </a:rPr>
              <a:t>ML dự đoán giờ bãi đầy → recommend đặt</a:t>
            </a:r>
          </a:p>
        </p:txBody>
      </p:sp>
      <p:sp>
        <p:nvSpPr>
          <p:cNvPr id="30" name="Rectangle 29"/>
          <p:cNvSpPr/>
          <p:nvPr/>
        </p:nvSpPr>
        <p:spPr>
          <a:xfrm>
            <a:off x="4267047" y="3547872"/>
            <a:ext cx="3657600" cy="12344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267047" y="3547872"/>
            <a:ext cx="109728" cy="123444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421727" y="3639312"/>
            <a:ext cx="365760" cy="36576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21727" y="3639312"/>
            <a:ext cx="365760" cy="365760"/>
          </a:xfrm>
          <a:prstGeom prst="rect">
            <a:avLst/>
          </a:prstGeom>
          <a:noFill/>
        </p:spPr>
        <p:txBody>
          <a:bodyPr wrap="square" lIns="50000" tIns="20000" rIns="50000" bIns="20000" anchor="ctr">
            <a:spAutoFit/>
          </a:bodyPr>
          <a:lstStyle/>
          <a:p>
            <a:pPr algn="ctr">
              <a:lnSpc>
                <a:spcPct val="120000"/>
              </a:lnSpc>
            </a:pPr>
            <a:r>
              <a:rPr sz="1100" b="1" i="0">
                <a:solidFill>
                  <a:srgbClr val="FFFFFF"/>
                </a:solidFill>
                <a:latin typeface="Calibri"/>
              </a:rPr>
              <a:t>05</a:t>
            </a:r>
          </a:p>
        </p:txBody>
      </p:sp>
      <p:sp>
        <p:nvSpPr>
          <p:cNvPr id="34" name="TextBox 33"/>
          <p:cNvSpPr txBox="1"/>
          <p:nvPr/>
        </p:nvSpPr>
        <p:spPr>
          <a:xfrm>
            <a:off x="4495647" y="3712464"/>
            <a:ext cx="2880360" cy="411480"/>
          </a:xfrm>
          <a:prstGeom prst="rect">
            <a:avLst/>
          </a:prstGeom>
          <a:noFill/>
        </p:spPr>
        <p:txBody>
          <a:bodyPr wrap="square" lIns="50000" tIns="20000" rIns="50000" bIns="20000" anchor="t">
            <a:spAutoFit/>
          </a:bodyPr>
          <a:lstStyle/>
          <a:p>
            <a:pPr algn="l">
              <a:lnSpc>
                <a:spcPct val="120000"/>
              </a:lnSpc>
            </a:pPr>
            <a:r>
              <a:rPr sz="1500" b="1" i="0">
                <a:solidFill>
                  <a:srgbClr val="EF4444"/>
                </a:solidFill>
                <a:latin typeface="Calibri"/>
              </a:rPr>
              <a:t>Mobile native app</a:t>
            </a:r>
          </a:p>
        </p:txBody>
      </p:sp>
      <p:sp>
        <p:nvSpPr>
          <p:cNvPr id="35" name="TextBox 34"/>
          <p:cNvSpPr txBox="1"/>
          <p:nvPr/>
        </p:nvSpPr>
        <p:spPr>
          <a:xfrm>
            <a:off x="4495647" y="4187952"/>
            <a:ext cx="3291840" cy="502920"/>
          </a:xfrm>
          <a:prstGeom prst="rect">
            <a:avLst/>
          </a:prstGeom>
          <a:noFill/>
        </p:spPr>
        <p:txBody>
          <a:bodyPr wrap="square" lIns="50000" tIns="20000" rIns="50000" bIns="20000" anchor="t">
            <a:spAutoFit/>
          </a:bodyPr>
          <a:lstStyle/>
          <a:p>
            <a:pPr algn="l">
              <a:lnSpc>
                <a:spcPct val="135000"/>
              </a:lnSpc>
            </a:pPr>
            <a:r>
              <a:rPr sz="1200" b="0" i="0">
                <a:solidFill>
                  <a:srgbClr val="334155"/>
                </a:solidFill>
                <a:latin typeface="Calibri"/>
              </a:rPr>
              <a:t>iOS/Android · push notification realtime</a:t>
            </a:r>
          </a:p>
        </p:txBody>
      </p:sp>
      <p:sp>
        <p:nvSpPr>
          <p:cNvPr id="36" name="Rectangle 35"/>
          <p:cNvSpPr/>
          <p:nvPr/>
        </p:nvSpPr>
        <p:spPr>
          <a:xfrm>
            <a:off x="8043519" y="3547872"/>
            <a:ext cx="3657600" cy="12344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043519" y="3547872"/>
            <a:ext cx="109728" cy="123444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1198199" y="3639312"/>
            <a:ext cx="365760" cy="365760"/>
          </a:xfrm>
          <a:prstGeom prst="ellipse">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198199" y="3639312"/>
            <a:ext cx="365760" cy="365760"/>
          </a:xfrm>
          <a:prstGeom prst="rect">
            <a:avLst/>
          </a:prstGeom>
          <a:noFill/>
        </p:spPr>
        <p:txBody>
          <a:bodyPr wrap="square" lIns="50000" tIns="20000" rIns="50000" bIns="20000" anchor="ctr">
            <a:spAutoFit/>
          </a:bodyPr>
          <a:lstStyle/>
          <a:p>
            <a:pPr algn="ctr">
              <a:lnSpc>
                <a:spcPct val="120000"/>
              </a:lnSpc>
            </a:pPr>
            <a:r>
              <a:rPr sz="1100" b="1" i="0">
                <a:solidFill>
                  <a:srgbClr val="FFFFFF"/>
                </a:solidFill>
                <a:latin typeface="Calibri"/>
              </a:rPr>
              <a:t>06</a:t>
            </a:r>
          </a:p>
        </p:txBody>
      </p:sp>
      <p:sp>
        <p:nvSpPr>
          <p:cNvPr id="40" name="TextBox 39"/>
          <p:cNvSpPr txBox="1"/>
          <p:nvPr/>
        </p:nvSpPr>
        <p:spPr>
          <a:xfrm>
            <a:off x="8272119" y="3712464"/>
            <a:ext cx="2880360" cy="411480"/>
          </a:xfrm>
          <a:prstGeom prst="rect">
            <a:avLst/>
          </a:prstGeom>
          <a:noFill/>
        </p:spPr>
        <p:txBody>
          <a:bodyPr wrap="square" lIns="50000" tIns="20000" rIns="50000" bIns="20000" anchor="t">
            <a:spAutoFit/>
          </a:bodyPr>
          <a:lstStyle/>
          <a:p>
            <a:pPr algn="l">
              <a:lnSpc>
                <a:spcPct val="120000"/>
              </a:lnSpc>
            </a:pPr>
            <a:r>
              <a:rPr sz="1500" b="1" i="0">
                <a:solidFill>
                  <a:srgbClr val="334155"/>
                </a:solidFill>
                <a:latin typeface="Calibri"/>
              </a:rPr>
              <a:t>Multi-tenant</a:t>
            </a:r>
          </a:p>
        </p:txBody>
      </p:sp>
      <p:sp>
        <p:nvSpPr>
          <p:cNvPr id="41" name="TextBox 40"/>
          <p:cNvSpPr txBox="1"/>
          <p:nvPr/>
        </p:nvSpPr>
        <p:spPr>
          <a:xfrm>
            <a:off x="8272119" y="4187952"/>
            <a:ext cx="3291840" cy="502920"/>
          </a:xfrm>
          <a:prstGeom prst="rect">
            <a:avLst/>
          </a:prstGeom>
          <a:noFill/>
        </p:spPr>
        <p:txBody>
          <a:bodyPr wrap="square" lIns="50000" tIns="20000" rIns="50000" bIns="20000" anchor="t">
            <a:spAutoFit/>
          </a:bodyPr>
          <a:lstStyle/>
          <a:p>
            <a:pPr algn="l">
              <a:lnSpc>
                <a:spcPct val="135000"/>
              </a:lnSpc>
            </a:pPr>
            <a:r>
              <a:rPr sz="1200" b="0" i="0">
                <a:solidFill>
                  <a:srgbClr val="334155"/>
                </a:solidFill>
                <a:latin typeface="Calibri"/>
              </a:rPr>
              <a:t>Mỗi chủ bãi 1 tenant · platform Grab Park</a:t>
            </a:r>
          </a:p>
        </p:txBody>
      </p:sp>
      <p:sp>
        <p:nvSpPr>
          <p:cNvPr id="42" name="Rectangle 41"/>
          <p:cNvSpPr/>
          <p:nvPr/>
        </p:nvSpPr>
        <p:spPr>
          <a:xfrm>
            <a:off x="457200" y="5349240"/>
            <a:ext cx="11247120" cy="960120"/>
          </a:xfrm>
          <a:prstGeom prst="rect">
            <a:avLst/>
          </a:prstGeom>
          <a:solidFill>
            <a:srgbClr val="172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0080" y="5422392"/>
            <a:ext cx="10972800" cy="274320"/>
          </a:xfrm>
          <a:prstGeom prst="rect">
            <a:avLst/>
          </a:prstGeom>
          <a:noFill/>
        </p:spPr>
        <p:txBody>
          <a:bodyPr wrap="square" lIns="50000" tIns="20000" rIns="50000" bIns="20000" anchor="t">
            <a:spAutoFit/>
          </a:bodyPr>
          <a:lstStyle/>
          <a:p>
            <a:pPr algn="l">
              <a:lnSpc>
                <a:spcPct val="120000"/>
              </a:lnSpc>
            </a:pPr>
            <a:r>
              <a:rPr sz="1100" b="1" i="0">
                <a:solidFill>
                  <a:srgbClr val="F97316"/>
                </a:solidFill>
                <a:latin typeface="Calibri"/>
              </a:rPr>
              <a:t>BUSINESS CASE — bãi 50 chỗ trong 1 năm</a:t>
            </a:r>
          </a:p>
        </p:txBody>
      </p:sp>
      <p:sp>
        <p:nvSpPr>
          <p:cNvPr id="44" name="TextBox 43"/>
          <p:cNvSpPr txBox="1"/>
          <p:nvPr/>
        </p:nvSpPr>
        <p:spPr>
          <a:xfrm>
            <a:off x="655167" y="5715000"/>
            <a:ext cx="2651760" cy="365760"/>
          </a:xfrm>
          <a:prstGeom prst="rect">
            <a:avLst/>
          </a:prstGeom>
          <a:noFill/>
        </p:spPr>
        <p:txBody>
          <a:bodyPr wrap="square" lIns="50000" tIns="20000" rIns="50000" bIns="20000" anchor="t">
            <a:spAutoFit/>
          </a:bodyPr>
          <a:lstStyle/>
          <a:p>
            <a:pPr algn="ctr">
              <a:lnSpc>
                <a:spcPct val="120000"/>
              </a:lnSpc>
            </a:pPr>
            <a:r>
              <a:rPr sz="2200" b="1" i="0">
                <a:solidFill>
                  <a:srgbClr val="FFFFFF"/>
                </a:solidFill>
                <a:latin typeface="Calibri"/>
              </a:rPr>
              <a:t>~26.5tr</a:t>
            </a:r>
          </a:p>
        </p:txBody>
      </p:sp>
      <p:sp>
        <p:nvSpPr>
          <p:cNvPr id="45" name="TextBox 44"/>
          <p:cNvSpPr txBox="1"/>
          <p:nvPr/>
        </p:nvSpPr>
        <p:spPr>
          <a:xfrm>
            <a:off x="655167" y="6062472"/>
            <a:ext cx="2651760" cy="228600"/>
          </a:xfrm>
          <a:prstGeom prst="rect">
            <a:avLst/>
          </a:prstGeom>
          <a:noFill/>
        </p:spPr>
        <p:txBody>
          <a:bodyPr wrap="square" lIns="50000" tIns="20000" rIns="50000" bIns="20000" anchor="t">
            <a:spAutoFit/>
          </a:bodyPr>
          <a:lstStyle/>
          <a:p>
            <a:pPr algn="ctr">
              <a:lnSpc>
                <a:spcPct val="120000"/>
              </a:lnSpc>
            </a:pPr>
            <a:r>
              <a:rPr sz="1100" b="0" i="1">
                <a:solidFill>
                  <a:srgbClr val="DBEAFE"/>
                </a:solidFill>
                <a:latin typeface="Calibri"/>
              </a:rPr>
              <a:t>Phần cứng (1 lần)</a:t>
            </a:r>
          </a:p>
        </p:txBody>
      </p:sp>
      <p:sp>
        <p:nvSpPr>
          <p:cNvPr id="46" name="TextBox 45"/>
          <p:cNvSpPr txBox="1"/>
          <p:nvPr/>
        </p:nvSpPr>
        <p:spPr>
          <a:xfrm>
            <a:off x="3398367" y="5715000"/>
            <a:ext cx="2651760" cy="365760"/>
          </a:xfrm>
          <a:prstGeom prst="rect">
            <a:avLst/>
          </a:prstGeom>
          <a:noFill/>
        </p:spPr>
        <p:txBody>
          <a:bodyPr wrap="square" lIns="50000" tIns="20000" rIns="50000" bIns="20000" anchor="t">
            <a:spAutoFit/>
          </a:bodyPr>
          <a:lstStyle/>
          <a:p>
            <a:pPr algn="ctr">
              <a:lnSpc>
                <a:spcPct val="120000"/>
              </a:lnSpc>
            </a:pPr>
            <a:r>
              <a:rPr sz="2200" b="1" i="0">
                <a:solidFill>
                  <a:srgbClr val="FFFFFF"/>
                </a:solidFill>
                <a:latin typeface="Calibri"/>
              </a:rPr>
              <a:t>8tr</a:t>
            </a:r>
          </a:p>
        </p:txBody>
      </p:sp>
      <p:sp>
        <p:nvSpPr>
          <p:cNvPr id="47" name="TextBox 46"/>
          <p:cNvSpPr txBox="1"/>
          <p:nvPr/>
        </p:nvSpPr>
        <p:spPr>
          <a:xfrm>
            <a:off x="3398367" y="6062472"/>
            <a:ext cx="2651760" cy="228600"/>
          </a:xfrm>
          <a:prstGeom prst="rect">
            <a:avLst/>
          </a:prstGeom>
          <a:noFill/>
        </p:spPr>
        <p:txBody>
          <a:bodyPr wrap="square" lIns="50000" tIns="20000" rIns="50000" bIns="20000" anchor="t">
            <a:spAutoFit/>
          </a:bodyPr>
          <a:lstStyle/>
          <a:p>
            <a:pPr algn="ctr">
              <a:lnSpc>
                <a:spcPct val="120000"/>
              </a:lnSpc>
            </a:pPr>
            <a:r>
              <a:rPr sz="1100" b="0" i="1">
                <a:solidFill>
                  <a:srgbClr val="DBEAFE"/>
                </a:solidFill>
                <a:latin typeface="Calibri"/>
              </a:rPr>
              <a:t>Vận hành/tháng</a:t>
            </a:r>
          </a:p>
        </p:txBody>
      </p:sp>
      <p:sp>
        <p:nvSpPr>
          <p:cNvPr id="48" name="TextBox 47"/>
          <p:cNvSpPr txBox="1"/>
          <p:nvPr/>
        </p:nvSpPr>
        <p:spPr>
          <a:xfrm>
            <a:off x="6141567" y="5715000"/>
            <a:ext cx="2651760" cy="365760"/>
          </a:xfrm>
          <a:prstGeom prst="rect">
            <a:avLst/>
          </a:prstGeom>
          <a:noFill/>
        </p:spPr>
        <p:txBody>
          <a:bodyPr wrap="square" lIns="50000" tIns="20000" rIns="50000" bIns="20000" anchor="t">
            <a:spAutoFit/>
          </a:bodyPr>
          <a:lstStyle/>
          <a:p>
            <a:pPr algn="ctr">
              <a:lnSpc>
                <a:spcPct val="120000"/>
              </a:lnSpc>
            </a:pPr>
            <a:r>
              <a:rPr sz="2200" b="1" i="0">
                <a:solidFill>
                  <a:srgbClr val="FFFFFF"/>
                </a:solidFill>
                <a:latin typeface="Calibri"/>
              </a:rPr>
              <a:t>35tr</a:t>
            </a:r>
          </a:p>
        </p:txBody>
      </p:sp>
      <p:sp>
        <p:nvSpPr>
          <p:cNvPr id="49" name="TextBox 48"/>
          <p:cNvSpPr txBox="1"/>
          <p:nvPr/>
        </p:nvSpPr>
        <p:spPr>
          <a:xfrm>
            <a:off x="6141567" y="6062472"/>
            <a:ext cx="2651760" cy="228600"/>
          </a:xfrm>
          <a:prstGeom prst="rect">
            <a:avLst/>
          </a:prstGeom>
          <a:noFill/>
        </p:spPr>
        <p:txBody>
          <a:bodyPr wrap="square" lIns="50000" tIns="20000" rIns="50000" bIns="20000" anchor="t">
            <a:spAutoFit/>
          </a:bodyPr>
          <a:lstStyle/>
          <a:p>
            <a:pPr algn="ctr">
              <a:lnSpc>
                <a:spcPct val="120000"/>
              </a:lnSpc>
            </a:pPr>
            <a:r>
              <a:rPr sz="1100" b="0" i="1">
                <a:solidFill>
                  <a:srgbClr val="DBEAFE"/>
                </a:solidFill>
                <a:latin typeface="Calibri"/>
              </a:rPr>
              <a:t>Doanh thu/tháng</a:t>
            </a:r>
          </a:p>
        </p:txBody>
      </p:sp>
      <p:sp>
        <p:nvSpPr>
          <p:cNvPr id="50" name="TextBox 49"/>
          <p:cNvSpPr txBox="1"/>
          <p:nvPr/>
        </p:nvSpPr>
        <p:spPr>
          <a:xfrm>
            <a:off x="8884767" y="5715000"/>
            <a:ext cx="2651760" cy="365760"/>
          </a:xfrm>
          <a:prstGeom prst="rect">
            <a:avLst/>
          </a:prstGeom>
          <a:noFill/>
        </p:spPr>
        <p:txBody>
          <a:bodyPr wrap="square" lIns="50000" tIns="20000" rIns="50000" bIns="20000" anchor="t">
            <a:spAutoFit/>
          </a:bodyPr>
          <a:lstStyle/>
          <a:p>
            <a:pPr algn="ctr">
              <a:lnSpc>
                <a:spcPct val="120000"/>
              </a:lnSpc>
            </a:pPr>
            <a:r>
              <a:rPr sz="2200" b="1" i="0">
                <a:solidFill>
                  <a:srgbClr val="FFFFFF"/>
                </a:solidFill>
                <a:latin typeface="Calibri"/>
              </a:rPr>
              <a:t>~1</a:t>
            </a:r>
          </a:p>
        </p:txBody>
      </p:sp>
      <p:sp>
        <p:nvSpPr>
          <p:cNvPr id="51" name="TextBox 50"/>
          <p:cNvSpPr txBox="1"/>
          <p:nvPr/>
        </p:nvSpPr>
        <p:spPr>
          <a:xfrm>
            <a:off x="8884767" y="6062472"/>
            <a:ext cx="2651760" cy="228600"/>
          </a:xfrm>
          <a:prstGeom prst="rect">
            <a:avLst/>
          </a:prstGeom>
          <a:noFill/>
        </p:spPr>
        <p:txBody>
          <a:bodyPr wrap="square" lIns="50000" tIns="20000" rIns="50000" bIns="20000" anchor="t">
            <a:spAutoFit/>
          </a:bodyPr>
          <a:lstStyle/>
          <a:p>
            <a:pPr algn="ctr">
              <a:lnSpc>
                <a:spcPct val="120000"/>
              </a:lnSpc>
            </a:pPr>
            <a:r>
              <a:rPr sz="1100" b="0" i="1">
                <a:solidFill>
                  <a:srgbClr val="DBEAFE"/>
                </a:solidFill>
                <a:latin typeface="Calibri"/>
              </a:rPr>
              <a:t>Tháng payback</a:t>
            </a:r>
          </a:p>
        </p:txBody>
      </p:sp>
      <p:sp>
        <p:nvSpPr>
          <p:cNvPr id="52" name="TextBox 51"/>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53" name="TextBox 52"/>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19 / 23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EFF6FF"/>
            </a:gs>
          </a:gsLst>
          <a:lin ang="189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7315200" cy="320040"/>
          </a:xfrm>
          <a:prstGeom prst="rect">
            <a:avLst/>
          </a:prstGeom>
          <a:noFill/>
        </p:spPr>
        <p:txBody>
          <a:bodyPr wrap="none">
            <a:spAutoFit/>
          </a:bodyPr>
          <a:lstStyle/>
          <a:p>
            <a:r>
              <a:rPr sz="1100" b="1">
                <a:solidFill>
                  <a:srgbClr val="1E40AF"/>
                </a:solidFill>
                <a:latin typeface="Calibri"/>
              </a:rPr>
              <a:t>19</a:t>
            </a:r>
            <a:r>
              <a:rPr sz="1100">
                <a:solidFill>
                  <a:srgbClr val="64748B"/>
                </a:solidFill>
                <a:latin typeface="Calibri"/>
              </a:rPr>
              <a:t>   ĐÓNG GÓP &amp; KHÁC BIỆT</a:t>
            </a:r>
          </a:p>
        </p:txBody>
      </p:sp>
      <p:pic>
        <p:nvPicPr>
          <p:cNvPr id="3" name="Picture 2" descr="hcmou_logo.png"/>
          <p:cNvPicPr>
            <a:picLocks noChangeAspect="1"/>
          </p:cNvPicPr>
          <p:nvPr/>
        </p:nvPicPr>
        <p:blipFill>
          <a:blip r:embed="rId3"/>
          <a:stretch>
            <a:fillRect/>
          </a:stretch>
        </p:blipFill>
        <p:spPr>
          <a:xfrm>
            <a:off x="11064240" y="182880"/>
            <a:ext cx="822960" cy="822960"/>
          </a:xfrm>
          <a:prstGeom prst="rect">
            <a:avLst/>
          </a:prstGeom>
        </p:spPr>
      </p:pic>
      <p:sp>
        <p:nvSpPr>
          <p:cNvPr id="4" name="TextBox 3"/>
          <p:cNvSpPr txBox="1"/>
          <p:nvPr/>
        </p:nvSpPr>
        <p:spPr>
          <a:xfrm>
            <a:off x="457200" y="868680"/>
            <a:ext cx="11247120" cy="685800"/>
          </a:xfrm>
          <a:prstGeom prst="rect">
            <a:avLst/>
          </a:prstGeom>
          <a:noFill/>
        </p:spPr>
        <p:txBody>
          <a:bodyPr wrap="square" lIns="50000" tIns="20000" rIns="50000" bIns="20000" anchor="t">
            <a:spAutoFit/>
          </a:bodyPr>
          <a:lstStyle/>
          <a:p>
            <a:pPr algn="l">
              <a:lnSpc>
                <a:spcPct val="100000"/>
              </a:lnSpc>
            </a:pPr>
            <a:r>
              <a:rPr sz="3200" b="1" i="0">
                <a:solidFill>
                  <a:srgbClr val="0F172A"/>
                </a:solidFill>
                <a:latin typeface="Calibri"/>
              </a:rPr>
              <a:t>5 Unique Selling Points</a:t>
            </a:r>
          </a:p>
        </p:txBody>
      </p:sp>
      <p:sp>
        <p:nvSpPr>
          <p:cNvPr id="5" name="Rectangle 4"/>
          <p:cNvSpPr/>
          <p:nvPr/>
        </p:nvSpPr>
        <p:spPr>
          <a:xfrm>
            <a:off x="457200" y="1581912"/>
            <a:ext cx="731520"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148840"/>
            <a:ext cx="11247120" cy="71323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40080" y="2267712"/>
            <a:ext cx="548640" cy="548640"/>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267712"/>
            <a:ext cx="548640" cy="548640"/>
          </a:xfrm>
          <a:prstGeom prst="rect">
            <a:avLst/>
          </a:prstGeom>
          <a:noFill/>
        </p:spPr>
        <p:txBody>
          <a:bodyPr wrap="square" lIns="50000" tIns="20000" rIns="50000" bIns="20000" anchor="ctr">
            <a:spAutoFit/>
          </a:bodyPr>
          <a:lstStyle/>
          <a:p>
            <a:pPr algn="ctr">
              <a:lnSpc>
                <a:spcPct val="120000"/>
              </a:lnSpc>
            </a:pPr>
            <a:r>
              <a:rPr sz="2200" b="1" i="0">
                <a:solidFill>
                  <a:srgbClr val="FFFFFF"/>
                </a:solidFill>
                <a:latin typeface="Calibri"/>
              </a:rPr>
              <a:t>1</a:t>
            </a:r>
          </a:p>
        </p:txBody>
      </p:sp>
      <p:sp>
        <p:nvSpPr>
          <p:cNvPr id="9" name="TextBox 8"/>
          <p:cNvSpPr txBox="1"/>
          <p:nvPr/>
        </p:nvSpPr>
        <p:spPr>
          <a:xfrm>
            <a:off x="1417320" y="2240280"/>
            <a:ext cx="10058400" cy="365760"/>
          </a:xfrm>
          <a:prstGeom prst="rect">
            <a:avLst/>
          </a:prstGeom>
          <a:noFill/>
        </p:spPr>
        <p:txBody>
          <a:bodyPr wrap="square" lIns="50000" tIns="20000" rIns="50000" bIns="20000" anchor="t">
            <a:spAutoFit/>
          </a:bodyPr>
          <a:lstStyle/>
          <a:p>
            <a:pPr algn="l">
              <a:lnSpc>
                <a:spcPct val="120000"/>
              </a:lnSpc>
            </a:pPr>
            <a:r>
              <a:rPr sz="1800" b="1" i="0">
                <a:solidFill>
                  <a:srgbClr val="F97316"/>
                </a:solidFill>
                <a:latin typeface="Calibri"/>
              </a:rPr>
              <a:t>AI nhận diện 9 mệnh giá tiền VN</a:t>
            </a:r>
          </a:p>
        </p:txBody>
      </p:sp>
      <p:sp>
        <p:nvSpPr>
          <p:cNvPr id="10" name="TextBox 9"/>
          <p:cNvSpPr txBox="1"/>
          <p:nvPr/>
        </p:nvSpPr>
        <p:spPr>
          <a:xfrm>
            <a:off x="1417320" y="2606040"/>
            <a:ext cx="10058400" cy="320040"/>
          </a:xfrm>
          <a:prstGeom prst="rect">
            <a:avLst/>
          </a:prstGeom>
          <a:noFill/>
        </p:spPr>
        <p:txBody>
          <a:bodyPr wrap="square" lIns="50000" tIns="20000" rIns="50000" bIns="20000" anchor="t">
            <a:spAutoFit/>
          </a:bodyPr>
          <a:lstStyle/>
          <a:p>
            <a:pPr algn="l">
              <a:lnSpc>
                <a:spcPct val="120000"/>
              </a:lnSpc>
            </a:pPr>
            <a:r>
              <a:rPr sz="1300" b="0" i="1">
                <a:solidFill>
                  <a:srgbClr val="334155"/>
                </a:solidFill>
                <a:latin typeface="Calibri"/>
              </a:rPr>
              <a:t>Bank-grade pipeline 3-stage · DUY NHẤT TẠI VN</a:t>
            </a:r>
          </a:p>
        </p:txBody>
      </p:sp>
      <p:sp>
        <p:nvSpPr>
          <p:cNvPr id="11" name="Rectangle 10"/>
          <p:cNvSpPr/>
          <p:nvPr/>
        </p:nvSpPr>
        <p:spPr>
          <a:xfrm>
            <a:off x="457200" y="2916936"/>
            <a:ext cx="11247120" cy="71323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0080" y="303580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035808"/>
            <a:ext cx="548640" cy="548640"/>
          </a:xfrm>
          <a:prstGeom prst="rect">
            <a:avLst/>
          </a:prstGeom>
          <a:noFill/>
        </p:spPr>
        <p:txBody>
          <a:bodyPr wrap="square" lIns="50000" tIns="20000" rIns="50000" bIns="20000" anchor="ctr">
            <a:spAutoFit/>
          </a:bodyPr>
          <a:lstStyle/>
          <a:p>
            <a:pPr algn="ctr">
              <a:lnSpc>
                <a:spcPct val="120000"/>
              </a:lnSpc>
            </a:pPr>
            <a:r>
              <a:rPr sz="2200" b="1" i="0">
                <a:solidFill>
                  <a:srgbClr val="FFFFFF"/>
                </a:solidFill>
                <a:latin typeface="Calibri"/>
              </a:rPr>
              <a:t>2</a:t>
            </a:r>
          </a:p>
        </p:txBody>
      </p:sp>
      <p:sp>
        <p:nvSpPr>
          <p:cNvPr id="14" name="TextBox 13"/>
          <p:cNvSpPr txBox="1"/>
          <p:nvPr/>
        </p:nvSpPr>
        <p:spPr>
          <a:xfrm>
            <a:off x="1417320" y="3008376"/>
            <a:ext cx="10058400" cy="365760"/>
          </a:xfrm>
          <a:prstGeom prst="rect">
            <a:avLst/>
          </a:prstGeom>
          <a:noFill/>
        </p:spPr>
        <p:txBody>
          <a:bodyPr wrap="square" lIns="50000" tIns="20000" rIns="50000" bIns="20000" anchor="t">
            <a:spAutoFit/>
          </a:bodyPr>
          <a:lstStyle/>
          <a:p>
            <a:pPr algn="l">
              <a:lnSpc>
                <a:spcPct val="120000"/>
              </a:lnSpc>
            </a:pPr>
            <a:r>
              <a:rPr sz="1800" b="1" i="0">
                <a:solidFill>
                  <a:srgbClr val="10B981"/>
                </a:solidFill>
                <a:latin typeface="Calibri"/>
              </a:rPr>
              <a:t>Unity Digital Twin</a:t>
            </a:r>
          </a:p>
        </p:txBody>
      </p:sp>
      <p:sp>
        <p:nvSpPr>
          <p:cNvPr id="15" name="TextBox 14"/>
          <p:cNvSpPr txBox="1"/>
          <p:nvPr/>
        </p:nvSpPr>
        <p:spPr>
          <a:xfrm>
            <a:off x="1417320" y="3374136"/>
            <a:ext cx="10058400" cy="320040"/>
          </a:xfrm>
          <a:prstGeom prst="rect">
            <a:avLst/>
          </a:prstGeom>
          <a:noFill/>
        </p:spPr>
        <p:txBody>
          <a:bodyPr wrap="square" lIns="50000" tIns="20000" rIns="50000" bIns="20000" anchor="t">
            <a:spAutoFit/>
          </a:bodyPr>
          <a:lstStyle/>
          <a:p>
            <a:pPr algn="l">
              <a:lnSpc>
                <a:spcPct val="120000"/>
              </a:lnSpc>
            </a:pPr>
            <a:r>
              <a:rPr sz="1300" b="0" i="1">
                <a:solidFill>
                  <a:srgbClr val="334155"/>
                </a:solidFill>
                <a:latin typeface="Calibri"/>
              </a:rPr>
              <a:t>Procedural generation · 8 cameras · 4 ESP32 simulator</a:t>
            </a:r>
          </a:p>
        </p:txBody>
      </p:sp>
      <p:sp>
        <p:nvSpPr>
          <p:cNvPr id="16" name="Rectangle 15"/>
          <p:cNvSpPr/>
          <p:nvPr/>
        </p:nvSpPr>
        <p:spPr>
          <a:xfrm>
            <a:off x="457200" y="3685032"/>
            <a:ext cx="11247120" cy="71323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0080" y="3803904"/>
            <a:ext cx="548640" cy="548640"/>
          </a:xfrm>
          <a:prstGeom prst="ellipse">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803904"/>
            <a:ext cx="548640" cy="548640"/>
          </a:xfrm>
          <a:prstGeom prst="rect">
            <a:avLst/>
          </a:prstGeom>
          <a:noFill/>
        </p:spPr>
        <p:txBody>
          <a:bodyPr wrap="square" lIns="50000" tIns="20000" rIns="50000" bIns="20000" anchor="ctr">
            <a:spAutoFit/>
          </a:bodyPr>
          <a:lstStyle/>
          <a:p>
            <a:pPr algn="ctr">
              <a:lnSpc>
                <a:spcPct val="120000"/>
              </a:lnSpc>
            </a:pPr>
            <a:r>
              <a:rPr sz="2200" b="1" i="0">
                <a:solidFill>
                  <a:srgbClr val="FFFFFF"/>
                </a:solidFill>
                <a:latin typeface="Calibri"/>
              </a:rPr>
              <a:t>3</a:t>
            </a:r>
          </a:p>
        </p:txBody>
      </p:sp>
      <p:sp>
        <p:nvSpPr>
          <p:cNvPr id="19" name="TextBox 18"/>
          <p:cNvSpPr txBox="1"/>
          <p:nvPr/>
        </p:nvSpPr>
        <p:spPr>
          <a:xfrm>
            <a:off x="1417320" y="3776472"/>
            <a:ext cx="10058400" cy="365760"/>
          </a:xfrm>
          <a:prstGeom prst="rect">
            <a:avLst/>
          </a:prstGeom>
          <a:noFill/>
        </p:spPr>
        <p:txBody>
          <a:bodyPr wrap="square" lIns="50000" tIns="20000" rIns="50000" bIns="20000" anchor="t">
            <a:spAutoFit/>
          </a:bodyPr>
          <a:lstStyle/>
          <a:p>
            <a:pPr algn="l">
              <a:lnSpc>
                <a:spcPct val="120000"/>
              </a:lnSpc>
            </a:pPr>
            <a:r>
              <a:rPr sz="1800" b="1" i="0">
                <a:solidFill>
                  <a:srgbClr val="1E40AF"/>
                </a:solidFill>
                <a:latin typeface="Calibri"/>
              </a:rPr>
              <a:t>Microservices Open-Source Stack</a:t>
            </a:r>
          </a:p>
        </p:txBody>
      </p:sp>
      <p:sp>
        <p:nvSpPr>
          <p:cNvPr id="20" name="TextBox 19"/>
          <p:cNvSpPr txBox="1"/>
          <p:nvPr/>
        </p:nvSpPr>
        <p:spPr>
          <a:xfrm>
            <a:off x="1417320" y="4142232"/>
            <a:ext cx="10058400" cy="320040"/>
          </a:xfrm>
          <a:prstGeom prst="rect">
            <a:avLst/>
          </a:prstGeom>
          <a:noFill/>
        </p:spPr>
        <p:txBody>
          <a:bodyPr wrap="square" lIns="50000" tIns="20000" rIns="50000" bIns="20000" anchor="t">
            <a:spAutoFit/>
          </a:bodyPr>
          <a:lstStyle/>
          <a:p>
            <a:pPr algn="l">
              <a:lnSpc>
                <a:spcPct val="120000"/>
              </a:lnSpc>
            </a:pPr>
            <a:r>
              <a:rPr sz="1300" b="0" i="1">
                <a:solidFill>
                  <a:srgbClr val="334155"/>
                </a:solidFill>
                <a:latin typeface="Calibri"/>
              </a:rPr>
              <a:t>Đa ngôn ngữ · không lock-in vendor</a:t>
            </a:r>
          </a:p>
        </p:txBody>
      </p:sp>
      <p:sp>
        <p:nvSpPr>
          <p:cNvPr id="21" name="Rectangle 20"/>
          <p:cNvSpPr/>
          <p:nvPr/>
        </p:nvSpPr>
        <p:spPr>
          <a:xfrm>
            <a:off x="457200" y="4453128"/>
            <a:ext cx="11247120" cy="71323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40080" y="4572000"/>
            <a:ext cx="548640" cy="54864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4572000"/>
            <a:ext cx="548640" cy="548640"/>
          </a:xfrm>
          <a:prstGeom prst="rect">
            <a:avLst/>
          </a:prstGeom>
          <a:noFill/>
        </p:spPr>
        <p:txBody>
          <a:bodyPr wrap="square" lIns="50000" tIns="20000" rIns="50000" bIns="20000" anchor="ctr">
            <a:spAutoFit/>
          </a:bodyPr>
          <a:lstStyle/>
          <a:p>
            <a:pPr algn="ctr">
              <a:lnSpc>
                <a:spcPct val="120000"/>
              </a:lnSpc>
            </a:pPr>
            <a:r>
              <a:rPr sz="2200" b="1" i="0">
                <a:solidFill>
                  <a:srgbClr val="FFFFFF"/>
                </a:solidFill>
                <a:latin typeface="Calibri"/>
              </a:rPr>
              <a:t>4</a:t>
            </a:r>
          </a:p>
        </p:txBody>
      </p:sp>
      <p:sp>
        <p:nvSpPr>
          <p:cNvPr id="24" name="TextBox 23"/>
          <p:cNvSpPr txBox="1"/>
          <p:nvPr/>
        </p:nvSpPr>
        <p:spPr>
          <a:xfrm>
            <a:off x="1417320" y="4544568"/>
            <a:ext cx="10058400" cy="365760"/>
          </a:xfrm>
          <a:prstGeom prst="rect">
            <a:avLst/>
          </a:prstGeom>
          <a:noFill/>
        </p:spPr>
        <p:txBody>
          <a:bodyPr wrap="square" lIns="50000" tIns="20000" rIns="50000" bIns="20000" anchor="t">
            <a:spAutoFit/>
          </a:bodyPr>
          <a:lstStyle/>
          <a:p>
            <a:pPr algn="l">
              <a:lnSpc>
                <a:spcPct val="120000"/>
              </a:lnSpc>
            </a:pPr>
            <a:r>
              <a:rPr sz="1800" b="1" i="0">
                <a:solidFill>
                  <a:srgbClr val="8B5CF6"/>
                </a:solidFill>
                <a:latin typeface="Calibri"/>
              </a:rPr>
              <a:t>Chatbot LLM + RAG</a:t>
            </a:r>
          </a:p>
        </p:txBody>
      </p:sp>
      <p:sp>
        <p:nvSpPr>
          <p:cNvPr id="25" name="TextBox 24"/>
          <p:cNvSpPr txBox="1"/>
          <p:nvPr/>
        </p:nvSpPr>
        <p:spPr>
          <a:xfrm>
            <a:off x="1417320" y="4910328"/>
            <a:ext cx="10058400" cy="320040"/>
          </a:xfrm>
          <a:prstGeom prst="rect">
            <a:avLst/>
          </a:prstGeom>
          <a:noFill/>
        </p:spPr>
        <p:txBody>
          <a:bodyPr wrap="square" lIns="50000" tIns="20000" rIns="50000" bIns="20000" anchor="t">
            <a:spAutoFit/>
          </a:bodyPr>
          <a:lstStyle/>
          <a:p>
            <a:pPr algn="l">
              <a:lnSpc>
                <a:spcPct val="120000"/>
              </a:lnSpc>
            </a:pPr>
            <a:r>
              <a:rPr sz="1300" b="0" i="1">
                <a:solidFill>
                  <a:srgbClr val="334155"/>
                </a:solidFill>
                <a:latin typeface="Calibri"/>
              </a:rPr>
              <a:t>16 intents · Hybrid Confidence · citation từ docs</a:t>
            </a:r>
          </a:p>
        </p:txBody>
      </p:sp>
      <p:sp>
        <p:nvSpPr>
          <p:cNvPr id="26" name="Rectangle 25"/>
          <p:cNvSpPr/>
          <p:nvPr/>
        </p:nvSpPr>
        <p:spPr>
          <a:xfrm>
            <a:off x="457200" y="5221224"/>
            <a:ext cx="11247120" cy="71323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40080" y="5340096"/>
            <a:ext cx="548640" cy="54864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5340096"/>
            <a:ext cx="548640" cy="548640"/>
          </a:xfrm>
          <a:prstGeom prst="rect">
            <a:avLst/>
          </a:prstGeom>
          <a:noFill/>
        </p:spPr>
        <p:txBody>
          <a:bodyPr wrap="square" lIns="50000" tIns="20000" rIns="50000" bIns="20000" anchor="ctr">
            <a:spAutoFit/>
          </a:bodyPr>
          <a:lstStyle/>
          <a:p>
            <a:pPr algn="ctr">
              <a:lnSpc>
                <a:spcPct val="120000"/>
              </a:lnSpc>
            </a:pPr>
            <a:r>
              <a:rPr sz="2200" b="1" i="0">
                <a:solidFill>
                  <a:srgbClr val="FFFFFF"/>
                </a:solidFill>
                <a:latin typeface="Calibri"/>
              </a:rPr>
              <a:t>5</a:t>
            </a:r>
          </a:p>
        </p:txBody>
      </p:sp>
      <p:sp>
        <p:nvSpPr>
          <p:cNvPr id="29" name="TextBox 28"/>
          <p:cNvSpPr txBox="1"/>
          <p:nvPr/>
        </p:nvSpPr>
        <p:spPr>
          <a:xfrm>
            <a:off x="1417320" y="5312664"/>
            <a:ext cx="10058400" cy="365760"/>
          </a:xfrm>
          <a:prstGeom prst="rect">
            <a:avLst/>
          </a:prstGeom>
          <a:noFill/>
        </p:spPr>
        <p:txBody>
          <a:bodyPr wrap="square" lIns="50000" tIns="20000" rIns="50000" bIns="20000" anchor="t">
            <a:spAutoFit/>
          </a:bodyPr>
          <a:lstStyle/>
          <a:p>
            <a:pPr algn="l">
              <a:lnSpc>
                <a:spcPct val="120000"/>
              </a:lnSpc>
            </a:pPr>
            <a:r>
              <a:rPr sz="1800" b="1" i="0">
                <a:solidFill>
                  <a:srgbClr val="EF4444"/>
                </a:solidFill>
                <a:latin typeface="Calibri"/>
              </a:rPr>
              <a:t>Precision-First AI</a:t>
            </a:r>
          </a:p>
        </p:txBody>
      </p:sp>
      <p:sp>
        <p:nvSpPr>
          <p:cNvPr id="30" name="TextBox 29"/>
          <p:cNvSpPr txBox="1"/>
          <p:nvPr/>
        </p:nvSpPr>
        <p:spPr>
          <a:xfrm>
            <a:off x="1417320" y="5678424"/>
            <a:ext cx="10058400" cy="320040"/>
          </a:xfrm>
          <a:prstGeom prst="rect">
            <a:avLst/>
          </a:prstGeom>
          <a:noFill/>
        </p:spPr>
        <p:txBody>
          <a:bodyPr wrap="square" lIns="50000" tIns="20000" rIns="50000" bIns="20000" anchor="t">
            <a:spAutoFit/>
          </a:bodyPr>
          <a:lstStyle/>
          <a:p>
            <a:pPr algn="l">
              <a:lnSpc>
                <a:spcPct val="120000"/>
              </a:lnSpc>
            </a:pPr>
            <a:r>
              <a:rPr sz="1300" b="0" i="1">
                <a:solidFill>
                  <a:srgbClr val="334155"/>
                </a:solidFill>
                <a:latin typeface="Calibri"/>
              </a:rPr>
              <a:t>Banknote ≥99.5% precision · Plate Levenshtein ≤ 1</a:t>
            </a:r>
          </a:p>
        </p:txBody>
      </p:sp>
      <p:sp>
        <p:nvSpPr>
          <p:cNvPr id="31" name="Rectangle 30"/>
          <p:cNvSpPr/>
          <p:nvPr/>
        </p:nvSpPr>
        <p:spPr>
          <a:xfrm>
            <a:off x="457200" y="5989320"/>
            <a:ext cx="11247120" cy="36576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 y="5989320"/>
            <a:ext cx="11247120" cy="365760"/>
          </a:xfrm>
          <a:prstGeom prst="rect">
            <a:avLst/>
          </a:prstGeom>
          <a:noFill/>
        </p:spPr>
        <p:txBody>
          <a:bodyPr wrap="square" lIns="50000" tIns="20000" rIns="50000" bIns="20000" anchor="ctr">
            <a:spAutoFit/>
          </a:bodyPr>
          <a:lstStyle/>
          <a:p>
            <a:pPr algn="ctr">
              <a:lnSpc>
                <a:spcPct val="120000"/>
              </a:lnSpc>
            </a:pPr>
            <a:r>
              <a:rPr sz="1400" b="1" i="1">
                <a:solidFill>
                  <a:srgbClr val="FFFFFF"/>
                </a:solidFill>
                <a:latin typeface="Calibri"/>
              </a:rPr>
              <a:t>"Không phải làm tốt 1 thứ, mà làm tốt 1 hệ thống tích hợp"</a:t>
            </a:r>
          </a:p>
        </p:txBody>
      </p:sp>
      <p:sp>
        <p:nvSpPr>
          <p:cNvPr id="33" name="TextBox 32"/>
          <p:cNvSpPr txBox="1"/>
          <p:nvPr/>
        </p:nvSpPr>
        <p:spPr>
          <a:xfrm>
            <a:off x="457200" y="6446520"/>
            <a:ext cx="7315200" cy="274320"/>
          </a:xfrm>
          <a:prstGeom prst="rect">
            <a:avLst/>
          </a:prstGeom>
          <a:noFill/>
        </p:spPr>
        <p:txBody>
          <a:bodyPr wrap="square" lIns="50000" tIns="20000" rIns="50000" bIns="20000" anchor="t">
            <a:spAutoFit/>
          </a:bodyPr>
          <a:lstStyle/>
          <a:p>
            <a:pPr algn="l">
              <a:lnSpc>
                <a:spcPct val="120000"/>
              </a:lnSpc>
            </a:pPr>
            <a:r>
              <a:rPr sz="1000" b="0" i="0">
                <a:solidFill>
                  <a:srgbClr val="64748B"/>
                </a:solidFill>
                <a:latin typeface="Calibri"/>
              </a:rPr>
              <a:t>ParkSmart  ·  Khóa luận tốt nghiệp 2026  ·  Nguyễn Hải Minh</a:t>
            </a:r>
          </a:p>
        </p:txBody>
      </p:sp>
      <p:sp>
        <p:nvSpPr>
          <p:cNvPr id="34" name="TextBox 33"/>
          <p:cNvSpPr txBox="1"/>
          <p:nvPr/>
        </p:nvSpPr>
        <p:spPr>
          <a:xfrm>
            <a:off x="10515600" y="6446520"/>
            <a:ext cx="1188720" cy="274320"/>
          </a:xfrm>
          <a:prstGeom prst="rect">
            <a:avLst/>
          </a:prstGeom>
          <a:noFill/>
        </p:spPr>
        <p:txBody>
          <a:bodyPr wrap="square" lIns="50000" tIns="20000" rIns="50000" bIns="20000" anchor="t">
            <a:spAutoFit/>
          </a:bodyPr>
          <a:lstStyle/>
          <a:p>
            <a:pPr algn="r">
              <a:lnSpc>
                <a:spcPct val="120000"/>
              </a:lnSpc>
            </a:pPr>
            <a:r>
              <a:rPr sz="1000" b="1" i="0">
                <a:solidFill>
                  <a:srgbClr val="64748B"/>
                </a:solidFill>
                <a:latin typeface="Calibri"/>
              </a:rPr>
              <a:t>20 / 23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330"/>
            </a:gs>
            <a:gs pos="100000">
              <a:srgbClr val="1E3A5F"/>
            </a:gs>
          </a:gsLst>
          <a:lin ang="18900000" scaled="1"/>
        </a:gradFill>
        <a:effectLst/>
      </p:bgPr>
    </p:bg>
    <p:spTree>
      <p:nvGrpSpPr>
        <p:cNvPr id="1" name=""/>
        <p:cNvGrpSpPr/>
        <p:nvPr/>
      </p:nvGrpSpPr>
      <p:grpSpPr>
        <a:xfrm>
          <a:off x="0" y="0"/>
          <a:ext cx="0" cy="0"/>
          <a:chOff x="0" y="0"/>
          <a:chExt cx="0" cy="0"/>
        </a:xfrm>
      </p:grpSpPr>
      <p:sp>
        <p:nvSpPr>
          <p:cNvPr id="2" name="Rectangle 1"/>
          <p:cNvSpPr/>
          <p:nvPr/>
        </p:nvSpPr>
        <p:spPr>
          <a:xfrm>
            <a:off x="0" y="2743200"/>
            <a:ext cx="457200" cy="18288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731752" y="2286000"/>
            <a:ext cx="457200" cy="18288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hcmou_logo.png"/>
          <p:cNvPicPr>
            <a:picLocks noChangeAspect="1"/>
          </p:cNvPicPr>
          <p:nvPr/>
        </p:nvPicPr>
        <p:blipFill>
          <a:blip r:embed="rId3"/>
          <a:stretch>
            <a:fillRect/>
          </a:stretch>
        </p:blipFill>
        <p:spPr>
          <a:xfrm>
            <a:off x="457200" y="320040"/>
            <a:ext cx="1371600" cy="1371600"/>
          </a:xfrm>
          <a:prstGeom prst="rect">
            <a:avLst/>
          </a:prstGeom>
        </p:spPr>
      </p:pic>
      <p:sp>
        <p:nvSpPr>
          <p:cNvPr id="5" name="TextBox 4"/>
          <p:cNvSpPr txBox="1"/>
          <p:nvPr/>
        </p:nvSpPr>
        <p:spPr>
          <a:xfrm>
            <a:off x="1463040" y="411480"/>
            <a:ext cx="6400800" cy="365760"/>
          </a:xfrm>
          <a:prstGeom prst="rect">
            <a:avLst/>
          </a:prstGeom>
          <a:noFill/>
        </p:spPr>
        <p:txBody>
          <a:bodyPr wrap="square" lIns="50000" tIns="20000" rIns="50000" bIns="20000" anchor="t">
            <a:spAutoFit/>
          </a:bodyPr>
          <a:lstStyle/>
          <a:p>
            <a:pPr algn="l">
              <a:lnSpc>
                <a:spcPct val="120000"/>
              </a:lnSpc>
            </a:pPr>
            <a:r>
              <a:rPr sz="1200" b="1" i="0">
                <a:solidFill>
                  <a:srgbClr val="F97316"/>
                </a:solidFill>
                <a:latin typeface="Calibri"/>
              </a:rPr>
              <a:t>TRƯỜNG ĐẠI HỌC MỞ THÀNH PHỐ HỒ CHÍ MINH</a:t>
            </a:r>
          </a:p>
        </p:txBody>
      </p:sp>
      <p:sp>
        <p:nvSpPr>
          <p:cNvPr id="6" name="TextBox 5"/>
          <p:cNvSpPr txBox="1"/>
          <p:nvPr/>
        </p:nvSpPr>
        <p:spPr>
          <a:xfrm>
            <a:off x="1463040" y="731520"/>
            <a:ext cx="6400800" cy="320040"/>
          </a:xfrm>
          <a:prstGeom prst="rect">
            <a:avLst/>
          </a:prstGeom>
          <a:noFill/>
        </p:spPr>
        <p:txBody>
          <a:bodyPr wrap="square" lIns="50000" tIns="20000" rIns="50000" bIns="20000" anchor="t">
            <a:spAutoFit/>
          </a:bodyPr>
          <a:lstStyle/>
          <a:p>
            <a:pPr algn="l">
              <a:lnSpc>
                <a:spcPct val="120000"/>
              </a:lnSpc>
            </a:pPr>
            <a:r>
              <a:rPr sz="1000" b="0" i="0">
                <a:solidFill>
                  <a:srgbClr val="FED7AA"/>
                </a:solidFill>
                <a:latin typeface="Calibri"/>
              </a:rPr>
              <a:t>KHOA CÔNG NGHỆ THÔNG TIN</a:t>
            </a:r>
          </a:p>
        </p:txBody>
      </p:sp>
      <p:sp>
        <p:nvSpPr>
          <p:cNvPr id="7" name="TextBox 6"/>
          <p:cNvSpPr txBox="1"/>
          <p:nvPr/>
        </p:nvSpPr>
        <p:spPr>
          <a:xfrm>
            <a:off x="640080" y="1828800"/>
            <a:ext cx="10972800" cy="1097280"/>
          </a:xfrm>
          <a:prstGeom prst="rect">
            <a:avLst/>
          </a:prstGeom>
          <a:noFill/>
        </p:spPr>
        <p:txBody>
          <a:bodyPr wrap="square" lIns="50000" tIns="20000" rIns="50000" bIns="20000" anchor="t">
            <a:spAutoFit/>
          </a:bodyPr>
          <a:lstStyle/>
          <a:p>
            <a:pPr algn="ctr">
              <a:lnSpc>
                <a:spcPct val="100000"/>
              </a:lnSpc>
            </a:pPr>
            <a:r>
              <a:rPr sz="6400" b="1" i="0">
                <a:solidFill>
                  <a:srgbClr val="FFFFFF"/>
                </a:solidFill>
                <a:latin typeface="Calibri"/>
              </a:rPr>
              <a:t>CẢM ƠN HỘI ĐỒNG</a:t>
            </a:r>
          </a:p>
        </p:txBody>
      </p:sp>
      <p:sp>
        <p:nvSpPr>
          <p:cNvPr id="8" name="TextBox 7"/>
          <p:cNvSpPr txBox="1"/>
          <p:nvPr/>
        </p:nvSpPr>
        <p:spPr>
          <a:xfrm>
            <a:off x="640080" y="3017520"/>
            <a:ext cx="10972800" cy="640080"/>
          </a:xfrm>
          <a:prstGeom prst="rect">
            <a:avLst/>
          </a:prstGeom>
          <a:noFill/>
        </p:spPr>
        <p:txBody>
          <a:bodyPr wrap="square" lIns="50000" tIns="20000" rIns="50000" bIns="20000" anchor="t">
            <a:spAutoFit/>
          </a:bodyPr>
          <a:lstStyle/>
          <a:p>
            <a:pPr algn="ctr">
              <a:lnSpc>
                <a:spcPct val="120000"/>
              </a:lnSpc>
            </a:pPr>
            <a:r>
              <a:rPr sz="2400" b="0" i="1">
                <a:solidFill>
                  <a:srgbClr val="FED7AA"/>
                </a:solidFill>
                <a:latin typeface="Calibri"/>
              </a:rPr>
              <a:t>Q &amp; A  ·  Mời hội đồng đặt câu hỏi</a:t>
            </a:r>
          </a:p>
        </p:txBody>
      </p:sp>
      <p:sp>
        <p:nvSpPr>
          <p:cNvPr id="9" name="Rectangle 8"/>
          <p:cNvSpPr/>
          <p:nvPr/>
        </p:nvSpPr>
        <p:spPr>
          <a:xfrm>
            <a:off x="4952847" y="3931920"/>
            <a:ext cx="228600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4434840"/>
            <a:ext cx="11247120" cy="365760"/>
          </a:xfrm>
          <a:prstGeom prst="rect">
            <a:avLst/>
          </a:prstGeom>
          <a:noFill/>
        </p:spPr>
        <p:txBody>
          <a:bodyPr wrap="square" lIns="50000" tIns="20000" rIns="50000" bIns="20000" anchor="t">
            <a:spAutoFit/>
          </a:bodyPr>
          <a:lstStyle/>
          <a:p>
            <a:pPr algn="ctr">
              <a:lnSpc>
                <a:spcPct val="120000"/>
              </a:lnSpc>
            </a:pPr>
            <a:r>
              <a:rPr sz="1200" b="1" i="0">
                <a:solidFill>
                  <a:srgbClr val="F97316"/>
                </a:solidFill>
                <a:latin typeface="Calibri"/>
              </a:rPr>
              <a:t>DEMO LIVE</a:t>
            </a:r>
          </a:p>
        </p:txBody>
      </p:sp>
      <p:sp>
        <p:nvSpPr>
          <p:cNvPr id="11" name="TextBox 10"/>
          <p:cNvSpPr txBox="1"/>
          <p:nvPr/>
        </p:nvSpPr>
        <p:spPr>
          <a:xfrm>
            <a:off x="457200" y="4754880"/>
            <a:ext cx="11247120" cy="457200"/>
          </a:xfrm>
          <a:prstGeom prst="rect">
            <a:avLst/>
          </a:prstGeom>
          <a:noFill/>
        </p:spPr>
        <p:txBody>
          <a:bodyPr wrap="square" lIns="50000" tIns="20000" rIns="50000" bIns="20000" anchor="t">
            <a:spAutoFit/>
          </a:bodyPr>
          <a:lstStyle/>
          <a:p>
            <a:pPr algn="ctr">
              <a:lnSpc>
                <a:spcPct val="120000"/>
              </a:lnSpc>
            </a:pPr>
            <a:r>
              <a:rPr sz="2200" b="1" i="0">
                <a:solidFill>
                  <a:srgbClr val="FFFFFF"/>
                </a:solidFill>
                <a:latin typeface="Calibri"/>
              </a:rPr>
              <a:t>https://parksmart.ghepdoicaulong.shop</a:t>
            </a:r>
          </a:p>
        </p:txBody>
      </p:sp>
      <p:sp>
        <p:nvSpPr>
          <p:cNvPr id="12" name="TextBox 11"/>
          <p:cNvSpPr txBox="1"/>
          <p:nvPr/>
        </p:nvSpPr>
        <p:spPr>
          <a:xfrm>
            <a:off x="457200" y="5486400"/>
            <a:ext cx="11247120" cy="365760"/>
          </a:xfrm>
          <a:prstGeom prst="rect">
            <a:avLst/>
          </a:prstGeom>
          <a:noFill/>
        </p:spPr>
        <p:txBody>
          <a:bodyPr wrap="square" lIns="50000" tIns="20000" rIns="50000" bIns="20000" anchor="t">
            <a:spAutoFit/>
          </a:bodyPr>
          <a:lstStyle/>
          <a:p>
            <a:pPr algn="ctr">
              <a:lnSpc>
                <a:spcPct val="120000"/>
              </a:lnSpc>
            </a:pPr>
            <a:r>
              <a:rPr sz="1200" b="1" i="0">
                <a:solidFill>
                  <a:srgbClr val="F97316"/>
                </a:solidFill>
                <a:latin typeface="Calibri"/>
              </a:rPr>
              <a:t>LIÊN HỆ</a:t>
            </a:r>
          </a:p>
        </p:txBody>
      </p:sp>
      <p:sp>
        <p:nvSpPr>
          <p:cNvPr id="13" name="TextBox 12"/>
          <p:cNvSpPr txBox="1"/>
          <p:nvPr/>
        </p:nvSpPr>
        <p:spPr>
          <a:xfrm>
            <a:off x="457200" y="5806440"/>
            <a:ext cx="11247120" cy="365760"/>
          </a:xfrm>
          <a:prstGeom prst="rect">
            <a:avLst/>
          </a:prstGeom>
          <a:noFill/>
        </p:spPr>
        <p:txBody>
          <a:bodyPr wrap="square" lIns="50000" tIns="20000" rIns="50000" bIns="20000" anchor="t">
            <a:spAutoFit/>
          </a:bodyPr>
          <a:lstStyle/>
          <a:p>
            <a:pPr algn="ctr">
              <a:lnSpc>
                <a:spcPct val="120000"/>
              </a:lnSpc>
            </a:pPr>
            <a:r>
              <a:rPr sz="1800" b="1" i="0">
                <a:solidFill>
                  <a:srgbClr val="FFFFFF"/>
                </a:solidFill>
                <a:latin typeface="Calibri"/>
              </a:rPr>
              <a:t>Nguyễn Hải Minh  ·  MSSV 2251012093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6315</Words>
  <Application>Microsoft Office PowerPoint</Application>
  <PresentationFormat>Widescreen</PresentationFormat>
  <Paragraphs>496</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powerbi</cp:lastModifiedBy>
  <cp:revision>2</cp:revision>
  <dcterms:created xsi:type="dcterms:W3CDTF">2013-01-27T09:14:16Z</dcterms:created>
  <dcterms:modified xsi:type="dcterms:W3CDTF">2026-05-11T16:10:23Z</dcterms:modified>
  <cp:category/>
</cp:coreProperties>
</file>